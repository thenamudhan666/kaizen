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theme/themeOverride1.xml" ContentType="application/vnd.openxmlformats-officedocument.themeOverride+xml"/>
  <Override PartName="/ppt/notesSlides/notesSlide2.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
  </p:notesMasterIdLst>
  <p:sldIdLst>
    <p:sldId id="257" r:id="rId2"/>
    <p:sldId id="258" r:id="rId3"/>
    <p:sldId id="259" r:id="rId4"/>
    <p:sldId id="260" r:id="rId5"/>
    <p:sldId id="261" r:id="rId6"/>
    <p:sldId id="262" r:id="rId7"/>
    <p:sldId id="263" r:id="rId8"/>
    <p:sldId id="264" r:id="rId9"/>
    <p:sldId id="265" r:id="rId10"/>
    <p:sldId id="266" r:id="rId11"/>
    <p:sldId id="271" r:id="rId12"/>
    <p:sldId id="270"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04EA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00000-0000-0000-0000-000000000000}" v="3" dt="2026-09-24T15:51:50.904"/>
    <p1510:client id="{5486EAAB-EF28-7507-9E99-ECF627E95E54}" v="49" dt="2026-09-24T17:06:56.353"/>
    <p1510:client id="{902C23F3-199F-49DB-89F5-49F0C39D4CB4}" v="13" dt="2026-09-25T08:04:46.206"/>
    <p1510:client id="{AD32AB76-2B49-0539-65FB-A5CE63D39AC6}" v="12" dt="2026-09-24T17:02:34.86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75" d="100"/>
          <a:sy n="75" d="100"/>
        </p:scale>
        <p:origin x="300" y="-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19"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2CE9A8C-3F50-49F8-A835-316C22A1110D}" type="datetimeFigureOut">
              <a:rPr lang="en-IN" smtClean="0"/>
              <a:t>30-09-2026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F3343F9-2D09-4642-A3BD-5BF627A067F3}" type="slidenum">
              <a:rPr lang="en-IN" smtClean="0"/>
              <a:t>‹#›</a:t>
            </a:fld>
            <a:endParaRPr lang="en-IN"/>
          </a:p>
        </p:txBody>
      </p:sp>
    </p:spTree>
    <p:extLst>
      <p:ext uri="{BB962C8B-B14F-4D97-AF65-F5344CB8AC3E}">
        <p14:creationId xmlns:p14="http://schemas.microsoft.com/office/powerpoint/2010/main" val="5691631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Opening slide for the 3rd edition of the PRISM Generative AI Hackathon. Replace the SAMSUNG PRISM pill with the official PRISM logo image if you have the asset. Confirm the academic year label (2026-27) before circulating.</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Closing slide. Add the Google Form URL and a contact email before sharing. Edition 2 organising team for reference: Language AI - Sourabh Tiwari, Gaurav, Sanjeeth Pothireddy, Gorang Maniar; PRISM - Binny Lakra, Prakhar Chandrakar, Vishu Kumar; Kick-off and mentors - Giridhar Jakki, Deepraj Prabhakar Patkar (Language AI), Srimanu Prasad Nagaraju, Ashish Kumar (Tech Strategy).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2CFE64-7CE6-4299-B8FE-939866A3EB6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09E4360C-492F-4E2E-B967-599B2BD31D7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56870CDB-78C3-4602-B35C-A826CBF20916}"/>
              </a:ext>
            </a:extLst>
          </p:cNvPr>
          <p:cNvSpPr>
            <a:spLocks noGrp="1"/>
          </p:cNvSpPr>
          <p:nvPr>
            <p:ph type="dt" sz="half" idx="10"/>
          </p:nvPr>
        </p:nvSpPr>
        <p:spPr/>
        <p:txBody>
          <a:bodyPr/>
          <a:lstStyle/>
          <a:p>
            <a:fld id="{2AF27EEE-1B67-445E-AA5D-351EC91D1DEB}" type="datetimeFigureOut">
              <a:rPr lang="en-IN" smtClean="0"/>
              <a:t>30-09-2026</a:t>
            </a:fld>
            <a:endParaRPr lang="en-IN"/>
          </a:p>
        </p:txBody>
      </p:sp>
      <p:sp>
        <p:nvSpPr>
          <p:cNvPr id="5" name="Footer Placeholder 4">
            <a:extLst>
              <a:ext uri="{FF2B5EF4-FFF2-40B4-BE49-F238E27FC236}">
                <a16:creationId xmlns:a16="http://schemas.microsoft.com/office/drawing/2014/main" id="{F585EF81-E96A-4C8D-A4F0-A9DF05C49CC6}"/>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9FA2448-68BE-42AE-8001-48ECE62DC431}"/>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355120668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C5E08-CE8A-45BE-8C3E-C04A49CC8A66}"/>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65FCCB0C-95AB-4F7A-955D-2DC18750BFD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E96DA85-2FDE-4136-B9F6-AF0965475E5A}"/>
              </a:ext>
            </a:extLst>
          </p:cNvPr>
          <p:cNvSpPr>
            <a:spLocks noGrp="1"/>
          </p:cNvSpPr>
          <p:nvPr>
            <p:ph type="dt" sz="half" idx="10"/>
          </p:nvPr>
        </p:nvSpPr>
        <p:spPr/>
        <p:txBody>
          <a:bodyPr/>
          <a:lstStyle/>
          <a:p>
            <a:fld id="{2AF27EEE-1B67-445E-AA5D-351EC91D1DEB}" type="datetimeFigureOut">
              <a:rPr lang="en-IN" smtClean="0"/>
              <a:t>30-09-2026</a:t>
            </a:fld>
            <a:endParaRPr lang="en-IN"/>
          </a:p>
        </p:txBody>
      </p:sp>
      <p:sp>
        <p:nvSpPr>
          <p:cNvPr id="5" name="Footer Placeholder 4">
            <a:extLst>
              <a:ext uri="{FF2B5EF4-FFF2-40B4-BE49-F238E27FC236}">
                <a16:creationId xmlns:a16="http://schemas.microsoft.com/office/drawing/2014/main" id="{299B0367-ACE7-48B9-82C8-A7BFD1F98E9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CC09A210-6017-4F71-9E78-B2C329B4A7E3}"/>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31581247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AE6C5-6752-4963-B842-280808B201D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2FEA6DFC-697D-4605-86C0-8572E022BEC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A341469-A18C-498E-BACC-28BCBFE904BB}"/>
              </a:ext>
            </a:extLst>
          </p:cNvPr>
          <p:cNvSpPr>
            <a:spLocks noGrp="1"/>
          </p:cNvSpPr>
          <p:nvPr>
            <p:ph type="dt" sz="half" idx="10"/>
          </p:nvPr>
        </p:nvSpPr>
        <p:spPr/>
        <p:txBody>
          <a:bodyPr/>
          <a:lstStyle/>
          <a:p>
            <a:fld id="{2AF27EEE-1B67-445E-AA5D-351EC91D1DEB}" type="datetimeFigureOut">
              <a:rPr lang="en-IN" smtClean="0"/>
              <a:t>30-09-2026</a:t>
            </a:fld>
            <a:endParaRPr lang="en-IN"/>
          </a:p>
        </p:txBody>
      </p:sp>
      <p:sp>
        <p:nvSpPr>
          <p:cNvPr id="5" name="Footer Placeholder 4">
            <a:extLst>
              <a:ext uri="{FF2B5EF4-FFF2-40B4-BE49-F238E27FC236}">
                <a16:creationId xmlns:a16="http://schemas.microsoft.com/office/drawing/2014/main" id="{FAED5D3B-1983-426F-A1AE-7470C43BB0E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7135ABB1-45F2-4FEA-BB5A-3B053892DBC7}"/>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102653012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A3F4AE-F142-401B-A5D1-4A52FF92CA0A}"/>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BC7C9BD1-2876-4C52-83CF-1CBA9D931B3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6CE624D8-76A7-478F-ACA3-5749DEFD0E0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0F29A939-0957-4E96-B38D-0B2E39D4137F}"/>
              </a:ext>
            </a:extLst>
          </p:cNvPr>
          <p:cNvSpPr>
            <a:spLocks noGrp="1"/>
          </p:cNvSpPr>
          <p:nvPr>
            <p:ph type="dt" sz="half" idx="10"/>
          </p:nvPr>
        </p:nvSpPr>
        <p:spPr/>
        <p:txBody>
          <a:bodyPr/>
          <a:lstStyle/>
          <a:p>
            <a:fld id="{2AF27EEE-1B67-445E-AA5D-351EC91D1DEB}" type="datetimeFigureOut">
              <a:rPr lang="en-IN" smtClean="0"/>
              <a:t>30-09-2026</a:t>
            </a:fld>
            <a:endParaRPr lang="en-IN"/>
          </a:p>
        </p:txBody>
      </p:sp>
      <p:sp>
        <p:nvSpPr>
          <p:cNvPr id="6" name="Footer Placeholder 5">
            <a:extLst>
              <a:ext uri="{FF2B5EF4-FFF2-40B4-BE49-F238E27FC236}">
                <a16:creationId xmlns:a16="http://schemas.microsoft.com/office/drawing/2014/main" id="{C89D44E1-B8BA-490F-B30A-538CC4D48FFC}"/>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9184BB79-7CA5-414E-B5B6-6A8E9AEE4A94}"/>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2743542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586CE8-8BA4-4FB1-ACAA-E38F8ED7F745}"/>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A2570902-F321-482A-924A-FF9A87CA5D6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85B6F67-E437-4FE8-851B-B016F33CFE9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37CE7897-2D17-49F8-8762-68F8D5794FB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63AE8E8-43BB-400D-8934-6D6B21D3A58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2FDB6608-03F3-45EF-80BD-C6E305C07128}"/>
              </a:ext>
            </a:extLst>
          </p:cNvPr>
          <p:cNvSpPr>
            <a:spLocks noGrp="1"/>
          </p:cNvSpPr>
          <p:nvPr>
            <p:ph type="dt" sz="half" idx="10"/>
          </p:nvPr>
        </p:nvSpPr>
        <p:spPr/>
        <p:txBody>
          <a:bodyPr/>
          <a:lstStyle/>
          <a:p>
            <a:fld id="{2AF27EEE-1B67-445E-AA5D-351EC91D1DEB}" type="datetimeFigureOut">
              <a:rPr lang="en-IN" smtClean="0"/>
              <a:t>30-09-2026</a:t>
            </a:fld>
            <a:endParaRPr lang="en-IN"/>
          </a:p>
        </p:txBody>
      </p:sp>
      <p:sp>
        <p:nvSpPr>
          <p:cNvPr id="8" name="Footer Placeholder 7">
            <a:extLst>
              <a:ext uri="{FF2B5EF4-FFF2-40B4-BE49-F238E27FC236}">
                <a16:creationId xmlns:a16="http://schemas.microsoft.com/office/drawing/2014/main" id="{E665D75D-3AD4-4D0E-A5BC-9000973FD8E7}"/>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7706A546-DC61-467F-A112-3AC0277BB9A8}"/>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317166924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CC8549-E392-4F05-B762-B5370E51C922}"/>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C1059880-A67D-4A24-9138-E937AE75075F}"/>
              </a:ext>
            </a:extLst>
          </p:cNvPr>
          <p:cNvSpPr>
            <a:spLocks noGrp="1"/>
          </p:cNvSpPr>
          <p:nvPr>
            <p:ph type="dt" sz="half" idx="10"/>
          </p:nvPr>
        </p:nvSpPr>
        <p:spPr/>
        <p:txBody>
          <a:bodyPr/>
          <a:lstStyle/>
          <a:p>
            <a:fld id="{2AF27EEE-1B67-445E-AA5D-351EC91D1DEB}" type="datetimeFigureOut">
              <a:rPr lang="en-IN" smtClean="0"/>
              <a:t>30-09-2026</a:t>
            </a:fld>
            <a:endParaRPr lang="en-IN"/>
          </a:p>
        </p:txBody>
      </p:sp>
      <p:sp>
        <p:nvSpPr>
          <p:cNvPr id="4" name="Footer Placeholder 3">
            <a:extLst>
              <a:ext uri="{FF2B5EF4-FFF2-40B4-BE49-F238E27FC236}">
                <a16:creationId xmlns:a16="http://schemas.microsoft.com/office/drawing/2014/main" id="{01BF6EC7-BFAB-4137-9343-C66B7829AB57}"/>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8FA6B929-B579-4261-8171-35357AE9A33C}"/>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233729450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CBAFEDF-BA35-4A7C-9388-604C048D57D0}"/>
              </a:ext>
            </a:extLst>
          </p:cNvPr>
          <p:cNvSpPr>
            <a:spLocks noGrp="1"/>
          </p:cNvSpPr>
          <p:nvPr>
            <p:ph type="dt" sz="half" idx="10"/>
          </p:nvPr>
        </p:nvSpPr>
        <p:spPr/>
        <p:txBody>
          <a:bodyPr/>
          <a:lstStyle/>
          <a:p>
            <a:fld id="{2AF27EEE-1B67-445E-AA5D-351EC91D1DEB}" type="datetimeFigureOut">
              <a:rPr lang="en-IN" smtClean="0"/>
              <a:t>30-09-2026</a:t>
            </a:fld>
            <a:endParaRPr lang="en-IN"/>
          </a:p>
        </p:txBody>
      </p:sp>
      <p:sp>
        <p:nvSpPr>
          <p:cNvPr id="3" name="Footer Placeholder 2">
            <a:extLst>
              <a:ext uri="{FF2B5EF4-FFF2-40B4-BE49-F238E27FC236}">
                <a16:creationId xmlns:a16="http://schemas.microsoft.com/office/drawing/2014/main" id="{11C80271-5700-43CC-A9BA-B2AAB47B2145}"/>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7EA712EA-BE6D-4AE5-B09E-215DE5B0EE93}"/>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175907212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2A6235-A416-4C23-BE8E-8FC1CF0EC17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B4A2C36B-7DDF-4371-9F0A-6E5B64554F5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813FA19A-E15E-47EA-B9B9-5F7FD0AA0B7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E84724-CA93-4332-A03F-0909AC5249AD}"/>
              </a:ext>
            </a:extLst>
          </p:cNvPr>
          <p:cNvSpPr>
            <a:spLocks noGrp="1"/>
          </p:cNvSpPr>
          <p:nvPr>
            <p:ph type="dt" sz="half" idx="10"/>
          </p:nvPr>
        </p:nvSpPr>
        <p:spPr/>
        <p:txBody>
          <a:bodyPr/>
          <a:lstStyle/>
          <a:p>
            <a:fld id="{2AF27EEE-1B67-445E-AA5D-351EC91D1DEB}" type="datetimeFigureOut">
              <a:rPr lang="en-IN" smtClean="0"/>
              <a:t>30-09-2026</a:t>
            </a:fld>
            <a:endParaRPr lang="en-IN"/>
          </a:p>
        </p:txBody>
      </p:sp>
      <p:sp>
        <p:nvSpPr>
          <p:cNvPr id="6" name="Footer Placeholder 5">
            <a:extLst>
              <a:ext uri="{FF2B5EF4-FFF2-40B4-BE49-F238E27FC236}">
                <a16:creationId xmlns:a16="http://schemas.microsoft.com/office/drawing/2014/main" id="{E403302F-D853-499A-BB91-3BD5366E6776}"/>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234AD427-BF9D-4A47-AF08-E4983B90C65A}"/>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40411880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C1B540-7747-44F5-A3A4-69F051F3632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FA4392B5-0943-4B18-9708-C9FA86F8353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547DFA04-BB4C-4DC0-9831-EB32549F5EA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101BDBD-01E1-44D7-AB93-513FF196A2C4}"/>
              </a:ext>
            </a:extLst>
          </p:cNvPr>
          <p:cNvSpPr>
            <a:spLocks noGrp="1"/>
          </p:cNvSpPr>
          <p:nvPr>
            <p:ph type="dt" sz="half" idx="10"/>
          </p:nvPr>
        </p:nvSpPr>
        <p:spPr/>
        <p:txBody>
          <a:bodyPr/>
          <a:lstStyle/>
          <a:p>
            <a:fld id="{2AF27EEE-1B67-445E-AA5D-351EC91D1DEB}" type="datetimeFigureOut">
              <a:rPr lang="en-IN" smtClean="0"/>
              <a:t>30-09-2026</a:t>
            </a:fld>
            <a:endParaRPr lang="en-IN"/>
          </a:p>
        </p:txBody>
      </p:sp>
      <p:sp>
        <p:nvSpPr>
          <p:cNvPr id="6" name="Footer Placeholder 5">
            <a:extLst>
              <a:ext uri="{FF2B5EF4-FFF2-40B4-BE49-F238E27FC236}">
                <a16:creationId xmlns:a16="http://schemas.microsoft.com/office/drawing/2014/main" id="{D87D7BDB-9CCD-44F3-A4FB-D4BAE589BE31}"/>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7ABC8D8A-A70C-4D57-8271-DCF5EEFC33AE}"/>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21223624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5A63EB-C66D-4D2D-9928-25D57CFDCDD2}"/>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3D91A17B-5319-4265-82A2-5D286CFAFD8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DE972F85-7902-4426-947E-3509F7A06CB1}"/>
              </a:ext>
            </a:extLst>
          </p:cNvPr>
          <p:cNvSpPr>
            <a:spLocks noGrp="1"/>
          </p:cNvSpPr>
          <p:nvPr>
            <p:ph type="dt" sz="half" idx="10"/>
          </p:nvPr>
        </p:nvSpPr>
        <p:spPr/>
        <p:txBody>
          <a:bodyPr/>
          <a:lstStyle/>
          <a:p>
            <a:fld id="{2AF27EEE-1B67-445E-AA5D-351EC91D1DEB}" type="datetimeFigureOut">
              <a:rPr lang="en-IN" smtClean="0"/>
              <a:t>30-09-2026</a:t>
            </a:fld>
            <a:endParaRPr lang="en-IN"/>
          </a:p>
        </p:txBody>
      </p:sp>
      <p:sp>
        <p:nvSpPr>
          <p:cNvPr id="5" name="Footer Placeholder 4">
            <a:extLst>
              <a:ext uri="{FF2B5EF4-FFF2-40B4-BE49-F238E27FC236}">
                <a16:creationId xmlns:a16="http://schemas.microsoft.com/office/drawing/2014/main" id="{FD08658F-7DA3-40F3-B6FA-CF740F858EB2}"/>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F6B0DE9-130B-4DA8-9A0C-06A295C9D82C}"/>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34819505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54594E2-CBC8-4A0C-A110-E3B5A301CF62}"/>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8CFBD2EA-CB7C-4CAB-855D-57F79191044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AD2348B0-3CBB-41FA-A8EC-5DFC833D7ECD}"/>
              </a:ext>
            </a:extLst>
          </p:cNvPr>
          <p:cNvSpPr>
            <a:spLocks noGrp="1"/>
          </p:cNvSpPr>
          <p:nvPr>
            <p:ph type="dt" sz="half" idx="10"/>
          </p:nvPr>
        </p:nvSpPr>
        <p:spPr/>
        <p:txBody>
          <a:bodyPr/>
          <a:lstStyle/>
          <a:p>
            <a:fld id="{2AF27EEE-1B67-445E-AA5D-351EC91D1DEB}" type="datetimeFigureOut">
              <a:rPr lang="en-IN" smtClean="0"/>
              <a:t>30-09-2026</a:t>
            </a:fld>
            <a:endParaRPr lang="en-IN"/>
          </a:p>
        </p:txBody>
      </p:sp>
      <p:sp>
        <p:nvSpPr>
          <p:cNvPr id="5" name="Footer Placeholder 4">
            <a:extLst>
              <a:ext uri="{FF2B5EF4-FFF2-40B4-BE49-F238E27FC236}">
                <a16:creationId xmlns:a16="http://schemas.microsoft.com/office/drawing/2014/main" id="{1A7E08DA-D399-4DC8-89B1-C4EBC64DC98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FDA6177-D647-4C5F-BA43-C02A1390F473}"/>
              </a:ext>
            </a:extLst>
          </p:cNvPr>
          <p:cNvSpPr>
            <a:spLocks noGrp="1"/>
          </p:cNvSpPr>
          <p:nvPr>
            <p:ph type="sldNum" sz="quarter" idx="12"/>
          </p:nvPr>
        </p:nvSpPr>
        <p:spPr/>
        <p:txBody>
          <a:bodyPr/>
          <a:lstStyle/>
          <a:p>
            <a:fld id="{BF5B04A4-2082-4D7E-8466-9BA22C990A78}" type="slidenum">
              <a:rPr lang="en-IN" smtClean="0"/>
              <a:t>‹#›</a:t>
            </a:fld>
            <a:endParaRPr lang="en-IN"/>
          </a:p>
        </p:txBody>
      </p:sp>
    </p:spTree>
    <p:extLst>
      <p:ext uri="{BB962C8B-B14F-4D97-AF65-F5344CB8AC3E}">
        <p14:creationId xmlns:p14="http://schemas.microsoft.com/office/powerpoint/2010/main" val="81468705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463450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CE67A62-7E64-4BE9-8EDF-4904E871A04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F8CA73B9-1A82-4479-978C-9C873CC677B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9977FC6-3D78-48A7-A3DB-BFC7C0EA3E8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AF27EEE-1B67-445E-AA5D-351EC91D1DEB}" type="datetimeFigureOut">
              <a:rPr lang="en-IN" smtClean="0"/>
              <a:t>30-09-2026</a:t>
            </a:fld>
            <a:endParaRPr lang="en-IN"/>
          </a:p>
        </p:txBody>
      </p:sp>
      <p:sp>
        <p:nvSpPr>
          <p:cNvPr id="5" name="Footer Placeholder 4">
            <a:extLst>
              <a:ext uri="{FF2B5EF4-FFF2-40B4-BE49-F238E27FC236}">
                <a16:creationId xmlns:a16="http://schemas.microsoft.com/office/drawing/2014/main" id="{27CDC877-1137-446E-919A-C66E313317C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8A258D39-C9B6-4DA9-9C05-38A0ECD4CE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F5B04A4-2082-4D7E-8466-9BA22C990A78}" type="slidenum">
              <a:rPr lang="en-IN" smtClean="0"/>
              <a:t>‹#›</a:t>
            </a:fld>
            <a:endParaRPr lang="en-IN"/>
          </a:p>
        </p:txBody>
      </p:sp>
    </p:spTree>
    <p:extLst>
      <p:ext uri="{BB962C8B-B14F-4D97-AF65-F5344CB8AC3E}">
        <p14:creationId xmlns:p14="http://schemas.microsoft.com/office/powerpoint/2010/main" val="327917824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777240" y="676656"/>
            <a:ext cx="2423160" cy="347472"/>
          </a:xfrm>
          <a:prstGeom prst="roundRect">
            <a:avLst>
              <a:gd name="adj" fmla="val 50000"/>
            </a:avLst>
          </a:prstGeom>
          <a:solidFill>
            <a:srgbClr val="FFFFFF"/>
          </a:solidFill>
          <a:ln w="12700">
            <a:solidFill>
              <a:srgbClr val="D9D3F0"/>
            </a:solidFill>
            <a:prstDash val="solid"/>
          </a:ln>
        </p:spPr>
      </p:sp>
      <p:sp>
        <p:nvSpPr>
          <p:cNvPr id="3" name="Text 1"/>
          <p:cNvSpPr txBox="1"/>
          <p:nvPr/>
        </p:nvSpPr>
        <p:spPr>
          <a:xfrm>
            <a:off x="777240" y="676656"/>
            <a:ext cx="2423160" cy="347472"/>
          </a:xfrm>
          <a:prstGeom prst="rect">
            <a:avLst/>
          </a:prstGeom>
          <a:noFill/>
          <a:ln/>
        </p:spPr>
        <p:txBody>
          <a:bodyPr wrap="square" lIns="0" tIns="0" rIns="0" bIns="0" rtlCol="0" anchor="ctr"/>
          <a:lstStyle/>
          <a:p>
            <a:pPr marL="0" indent="0" algn="ctr">
              <a:buNone/>
            </a:pPr>
            <a:r>
              <a:rPr lang="en-US" sz="1100" b="1" kern="0" spc="110">
                <a:solidFill>
                  <a:srgbClr val="6D28D9"/>
                </a:solidFill>
                <a:latin typeface="Arial" pitchFamily="34" charset="0"/>
                <a:ea typeface="Arial" pitchFamily="34" charset="-122"/>
                <a:cs typeface="Arial" pitchFamily="34" charset="-120"/>
              </a:rPr>
              <a:t>SAMSUNG PRISM</a:t>
            </a:r>
            <a:endParaRPr lang="en-US" sz="1100"/>
          </a:p>
        </p:txBody>
      </p:sp>
      <p:sp>
        <p:nvSpPr>
          <p:cNvPr id="4" name="Text 2"/>
          <p:cNvSpPr txBox="1"/>
          <p:nvPr/>
        </p:nvSpPr>
        <p:spPr>
          <a:xfrm>
            <a:off x="777240" y="1207008"/>
            <a:ext cx="6126480" cy="749808"/>
          </a:xfrm>
          <a:prstGeom prst="rect">
            <a:avLst/>
          </a:prstGeom>
          <a:noFill/>
          <a:ln/>
        </p:spPr>
        <p:txBody>
          <a:bodyPr wrap="square" lIns="0" tIns="0" rIns="0" bIns="0" rtlCol="0" anchor="ctr"/>
          <a:lstStyle/>
          <a:p>
            <a:pPr marL="0" indent="0">
              <a:buNone/>
            </a:pPr>
            <a:r>
              <a:rPr lang="en-US" sz="5000" b="1">
                <a:solidFill>
                  <a:srgbClr val="14142B"/>
                </a:solidFill>
                <a:latin typeface="Arial" pitchFamily="34" charset="0"/>
                <a:ea typeface="Arial" pitchFamily="34" charset="-122"/>
                <a:cs typeface="Arial" pitchFamily="34" charset="-120"/>
              </a:rPr>
              <a:t>Generative AI</a:t>
            </a:r>
            <a:endParaRPr lang="en-US" sz="5000"/>
          </a:p>
        </p:txBody>
      </p:sp>
      <p:sp>
        <p:nvSpPr>
          <p:cNvPr id="5" name="Text 3"/>
          <p:cNvSpPr txBox="1"/>
          <p:nvPr/>
        </p:nvSpPr>
        <p:spPr>
          <a:xfrm>
            <a:off x="777240" y="1901952"/>
            <a:ext cx="6126480" cy="749808"/>
          </a:xfrm>
          <a:prstGeom prst="rect">
            <a:avLst/>
          </a:prstGeom>
          <a:noFill/>
          <a:ln/>
        </p:spPr>
        <p:txBody>
          <a:bodyPr wrap="square" lIns="0" tIns="0" rIns="0" bIns="0" rtlCol="0" anchor="ctr"/>
          <a:lstStyle/>
          <a:p>
            <a:pPr marL="0" indent="0">
              <a:buNone/>
            </a:pPr>
            <a:r>
              <a:rPr lang="en-US" sz="5000" b="1">
                <a:solidFill>
                  <a:srgbClr val="6D28D9"/>
                </a:solidFill>
                <a:latin typeface="Arial" pitchFamily="34" charset="0"/>
                <a:ea typeface="Arial" pitchFamily="34" charset="-122"/>
                <a:cs typeface="Arial" pitchFamily="34" charset="-120"/>
              </a:rPr>
              <a:t>Hackathon</a:t>
            </a:r>
            <a:endParaRPr lang="en-US" sz="5000"/>
          </a:p>
        </p:txBody>
      </p:sp>
      <p:sp>
        <p:nvSpPr>
          <p:cNvPr id="6" name="Text 4"/>
          <p:cNvSpPr txBox="1"/>
          <p:nvPr/>
        </p:nvSpPr>
        <p:spPr>
          <a:xfrm>
            <a:off x="777240" y="2724912"/>
            <a:ext cx="6126480" cy="457200"/>
          </a:xfrm>
          <a:prstGeom prst="rect">
            <a:avLst/>
          </a:prstGeom>
          <a:noFill/>
          <a:ln/>
        </p:spPr>
        <p:txBody>
          <a:bodyPr wrap="square" lIns="0" tIns="0" rIns="0" bIns="0" rtlCol="0" anchor="ctr"/>
          <a:lstStyle/>
          <a:p>
            <a:pPr marL="0" indent="0">
              <a:buNone/>
            </a:pPr>
            <a:r>
              <a:rPr lang="en-US" sz="2500" b="1">
                <a:solidFill>
                  <a:srgbClr val="14142B"/>
                </a:solidFill>
                <a:latin typeface="Arial" pitchFamily="34" charset="0"/>
                <a:ea typeface="Arial" pitchFamily="34" charset="-122"/>
                <a:cs typeface="Arial" pitchFamily="34" charset="-120"/>
              </a:rPr>
              <a:t>3rd Edition</a:t>
            </a:r>
            <a:r>
              <a:rPr lang="en-US" sz="2000">
                <a:solidFill>
                  <a:srgbClr val="63637E"/>
                </a:solidFill>
                <a:latin typeface="Calibri" pitchFamily="34" charset="0"/>
                <a:ea typeface="Calibri" pitchFamily="34" charset="-122"/>
                <a:cs typeface="Calibri" pitchFamily="34" charset="-120"/>
              </a:rPr>
              <a:t>   2026 – 27</a:t>
            </a:r>
            <a:endParaRPr lang="en-US" sz="2500"/>
          </a:p>
        </p:txBody>
      </p:sp>
      <p:sp>
        <p:nvSpPr>
          <p:cNvPr id="7" name="Text 5"/>
          <p:cNvSpPr txBox="1"/>
          <p:nvPr/>
        </p:nvSpPr>
        <p:spPr>
          <a:xfrm>
            <a:off x="777240" y="3310128"/>
            <a:ext cx="6281928" cy="777240"/>
          </a:xfrm>
          <a:prstGeom prst="rect">
            <a:avLst/>
          </a:prstGeom>
          <a:noFill/>
          <a:ln/>
        </p:spPr>
        <p:txBody>
          <a:bodyPr wrap="square" lIns="0" tIns="0" rIns="0" bIns="0" rtlCol="0" anchor="t"/>
          <a:lstStyle/>
          <a:p>
            <a:pPr marL="177800" indent="-177800">
              <a:spcAft>
                <a:spcPts val="500"/>
              </a:spcAft>
              <a:buSzPct val="100000"/>
              <a:buChar char="•"/>
            </a:pPr>
            <a:r>
              <a:rPr lang="en-US" sz="1600">
                <a:solidFill>
                  <a:srgbClr val="63637E"/>
                </a:solidFill>
                <a:latin typeface="Calibri"/>
                <a:ea typeface="Calibri"/>
                <a:cs typeface="Calibri"/>
              </a:rPr>
              <a:t>Theme ID - 05</a:t>
            </a:r>
          </a:p>
          <a:p>
            <a:pPr marL="177800" indent="-177800">
              <a:spcAft>
                <a:spcPts val="500"/>
              </a:spcAft>
              <a:buSzPct val="100000"/>
              <a:buChar char="•"/>
            </a:pPr>
            <a:r>
              <a:rPr lang="en-US" sz="1600">
                <a:solidFill>
                  <a:srgbClr val="63637E"/>
                </a:solidFill>
                <a:latin typeface="Calibri"/>
                <a:ea typeface="Calibri"/>
                <a:cs typeface="Calibri"/>
              </a:rPr>
              <a:t>Team Name - Autonomous Partners</a:t>
            </a:r>
          </a:p>
          <a:p>
            <a:pPr marL="177800" indent="-177800">
              <a:spcAft>
                <a:spcPts val="500"/>
              </a:spcAft>
              <a:buSzPct val="100000"/>
              <a:buChar char="•"/>
            </a:pPr>
            <a:r>
              <a:rPr lang="en-US" sz="1600">
                <a:solidFill>
                  <a:srgbClr val="63637E"/>
                </a:solidFill>
                <a:latin typeface="Calibri"/>
                <a:ea typeface="Calibri"/>
                <a:cs typeface="Calibri"/>
              </a:rPr>
              <a:t>College Name – SRM Institute of Science and Technology</a:t>
            </a:r>
          </a:p>
          <a:p>
            <a:pPr marL="177800" indent="-177800">
              <a:spcAft>
                <a:spcPts val="500"/>
              </a:spcAft>
              <a:buSzPct val="100000"/>
              <a:buChar char="•"/>
            </a:pPr>
            <a:r>
              <a:rPr lang="en-US" sz="1600">
                <a:solidFill>
                  <a:srgbClr val="63637E"/>
                </a:solidFill>
                <a:latin typeface="Calibri"/>
                <a:ea typeface="Calibri"/>
                <a:cs typeface="Calibri"/>
              </a:rPr>
              <a:t>Member Name &amp; Email 1- Pavithra V G &amp; pv2496@srmist.edu.in</a:t>
            </a:r>
          </a:p>
          <a:p>
            <a:pPr marL="177800" indent="-177800">
              <a:spcAft>
                <a:spcPts val="500"/>
              </a:spcAft>
              <a:buSzPct val="100000"/>
              <a:buChar char="•"/>
            </a:pPr>
            <a:r>
              <a:rPr lang="en-US" sz="1600">
                <a:solidFill>
                  <a:srgbClr val="63637E"/>
                </a:solidFill>
                <a:latin typeface="Calibri"/>
                <a:ea typeface="Calibri"/>
                <a:cs typeface="Calibri"/>
              </a:rPr>
              <a:t>Member Name &amp; Email 2- Gawtham Prasath &amp; gs3548@srmist.edu.in</a:t>
            </a:r>
          </a:p>
          <a:p>
            <a:pPr marL="177800" indent="-177800">
              <a:spcAft>
                <a:spcPts val="500"/>
              </a:spcAft>
              <a:buSzPct val="100000"/>
              <a:buFontTx/>
              <a:buChar char="•"/>
            </a:pPr>
            <a:r>
              <a:rPr lang="en-US" sz="1600">
                <a:solidFill>
                  <a:srgbClr val="63637E"/>
                </a:solidFill>
                <a:latin typeface="Calibri"/>
                <a:ea typeface="Calibri"/>
                <a:cs typeface="Calibri"/>
              </a:rPr>
              <a:t>Member Name &amp; Email 3- </a:t>
            </a:r>
            <a:r>
              <a:rPr lang="en-US" sz="1600" err="1">
                <a:solidFill>
                  <a:srgbClr val="63637E"/>
                </a:solidFill>
                <a:latin typeface="Calibri"/>
                <a:ea typeface="Calibri"/>
                <a:cs typeface="Calibri"/>
              </a:rPr>
              <a:t>Thenamudhan</a:t>
            </a:r>
            <a:r>
              <a:rPr lang="en-US" sz="1600">
                <a:solidFill>
                  <a:srgbClr val="63637E"/>
                </a:solidFill>
                <a:latin typeface="Calibri"/>
                <a:ea typeface="Calibri"/>
                <a:cs typeface="Calibri"/>
              </a:rPr>
              <a:t> S &amp; ts1255@gmail.com</a:t>
            </a:r>
          </a:p>
          <a:p>
            <a:pPr marL="177800" indent="-177800">
              <a:spcAft>
                <a:spcPts val="500"/>
              </a:spcAft>
              <a:buSzPct val="100000"/>
              <a:buFontTx/>
              <a:buChar char="•"/>
            </a:pPr>
            <a:r>
              <a:rPr lang="en-US" sz="1600">
                <a:solidFill>
                  <a:srgbClr val="63637E"/>
                </a:solidFill>
                <a:latin typeface="Calibri"/>
                <a:ea typeface="Calibri"/>
                <a:cs typeface="Calibri"/>
              </a:rPr>
              <a:t>Submission </a:t>
            </a:r>
            <a:r>
              <a:rPr lang="en-US" sz="1600" err="1">
                <a:solidFill>
                  <a:srgbClr val="63637E"/>
                </a:solidFill>
                <a:latin typeface="Calibri"/>
                <a:ea typeface="Calibri"/>
                <a:cs typeface="Calibri"/>
              </a:rPr>
              <a:t>Github</a:t>
            </a:r>
            <a:r>
              <a:rPr lang="en-US" sz="1600">
                <a:solidFill>
                  <a:srgbClr val="63637E"/>
                </a:solidFill>
                <a:latin typeface="Calibri"/>
                <a:ea typeface="Calibri"/>
                <a:cs typeface="Calibri"/>
              </a:rPr>
              <a:t> link - </a:t>
            </a:r>
          </a:p>
          <a:p>
            <a:pPr marL="177800" indent="-177800">
              <a:spcAft>
                <a:spcPts val="500"/>
              </a:spcAft>
              <a:buSzPct val="100000"/>
              <a:buChar char="•"/>
            </a:pPr>
            <a:endParaRPr lang="en-US" sz="1600">
              <a:solidFill>
                <a:srgbClr val="63637E"/>
              </a:solidFill>
              <a:latin typeface="Calibri" pitchFamily="34" charset="0"/>
              <a:ea typeface="Calibri" pitchFamily="34" charset="-122"/>
              <a:cs typeface="Calibri" pitchFamily="34" charset="-120"/>
            </a:endParaRPr>
          </a:p>
        </p:txBody>
      </p:sp>
      <p:pic>
        <p:nvPicPr>
          <p:cNvPr id="14" name="Image 0" descr="hero_network.png"/>
          <p:cNvPicPr>
            <a:picLocks noChangeAspect="1"/>
          </p:cNvPicPr>
          <p:nvPr/>
        </p:nvPicPr>
        <p:blipFill>
          <a:blip r:embed="rId3"/>
          <a:stretch>
            <a:fillRect/>
          </a:stretch>
        </p:blipFill>
        <p:spPr>
          <a:xfrm>
            <a:off x="7059168" y="1051560"/>
            <a:ext cx="4572000" cy="4572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ounded Rectangle 3">
            <a:extLst>
              <a:ext uri="{FF2B5EF4-FFF2-40B4-BE49-F238E27FC236}">
                <a16:creationId xmlns:a16="http://schemas.microsoft.com/office/drawing/2014/main" id="{4213E9BD-2140-3C3D-00D2-108337414A31}"/>
              </a:ext>
            </a:extLst>
          </p:cNvPr>
          <p:cNvSpPr>
            <a:spLocks noGrp="1" noRot="1" noMove="1" noResize="1" noEditPoints="1" noAdjustHandles="1" noChangeArrowheads="1" noChangeShapeType="1"/>
          </p:cNvSpPr>
          <p:nvPr/>
        </p:nvSpPr>
        <p:spPr>
          <a:xfrm>
            <a:off x="6439252" y="1658603"/>
            <a:ext cx="5200000" cy="4200000"/>
          </a:xfrm>
          <a:prstGeom prst="roundRect">
            <a:avLst/>
          </a:prstGeom>
          <a:solidFill>
            <a:srgbClr val="FFFFFF"/>
          </a:solidFill>
          <a:ln w="12700">
            <a:solidFill>
              <a:srgbClr val="E0DEEE"/>
            </a:solid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spcAft>
                <a:spcPts val="700"/>
              </a:spcAft>
              <a:defRPr sz="1500">
                <a:solidFill>
                  <a:srgbClr val="232337"/>
                </a:solidFill>
                <a:latin typeface="Aptos"/>
              </a:defRPr>
            </a:pPr>
            <a:endParaRPr lang="en-US" sz="2000"/>
          </a:p>
        </p:txBody>
      </p:sp>
      <p:sp>
        <p:nvSpPr>
          <p:cNvPr id="9" name="Rounded Rectangle 3">
            <a:extLst>
              <a:ext uri="{FF2B5EF4-FFF2-40B4-BE49-F238E27FC236}">
                <a16:creationId xmlns:a16="http://schemas.microsoft.com/office/drawing/2014/main" id="{B860E10A-1645-E66A-221C-30E82825A5BE}"/>
              </a:ext>
            </a:extLst>
          </p:cNvPr>
          <p:cNvSpPr>
            <a:spLocks noGrp="1" noRot="1" noMove="1" noResize="1" noEditPoints="1" noAdjustHandles="1" noChangeArrowheads="1" noChangeShapeType="1"/>
          </p:cNvSpPr>
          <p:nvPr/>
        </p:nvSpPr>
        <p:spPr>
          <a:xfrm>
            <a:off x="838200" y="1658603"/>
            <a:ext cx="5200000" cy="4200000"/>
          </a:xfrm>
          <a:prstGeom prst="roundRect">
            <a:avLst/>
          </a:prstGeom>
          <a:solidFill>
            <a:srgbClr val="FFFFFF"/>
          </a:solidFill>
          <a:ln w="12700">
            <a:solidFill>
              <a:srgbClr val="E0DEEE"/>
            </a:solid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a:p>
        </p:txBody>
      </p:sp>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a:xfrm>
            <a:off x="838200" y="388257"/>
            <a:ext cx="10515600" cy="1325563"/>
          </a:xfrm>
        </p:spPr>
        <p:txBody>
          <a:bodyPr>
            <a:noAutofit/>
          </a:bodyPr>
          <a:lstStyle/>
          <a:p>
            <a:r>
              <a:rPr lang="en-IN" sz="3200" b="1">
                <a:solidFill>
                  <a:srgbClr val="704EA6"/>
                </a:solidFill>
                <a:latin typeface="+mn-lt"/>
                <a:cs typeface="Arial" pitchFamily="34" charset="-120"/>
              </a:rPr>
              <a:t>Theme – 05</a:t>
            </a:r>
            <a:br>
              <a:rPr lang="en-IN" sz="3200" b="1">
                <a:solidFill>
                  <a:srgbClr val="704EA6"/>
                </a:solidFill>
                <a:latin typeface="+mn-lt"/>
                <a:cs typeface="Arial" pitchFamily="34" charset="-120"/>
              </a:rPr>
            </a:br>
            <a:r>
              <a:rPr lang="en-IN" sz="3200" b="1">
                <a:solidFill>
                  <a:srgbClr val="181837"/>
                </a:solidFill>
                <a:latin typeface="Aptos"/>
              </a:rPr>
              <a:t>Interruptible Real-Time Agents</a:t>
            </a:r>
            <a:br>
              <a:rPr lang="en-IN" sz="3200" b="1">
                <a:solidFill>
                  <a:srgbClr val="181837"/>
                </a:solidFill>
                <a:latin typeface="Aptos"/>
              </a:rPr>
            </a:br>
            <a:endParaRPr lang="en-IN" sz="3200" b="1">
              <a:solidFill>
                <a:srgbClr val="704EA6"/>
              </a:solidFill>
              <a:latin typeface="+mn-lt"/>
              <a:cs typeface="Arial" pitchFamily="34" charset="-120"/>
            </a:endParaRPr>
          </a:p>
        </p:txBody>
      </p:sp>
      <p:sp>
        <p:nvSpPr>
          <p:cNvPr id="6" name="TextBox 5">
            <a:extLst>
              <a:ext uri="{FF2B5EF4-FFF2-40B4-BE49-F238E27FC236}">
                <a16:creationId xmlns:a16="http://schemas.microsoft.com/office/drawing/2014/main" id="{D18C22BD-30B8-119E-351E-38C4D78DEBD8}"/>
              </a:ext>
            </a:extLst>
          </p:cNvPr>
          <p:cNvSpPr txBox="1"/>
          <p:nvPr/>
        </p:nvSpPr>
        <p:spPr>
          <a:xfrm>
            <a:off x="1194310" y="1976337"/>
            <a:ext cx="3597908" cy="738664"/>
          </a:xfrm>
          <a:prstGeom prst="rect">
            <a:avLst/>
          </a:prstGeom>
          <a:noFill/>
        </p:spPr>
        <p:txBody>
          <a:bodyPr wrap="none" rtlCol="0">
            <a:spAutoFit/>
          </a:bodyPr>
          <a:lstStyle/>
          <a:p>
            <a:r>
              <a:rPr lang="en-IN" sz="2400" b="1">
                <a:solidFill>
                  <a:srgbClr val="6B3FBE"/>
                </a:solidFill>
                <a:latin typeface="Aptos"/>
              </a:rPr>
              <a:t>What the challenge asks</a:t>
            </a:r>
          </a:p>
          <a:p>
            <a:endParaRPr lang="en-IN"/>
          </a:p>
        </p:txBody>
      </p:sp>
      <p:sp>
        <p:nvSpPr>
          <p:cNvPr id="8" name="TextBox 7">
            <a:extLst>
              <a:ext uri="{FF2B5EF4-FFF2-40B4-BE49-F238E27FC236}">
                <a16:creationId xmlns:a16="http://schemas.microsoft.com/office/drawing/2014/main" id="{4B142559-4F52-56A4-AECF-4F21027949CB}"/>
              </a:ext>
            </a:extLst>
          </p:cNvPr>
          <p:cNvSpPr txBox="1"/>
          <p:nvPr/>
        </p:nvSpPr>
        <p:spPr>
          <a:xfrm>
            <a:off x="6811405" y="1917571"/>
            <a:ext cx="4455694" cy="856196"/>
          </a:xfrm>
          <a:prstGeom prst="rect">
            <a:avLst/>
          </a:prstGeom>
          <a:noFill/>
        </p:spPr>
        <p:txBody>
          <a:bodyPr wrap="square">
            <a:spAutoFit/>
          </a:bodyPr>
          <a:lstStyle/>
          <a:p>
            <a:pPr algn="l">
              <a:lnSpc>
                <a:spcPct val="105000"/>
              </a:lnSpc>
            </a:pPr>
            <a:r>
              <a:rPr lang="en-IN" sz="2400" b="1">
                <a:solidFill>
                  <a:srgbClr val="1CB8C2"/>
                </a:solidFill>
                <a:latin typeface="Aptos"/>
              </a:rPr>
              <a:t>Our solution - KAIZEN's interpretation</a:t>
            </a:r>
          </a:p>
        </p:txBody>
      </p:sp>
      <p:sp>
        <p:nvSpPr>
          <p:cNvPr id="12" name="TextBox 11">
            <a:extLst>
              <a:ext uri="{FF2B5EF4-FFF2-40B4-BE49-F238E27FC236}">
                <a16:creationId xmlns:a16="http://schemas.microsoft.com/office/drawing/2014/main" id="{F2353A97-DC2C-3A37-2DEA-9D9EEE815727}"/>
              </a:ext>
            </a:extLst>
          </p:cNvPr>
          <p:cNvSpPr txBox="1"/>
          <p:nvPr/>
        </p:nvSpPr>
        <p:spPr>
          <a:xfrm>
            <a:off x="1194310" y="2542363"/>
            <a:ext cx="4487780" cy="3131627"/>
          </a:xfrm>
          <a:prstGeom prst="rect">
            <a:avLst/>
          </a:prstGeom>
          <a:noFill/>
        </p:spPr>
        <p:txBody>
          <a:bodyPr wrap="square">
            <a:spAutoFit/>
          </a:bodyPr>
          <a:lstStyle/>
          <a:p>
            <a:pPr>
              <a:spcAft>
                <a:spcPts val="700"/>
              </a:spcAft>
              <a:defRPr sz="1500">
                <a:solidFill>
                  <a:srgbClr val="232337"/>
                </a:solidFill>
                <a:latin typeface="Aptos"/>
              </a:defRPr>
            </a:pPr>
            <a:r>
              <a:rPr lang="en-US" sz="2000"/>
              <a:t>• Keep the conversation alive while the agent reasons.</a:t>
            </a:r>
          </a:p>
          <a:p>
            <a:pPr>
              <a:spcAft>
                <a:spcPts val="700"/>
              </a:spcAft>
              <a:defRPr sz="1500">
                <a:solidFill>
                  <a:srgbClr val="232337"/>
                </a:solidFill>
                <a:latin typeface="Aptos"/>
              </a:defRPr>
            </a:pPr>
            <a:r>
              <a:rPr lang="en-US" sz="2000"/>
              <a:t>• Recover cleanly from mid-turn interruptions instead of restarting.</a:t>
            </a:r>
          </a:p>
          <a:p>
            <a:pPr>
              <a:spcAft>
                <a:spcPts val="700"/>
              </a:spcAft>
              <a:defRPr sz="1500">
                <a:solidFill>
                  <a:srgbClr val="232337"/>
                </a:solidFill>
                <a:latin typeface="Aptos"/>
              </a:defRPr>
            </a:pPr>
            <a:r>
              <a:rPr lang="en-US" sz="2000"/>
              <a:t>• Adapt when the user's goal changes without losing relevant session context.</a:t>
            </a:r>
          </a:p>
          <a:p>
            <a:pPr>
              <a:spcAft>
                <a:spcPts val="700"/>
              </a:spcAft>
              <a:defRPr sz="1500">
                <a:solidFill>
                  <a:srgbClr val="232337"/>
                </a:solidFill>
                <a:latin typeface="Aptos"/>
              </a:defRPr>
            </a:pPr>
            <a:r>
              <a:rPr lang="en-US" sz="2000"/>
              <a:t>• Build a reliable real-time agent structure, not just a chat wrapper.</a:t>
            </a:r>
          </a:p>
        </p:txBody>
      </p:sp>
      <p:sp>
        <p:nvSpPr>
          <p:cNvPr id="14" name="TextBox 13">
            <a:extLst>
              <a:ext uri="{FF2B5EF4-FFF2-40B4-BE49-F238E27FC236}">
                <a16:creationId xmlns:a16="http://schemas.microsoft.com/office/drawing/2014/main" id="{154A16C5-C0DF-03ED-A17C-61BF5AFAB7D5}"/>
              </a:ext>
            </a:extLst>
          </p:cNvPr>
          <p:cNvSpPr txBox="1"/>
          <p:nvPr/>
        </p:nvSpPr>
        <p:spPr>
          <a:xfrm>
            <a:off x="6726418" y="2850140"/>
            <a:ext cx="4791814" cy="2823850"/>
          </a:xfrm>
          <a:prstGeom prst="rect">
            <a:avLst/>
          </a:prstGeom>
          <a:noFill/>
        </p:spPr>
        <p:txBody>
          <a:bodyPr wrap="square">
            <a:spAutoFit/>
          </a:bodyPr>
          <a:lstStyle/>
          <a:p>
            <a:pPr>
              <a:spcAft>
                <a:spcPts val="700"/>
              </a:spcAft>
              <a:defRPr sz="1500">
                <a:solidFill>
                  <a:srgbClr val="232337"/>
                </a:solidFill>
                <a:latin typeface="Aptos"/>
              </a:defRPr>
            </a:pPr>
            <a:r>
              <a:rPr lang="en-US" sz="2000"/>
              <a:t>• Full-duplex voice with real-time audio streaming.</a:t>
            </a:r>
          </a:p>
          <a:p>
            <a:pPr>
              <a:spcAft>
                <a:spcPts val="700"/>
              </a:spcAft>
              <a:defRPr sz="1500">
                <a:solidFill>
                  <a:srgbClr val="232337"/>
                </a:solidFill>
                <a:latin typeface="Aptos"/>
              </a:defRPr>
            </a:pPr>
            <a:r>
              <a:rPr lang="en-US" sz="2000"/>
              <a:t>• Barge-in handling that flushes speech and marks the turn interrupted.</a:t>
            </a:r>
          </a:p>
          <a:p>
            <a:pPr>
              <a:spcAft>
                <a:spcPts val="700"/>
              </a:spcAft>
              <a:defRPr sz="1500">
                <a:solidFill>
                  <a:srgbClr val="232337"/>
                </a:solidFill>
                <a:latin typeface="Aptos"/>
              </a:defRPr>
            </a:pPr>
            <a:r>
              <a:rPr lang="en-US" sz="2000"/>
              <a:t>• State-aware UI with idle / listening / reasoning / speaking / interrupted modes.</a:t>
            </a:r>
          </a:p>
          <a:p>
            <a:pPr>
              <a:spcAft>
                <a:spcPts val="700"/>
              </a:spcAft>
              <a:defRPr sz="1500">
                <a:solidFill>
                  <a:srgbClr val="232337"/>
                </a:solidFill>
                <a:latin typeface="Aptos"/>
              </a:defRPr>
            </a:pPr>
            <a:r>
              <a:rPr lang="en-US" sz="2000"/>
              <a:t>• Session-local memory vault + observer + learning loop keep context alive.</a:t>
            </a:r>
          </a:p>
        </p:txBody>
      </p:sp>
    </p:spTree>
    <p:extLst>
      <p:ext uri="{BB962C8B-B14F-4D97-AF65-F5344CB8AC3E}">
        <p14:creationId xmlns:p14="http://schemas.microsoft.com/office/powerpoint/2010/main" val="25647885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a:xfrm>
            <a:off x="626674" y="333211"/>
            <a:ext cx="10515600" cy="1325563"/>
          </a:xfrm>
        </p:spPr>
        <p:txBody>
          <a:bodyPr>
            <a:normAutofit/>
          </a:bodyPr>
          <a:lstStyle/>
          <a:p>
            <a:pPr algn="ctr"/>
            <a:r>
              <a:rPr lang="en-IN" b="1">
                <a:solidFill>
                  <a:srgbClr val="704EA6"/>
                </a:solidFill>
                <a:latin typeface="+mn-lt"/>
                <a:cs typeface="Arial" pitchFamily="34" charset="-120"/>
              </a:rPr>
              <a:t>Existing Solutions &amp; Gaps</a:t>
            </a:r>
          </a:p>
        </p:txBody>
      </p:sp>
      <p:sp>
        <p:nvSpPr>
          <p:cNvPr id="5" name="TextBox 4">
            <a:extLst>
              <a:ext uri="{FF2B5EF4-FFF2-40B4-BE49-F238E27FC236}">
                <a16:creationId xmlns:a16="http://schemas.microsoft.com/office/drawing/2014/main" id="{8DFE6AC3-AB5E-32F7-F1C4-3BDF1B337D35}"/>
              </a:ext>
            </a:extLst>
          </p:cNvPr>
          <p:cNvSpPr txBox="1"/>
          <p:nvPr/>
        </p:nvSpPr>
        <p:spPr>
          <a:xfrm>
            <a:off x="520832" y="1586019"/>
            <a:ext cx="10727284" cy="728917"/>
          </a:xfrm>
          <a:prstGeom prst="rect">
            <a:avLst/>
          </a:prstGeom>
          <a:noFill/>
        </p:spPr>
        <p:txBody>
          <a:bodyPr wrap="square">
            <a:spAutoFit/>
          </a:bodyPr>
          <a:lstStyle/>
          <a:p>
            <a:pPr algn="ctr">
              <a:lnSpc>
                <a:spcPct val="105000"/>
              </a:lnSpc>
            </a:pPr>
            <a:r>
              <a:rPr lang="en-US" sz="2000" b="1">
                <a:solidFill>
                  <a:srgbClr val="181837"/>
                </a:solidFill>
                <a:latin typeface="Aptos"/>
              </a:rPr>
              <a:t>Most assistants follow a linear loop: listen → think → speak. </a:t>
            </a:r>
          </a:p>
          <a:p>
            <a:pPr algn="ctr">
              <a:lnSpc>
                <a:spcPct val="105000"/>
              </a:lnSpc>
            </a:pPr>
            <a:r>
              <a:rPr lang="en-US" sz="2000" b="1">
                <a:solidFill>
                  <a:srgbClr val="181837"/>
                </a:solidFill>
                <a:latin typeface="Aptos"/>
              </a:rPr>
              <a:t>A user interruption often breaks that loop.</a:t>
            </a:r>
          </a:p>
        </p:txBody>
      </p:sp>
      <p:sp>
        <p:nvSpPr>
          <p:cNvPr id="7" name="TextBox 6">
            <a:extLst>
              <a:ext uri="{FF2B5EF4-FFF2-40B4-BE49-F238E27FC236}">
                <a16:creationId xmlns:a16="http://schemas.microsoft.com/office/drawing/2014/main" id="{58D2B85B-DD4D-43B5-BC09-3FC651D4E29E}"/>
              </a:ext>
            </a:extLst>
          </p:cNvPr>
          <p:cNvSpPr txBox="1"/>
          <p:nvPr/>
        </p:nvSpPr>
        <p:spPr>
          <a:xfrm>
            <a:off x="1293600" y="2706891"/>
            <a:ext cx="2600000" cy="350000"/>
          </a:xfrm>
          <a:prstGeom prst="rect">
            <a:avLst/>
          </a:prstGeom>
          <a:noFill/>
        </p:spPr>
        <p:txBody>
          <a:bodyPr wrap="none" lIns="0" tIns="0" rIns="0" bIns="0" anchor="t">
            <a:spAutoFit/>
          </a:bodyPr>
          <a:lstStyle/>
          <a:p>
            <a:pPr algn="l">
              <a:lnSpc>
                <a:spcPct val="105000"/>
              </a:lnSpc>
            </a:pPr>
            <a:r>
              <a:rPr sz="1500" b="1">
                <a:solidFill>
                  <a:srgbClr val="6B3FBE"/>
                </a:solidFill>
                <a:latin typeface="Aptos"/>
              </a:rPr>
              <a:t>Typical approach</a:t>
            </a:r>
          </a:p>
        </p:txBody>
      </p:sp>
      <p:sp>
        <p:nvSpPr>
          <p:cNvPr id="9" name="Rounded Rectangle 8">
            <a:extLst>
              <a:ext uri="{FF2B5EF4-FFF2-40B4-BE49-F238E27FC236}">
                <a16:creationId xmlns:a16="http://schemas.microsoft.com/office/drawing/2014/main" id="{6C16EBC4-770F-39ED-4382-BAAA48938ADD}"/>
              </a:ext>
            </a:extLst>
          </p:cNvPr>
          <p:cNvSpPr/>
          <p:nvPr/>
        </p:nvSpPr>
        <p:spPr>
          <a:xfrm>
            <a:off x="1192000" y="3162007"/>
            <a:ext cx="2700000" cy="600000"/>
          </a:xfrm>
          <a:prstGeom prst="roundRect">
            <a:avLst/>
          </a:prstGeom>
          <a:solidFill>
            <a:srgbClr val="FFFFFF"/>
          </a:solidFill>
          <a:ln w="12700">
            <a:solidFill>
              <a:srgbClr val="E0D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a:extLst>
              <a:ext uri="{FF2B5EF4-FFF2-40B4-BE49-F238E27FC236}">
                <a16:creationId xmlns:a16="http://schemas.microsoft.com/office/drawing/2014/main" id="{4B8AA140-51E7-0E23-E012-1BE58630F34F}"/>
              </a:ext>
            </a:extLst>
          </p:cNvPr>
          <p:cNvSpPr txBox="1"/>
          <p:nvPr/>
        </p:nvSpPr>
        <p:spPr>
          <a:xfrm>
            <a:off x="1312000" y="3252007"/>
            <a:ext cx="1394613" cy="219419"/>
          </a:xfrm>
          <a:prstGeom prst="rect">
            <a:avLst/>
          </a:prstGeom>
          <a:noFill/>
        </p:spPr>
        <p:txBody>
          <a:bodyPr wrap="none" lIns="0" tIns="0" rIns="0" bIns="0" anchor="t">
            <a:spAutoFit/>
          </a:bodyPr>
          <a:lstStyle/>
          <a:p>
            <a:pPr algn="l">
              <a:lnSpc>
                <a:spcPct val="105000"/>
              </a:lnSpc>
            </a:pPr>
            <a:r>
              <a:rPr sz="1400" b="1">
                <a:solidFill>
                  <a:srgbClr val="232337"/>
                </a:solidFill>
                <a:latin typeface="Aptos"/>
              </a:rPr>
              <a:t>Turn-based voice</a:t>
            </a:r>
          </a:p>
        </p:txBody>
      </p:sp>
      <p:sp>
        <p:nvSpPr>
          <p:cNvPr id="13" name="Rounded Rectangle 14">
            <a:extLst>
              <a:ext uri="{FF2B5EF4-FFF2-40B4-BE49-F238E27FC236}">
                <a16:creationId xmlns:a16="http://schemas.microsoft.com/office/drawing/2014/main" id="{52A3B4F5-9E11-1BEB-86A8-B58E25728A3C}"/>
              </a:ext>
            </a:extLst>
          </p:cNvPr>
          <p:cNvSpPr/>
          <p:nvPr/>
        </p:nvSpPr>
        <p:spPr>
          <a:xfrm>
            <a:off x="1192000" y="3862007"/>
            <a:ext cx="2700000" cy="600000"/>
          </a:xfrm>
          <a:prstGeom prst="roundRect">
            <a:avLst/>
          </a:prstGeom>
          <a:solidFill>
            <a:srgbClr val="FFFFFF"/>
          </a:solidFill>
          <a:ln w="12700">
            <a:solidFill>
              <a:srgbClr val="E0D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15" name="TextBox 14">
            <a:extLst>
              <a:ext uri="{FF2B5EF4-FFF2-40B4-BE49-F238E27FC236}">
                <a16:creationId xmlns:a16="http://schemas.microsoft.com/office/drawing/2014/main" id="{02E0FFCD-6184-BBFE-C43D-07199379922C}"/>
              </a:ext>
            </a:extLst>
          </p:cNvPr>
          <p:cNvSpPr txBox="1"/>
          <p:nvPr/>
        </p:nvSpPr>
        <p:spPr>
          <a:xfrm>
            <a:off x="1312000" y="3952007"/>
            <a:ext cx="1472454" cy="219419"/>
          </a:xfrm>
          <a:prstGeom prst="rect">
            <a:avLst/>
          </a:prstGeom>
          <a:noFill/>
        </p:spPr>
        <p:txBody>
          <a:bodyPr wrap="none" lIns="0" tIns="0" rIns="0" bIns="0" anchor="t">
            <a:spAutoFit/>
          </a:bodyPr>
          <a:lstStyle/>
          <a:p>
            <a:pPr algn="l">
              <a:lnSpc>
                <a:spcPct val="105000"/>
              </a:lnSpc>
            </a:pPr>
            <a:r>
              <a:rPr sz="1400" b="1">
                <a:solidFill>
                  <a:srgbClr val="232337"/>
                </a:solidFill>
                <a:latin typeface="Aptos"/>
              </a:rPr>
              <a:t>Restart on change</a:t>
            </a:r>
          </a:p>
        </p:txBody>
      </p:sp>
      <p:sp>
        <p:nvSpPr>
          <p:cNvPr id="17" name="Rounded Rectangle 20">
            <a:extLst>
              <a:ext uri="{FF2B5EF4-FFF2-40B4-BE49-F238E27FC236}">
                <a16:creationId xmlns:a16="http://schemas.microsoft.com/office/drawing/2014/main" id="{74A437C3-6F39-AAC4-8692-70670A3CC08B}"/>
              </a:ext>
            </a:extLst>
          </p:cNvPr>
          <p:cNvSpPr/>
          <p:nvPr/>
        </p:nvSpPr>
        <p:spPr>
          <a:xfrm>
            <a:off x="1192000" y="4562007"/>
            <a:ext cx="2700000" cy="600000"/>
          </a:xfrm>
          <a:prstGeom prst="roundRect">
            <a:avLst/>
          </a:prstGeom>
          <a:solidFill>
            <a:srgbClr val="FFFFFF"/>
          </a:solidFill>
          <a:ln w="12700">
            <a:solidFill>
              <a:srgbClr val="E0D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19" name="TextBox 18">
            <a:extLst>
              <a:ext uri="{FF2B5EF4-FFF2-40B4-BE49-F238E27FC236}">
                <a16:creationId xmlns:a16="http://schemas.microsoft.com/office/drawing/2014/main" id="{DB8E94CA-47FC-86C7-E26E-6017936C38B2}"/>
              </a:ext>
            </a:extLst>
          </p:cNvPr>
          <p:cNvSpPr txBox="1"/>
          <p:nvPr/>
        </p:nvSpPr>
        <p:spPr>
          <a:xfrm>
            <a:off x="1312000" y="4652007"/>
            <a:ext cx="1276247" cy="219419"/>
          </a:xfrm>
          <a:prstGeom prst="rect">
            <a:avLst/>
          </a:prstGeom>
          <a:noFill/>
        </p:spPr>
        <p:txBody>
          <a:bodyPr wrap="none" lIns="0" tIns="0" rIns="0" bIns="0" anchor="t">
            <a:spAutoFit/>
          </a:bodyPr>
          <a:lstStyle/>
          <a:p>
            <a:pPr algn="l">
              <a:lnSpc>
                <a:spcPct val="105000"/>
              </a:lnSpc>
            </a:pPr>
            <a:r>
              <a:rPr sz="1400" b="1">
                <a:solidFill>
                  <a:srgbClr val="232337"/>
                </a:solidFill>
                <a:latin typeface="Aptos"/>
              </a:rPr>
              <a:t>Passive context</a:t>
            </a:r>
          </a:p>
        </p:txBody>
      </p:sp>
      <p:sp>
        <p:nvSpPr>
          <p:cNvPr id="21" name="Rounded Rectangle 26">
            <a:extLst>
              <a:ext uri="{FF2B5EF4-FFF2-40B4-BE49-F238E27FC236}">
                <a16:creationId xmlns:a16="http://schemas.microsoft.com/office/drawing/2014/main" id="{72A269D9-FCC2-D9EC-1231-533ED9FA95B3}"/>
              </a:ext>
            </a:extLst>
          </p:cNvPr>
          <p:cNvSpPr/>
          <p:nvPr/>
        </p:nvSpPr>
        <p:spPr>
          <a:xfrm>
            <a:off x="1192000" y="5262007"/>
            <a:ext cx="2700000" cy="600000"/>
          </a:xfrm>
          <a:prstGeom prst="roundRect">
            <a:avLst/>
          </a:prstGeom>
          <a:solidFill>
            <a:srgbClr val="FFFFFF"/>
          </a:solidFill>
          <a:ln w="12700">
            <a:solidFill>
              <a:srgbClr val="E0D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23" name="TextBox 22">
            <a:extLst>
              <a:ext uri="{FF2B5EF4-FFF2-40B4-BE49-F238E27FC236}">
                <a16:creationId xmlns:a16="http://schemas.microsoft.com/office/drawing/2014/main" id="{EEE180AA-6ECB-A63F-A082-90E5E56C9FAC}"/>
              </a:ext>
            </a:extLst>
          </p:cNvPr>
          <p:cNvSpPr txBox="1"/>
          <p:nvPr/>
        </p:nvSpPr>
        <p:spPr>
          <a:xfrm>
            <a:off x="1312000" y="5352007"/>
            <a:ext cx="1463542" cy="219419"/>
          </a:xfrm>
          <a:prstGeom prst="rect">
            <a:avLst/>
          </a:prstGeom>
          <a:noFill/>
        </p:spPr>
        <p:txBody>
          <a:bodyPr wrap="none" lIns="0" tIns="0" rIns="0" bIns="0" anchor="t">
            <a:spAutoFit/>
          </a:bodyPr>
          <a:lstStyle/>
          <a:p>
            <a:pPr algn="l">
              <a:lnSpc>
                <a:spcPct val="105000"/>
              </a:lnSpc>
            </a:pPr>
            <a:r>
              <a:rPr sz="1400" b="1">
                <a:solidFill>
                  <a:srgbClr val="232337"/>
                </a:solidFill>
                <a:latin typeface="Aptos"/>
              </a:rPr>
              <a:t>One-shot learning</a:t>
            </a:r>
          </a:p>
        </p:txBody>
      </p:sp>
      <p:sp>
        <p:nvSpPr>
          <p:cNvPr id="25" name="TextBox 24">
            <a:extLst>
              <a:ext uri="{FF2B5EF4-FFF2-40B4-BE49-F238E27FC236}">
                <a16:creationId xmlns:a16="http://schemas.microsoft.com/office/drawing/2014/main" id="{15755B37-63A5-D31D-A754-97873476CB37}"/>
              </a:ext>
            </a:extLst>
          </p:cNvPr>
          <p:cNvSpPr txBox="1"/>
          <p:nvPr/>
        </p:nvSpPr>
        <p:spPr>
          <a:xfrm>
            <a:off x="4575800" y="2683704"/>
            <a:ext cx="2569520" cy="235064"/>
          </a:xfrm>
          <a:prstGeom prst="rect">
            <a:avLst/>
          </a:prstGeom>
          <a:noFill/>
        </p:spPr>
        <p:txBody>
          <a:bodyPr wrap="square" lIns="0" tIns="0" rIns="0" bIns="0" anchor="t">
            <a:spAutoFit/>
          </a:bodyPr>
          <a:lstStyle/>
          <a:p>
            <a:pPr algn="l">
              <a:lnSpc>
                <a:spcPct val="105000"/>
              </a:lnSpc>
            </a:pPr>
            <a:r>
              <a:rPr sz="1500" b="1">
                <a:solidFill>
                  <a:srgbClr val="6B3FBE"/>
                </a:solidFill>
                <a:latin typeface="Aptos"/>
              </a:rPr>
              <a:t>What goes wrong</a:t>
            </a:r>
          </a:p>
        </p:txBody>
      </p:sp>
      <p:sp>
        <p:nvSpPr>
          <p:cNvPr id="27" name="Rounded Rectangle 10">
            <a:extLst>
              <a:ext uri="{FF2B5EF4-FFF2-40B4-BE49-F238E27FC236}">
                <a16:creationId xmlns:a16="http://schemas.microsoft.com/office/drawing/2014/main" id="{FD6500DC-DDC2-9B03-05FA-AF206FBFD6CC}"/>
              </a:ext>
            </a:extLst>
          </p:cNvPr>
          <p:cNvSpPr/>
          <p:nvPr/>
        </p:nvSpPr>
        <p:spPr>
          <a:xfrm>
            <a:off x="4525000" y="3143064"/>
            <a:ext cx="2700000" cy="600000"/>
          </a:xfrm>
          <a:prstGeom prst="roundRect">
            <a:avLst/>
          </a:prstGeom>
          <a:solidFill>
            <a:srgbClr val="FFFFFF"/>
          </a:solidFill>
          <a:ln w="12700">
            <a:solidFill>
              <a:srgbClr val="E0D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a:extLst>
              <a:ext uri="{FF2B5EF4-FFF2-40B4-BE49-F238E27FC236}">
                <a16:creationId xmlns:a16="http://schemas.microsoft.com/office/drawing/2014/main" id="{7E4F46B7-B42F-4E4B-253C-D827065FF228}"/>
              </a:ext>
            </a:extLst>
          </p:cNvPr>
          <p:cNvSpPr txBox="1"/>
          <p:nvPr/>
        </p:nvSpPr>
        <p:spPr>
          <a:xfrm>
            <a:off x="4645000" y="3233064"/>
            <a:ext cx="2315306" cy="445635"/>
          </a:xfrm>
          <a:prstGeom prst="rect">
            <a:avLst/>
          </a:prstGeom>
          <a:noFill/>
        </p:spPr>
        <p:txBody>
          <a:bodyPr wrap="square" lIns="0" tIns="0" rIns="0" bIns="0" anchor="t">
            <a:spAutoFit/>
          </a:bodyPr>
          <a:lstStyle/>
          <a:p>
            <a:pPr algn="l">
              <a:lnSpc>
                <a:spcPct val="105000"/>
              </a:lnSpc>
            </a:pPr>
            <a:r>
              <a:rPr sz="1400" b="1">
                <a:solidFill>
                  <a:srgbClr val="232337"/>
                </a:solidFill>
                <a:latin typeface="Aptos"/>
              </a:rPr>
              <a:t>Waits for a turn to finish before adapting</a:t>
            </a:r>
          </a:p>
        </p:txBody>
      </p:sp>
      <p:sp>
        <p:nvSpPr>
          <p:cNvPr id="31" name="Rounded Rectangle 16">
            <a:extLst>
              <a:ext uri="{FF2B5EF4-FFF2-40B4-BE49-F238E27FC236}">
                <a16:creationId xmlns:a16="http://schemas.microsoft.com/office/drawing/2014/main" id="{3E5023C2-5FFB-7654-BC2C-729B81A19C96}"/>
              </a:ext>
            </a:extLst>
          </p:cNvPr>
          <p:cNvSpPr/>
          <p:nvPr/>
        </p:nvSpPr>
        <p:spPr>
          <a:xfrm>
            <a:off x="4525000" y="3843064"/>
            <a:ext cx="2700000" cy="600000"/>
          </a:xfrm>
          <a:prstGeom prst="roundRect">
            <a:avLst/>
          </a:prstGeom>
          <a:solidFill>
            <a:srgbClr val="FFFFFF"/>
          </a:solidFill>
          <a:ln w="12700">
            <a:solidFill>
              <a:srgbClr val="E0D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33" name="TextBox 32">
            <a:extLst>
              <a:ext uri="{FF2B5EF4-FFF2-40B4-BE49-F238E27FC236}">
                <a16:creationId xmlns:a16="http://schemas.microsoft.com/office/drawing/2014/main" id="{893821D6-88A6-112B-EA0D-E99346B5E286}"/>
              </a:ext>
            </a:extLst>
          </p:cNvPr>
          <p:cNvSpPr txBox="1"/>
          <p:nvPr/>
        </p:nvSpPr>
        <p:spPr>
          <a:xfrm>
            <a:off x="4645000" y="3933063"/>
            <a:ext cx="2315306" cy="445635"/>
          </a:xfrm>
          <a:prstGeom prst="rect">
            <a:avLst/>
          </a:prstGeom>
          <a:noFill/>
        </p:spPr>
        <p:txBody>
          <a:bodyPr wrap="square" lIns="0" tIns="0" rIns="0" bIns="0" anchor="t">
            <a:spAutoFit/>
          </a:bodyPr>
          <a:lstStyle/>
          <a:p>
            <a:pPr algn="l">
              <a:lnSpc>
                <a:spcPct val="105000"/>
              </a:lnSpc>
            </a:pPr>
            <a:r>
              <a:rPr sz="1400" b="1">
                <a:solidFill>
                  <a:srgbClr val="232337"/>
                </a:solidFill>
                <a:latin typeface="Aptos"/>
              </a:rPr>
              <a:t>Drops progress when the goal shifts</a:t>
            </a:r>
          </a:p>
        </p:txBody>
      </p:sp>
      <p:sp>
        <p:nvSpPr>
          <p:cNvPr id="35" name="Rounded Rectangle 22">
            <a:extLst>
              <a:ext uri="{FF2B5EF4-FFF2-40B4-BE49-F238E27FC236}">
                <a16:creationId xmlns:a16="http://schemas.microsoft.com/office/drawing/2014/main" id="{923D20A2-1EE1-BBFB-C5AE-3AE60CC046D8}"/>
              </a:ext>
            </a:extLst>
          </p:cNvPr>
          <p:cNvSpPr/>
          <p:nvPr/>
        </p:nvSpPr>
        <p:spPr>
          <a:xfrm>
            <a:off x="4525000" y="4543064"/>
            <a:ext cx="2700000" cy="600000"/>
          </a:xfrm>
          <a:prstGeom prst="roundRect">
            <a:avLst/>
          </a:prstGeom>
          <a:solidFill>
            <a:srgbClr val="FFFFFF"/>
          </a:solidFill>
          <a:ln w="12700">
            <a:solidFill>
              <a:srgbClr val="E0D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37" name="TextBox 36">
            <a:extLst>
              <a:ext uri="{FF2B5EF4-FFF2-40B4-BE49-F238E27FC236}">
                <a16:creationId xmlns:a16="http://schemas.microsoft.com/office/drawing/2014/main" id="{FBF58EE9-9A6A-2373-14C8-C10753B11079}"/>
              </a:ext>
            </a:extLst>
          </p:cNvPr>
          <p:cNvSpPr txBox="1"/>
          <p:nvPr/>
        </p:nvSpPr>
        <p:spPr>
          <a:xfrm>
            <a:off x="4607778" y="4652007"/>
            <a:ext cx="2553391" cy="219419"/>
          </a:xfrm>
          <a:prstGeom prst="rect">
            <a:avLst/>
          </a:prstGeom>
          <a:noFill/>
        </p:spPr>
        <p:txBody>
          <a:bodyPr wrap="none" lIns="0" tIns="0" rIns="0" bIns="0" anchor="t">
            <a:spAutoFit/>
          </a:bodyPr>
          <a:lstStyle/>
          <a:p>
            <a:pPr algn="l">
              <a:lnSpc>
                <a:spcPct val="105000"/>
              </a:lnSpc>
            </a:pPr>
            <a:r>
              <a:rPr sz="1400" b="1">
                <a:solidFill>
                  <a:srgbClr val="232337"/>
                </a:solidFill>
                <a:latin typeface="Aptos"/>
              </a:rPr>
              <a:t>Sees only the current utterance</a:t>
            </a:r>
          </a:p>
        </p:txBody>
      </p:sp>
      <p:sp>
        <p:nvSpPr>
          <p:cNvPr id="39" name="Rounded Rectangle 28">
            <a:extLst>
              <a:ext uri="{FF2B5EF4-FFF2-40B4-BE49-F238E27FC236}">
                <a16:creationId xmlns:a16="http://schemas.microsoft.com/office/drawing/2014/main" id="{0F129807-326B-EA99-9C6D-9FF0F86FE560}"/>
              </a:ext>
            </a:extLst>
          </p:cNvPr>
          <p:cNvSpPr/>
          <p:nvPr/>
        </p:nvSpPr>
        <p:spPr>
          <a:xfrm>
            <a:off x="4525000" y="5243064"/>
            <a:ext cx="2700000" cy="600000"/>
          </a:xfrm>
          <a:prstGeom prst="roundRect">
            <a:avLst/>
          </a:prstGeom>
          <a:solidFill>
            <a:srgbClr val="FFFFFF"/>
          </a:solidFill>
          <a:ln w="12700">
            <a:solidFill>
              <a:srgbClr val="E0D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41" name="TextBox 40">
            <a:extLst>
              <a:ext uri="{FF2B5EF4-FFF2-40B4-BE49-F238E27FC236}">
                <a16:creationId xmlns:a16="http://schemas.microsoft.com/office/drawing/2014/main" id="{4C24EE2F-A379-56C3-F374-A9AC92FE1BAB}"/>
              </a:ext>
            </a:extLst>
          </p:cNvPr>
          <p:cNvSpPr txBox="1"/>
          <p:nvPr/>
        </p:nvSpPr>
        <p:spPr>
          <a:xfrm>
            <a:off x="4645000" y="5333064"/>
            <a:ext cx="2315306" cy="445635"/>
          </a:xfrm>
          <a:prstGeom prst="rect">
            <a:avLst/>
          </a:prstGeom>
          <a:noFill/>
        </p:spPr>
        <p:txBody>
          <a:bodyPr wrap="square" lIns="0" tIns="0" rIns="0" bIns="0" anchor="t">
            <a:spAutoFit/>
          </a:bodyPr>
          <a:lstStyle/>
          <a:p>
            <a:pPr algn="l">
              <a:lnSpc>
                <a:spcPct val="105000"/>
              </a:lnSpc>
            </a:pPr>
            <a:r>
              <a:rPr sz="1400" b="1">
                <a:solidFill>
                  <a:srgbClr val="232337"/>
                </a:solidFill>
                <a:latin typeface="Aptos"/>
              </a:rPr>
              <a:t>Answers disappear after the task</a:t>
            </a:r>
          </a:p>
        </p:txBody>
      </p:sp>
      <p:sp>
        <p:nvSpPr>
          <p:cNvPr id="43" name="TextBox 42">
            <a:extLst>
              <a:ext uri="{FF2B5EF4-FFF2-40B4-BE49-F238E27FC236}">
                <a16:creationId xmlns:a16="http://schemas.microsoft.com/office/drawing/2014/main" id="{4ED64193-81EE-9A7C-349C-2C8E753B953C}"/>
              </a:ext>
            </a:extLst>
          </p:cNvPr>
          <p:cNvSpPr txBox="1"/>
          <p:nvPr/>
        </p:nvSpPr>
        <p:spPr>
          <a:xfrm>
            <a:off x="8421920" y="2680480"/>
            <a:ext cx="1643720" cy="235064"/>
          </a:xfrm>
          <a:prstGeom prst="rect">
            <a:avLst/>
          </a:prstGeom>
          <a:noFill/>
        </p:spPr>
        <p:txBody>
          <a:bodyPr wrap="none" lIns="0" tIns="0" rIns="0" bIns="0" anchor="t">
            <a:spAutoFit/>
          </a:bodyPr>
          <a:lstStyle/>
          <a:p>
            <a:pPr algn="l">
              <a:lnSpc>
                <a:spcPct val="105000"/>
              </a:lnSpc>
            </a:pPr>
            <a:r>
              <a:rPr sz="1500" b="1">
                <a:solidFill>
                  <a:srgbClr val="6B3FBE"/>
                </a:solidFill>
                <a:latin typeface="Aptos"/>
              </a:rPr>
              <a:t>KAIZEN</a:t>
            </a:r>
            <a:r>
              <a:rPr lang="en-US" sz="1500" b="1">
                <a:solidFill>
                  <a:srgbClr val="6B3FBE"/>
                </a:solidFill>
                <a:latin typeface="Aptos"/>
              </a:rPr>
              <a:t>’s</a:t>
            </a:r>
            <a:r>
              <a:rPr sz="1500" b="1">
                <a:solidFill>
                  <a:srgbClr val="6B3FBE"/>
                </a:solidFill>
                <a:latin typeface="Aptos"/>
              </a:rPr>
              <a:t> response</a:t>
            </a:r>
          </a:p>
        </p:txBody>
      </p:sp>
      <p:sp>
        <p:nvSpPr>
          <p:cNvPr id="45" name="Rounded Rectangle 12">
            <a:extLst>
              <a:ext uri="{FF2B5EF4-FFF2-40B4-BE49-F238E27FC236}">
                <a16:creationId xmlns:a16="http://schemas.microsoft.com/office/drawing/2014/main" id="{CDB18F41-E560-61C3-BF3E-6B5544DB7D26}"/>
              </a:ext>
            </a:extLst>
          </p:cNvPr>
          <p:cNvSpPr/>
          <p:nvPr/>
        </p:nvSpPr>
        <p:spPr>
          <a:xfrm>
            <a:off x="8300000" y="3150000"/>
            <a:ext cx="2700000" cy="600000"/>
          </a:xfrm>
          <a:prstGeom prst="roundRect">
            <a:avLst/>
          </a:prstGeom>
          <a:solidFill>
            <a:srgbClr val="FFFFFF"/>
          </a:solidFill>
          <a:ln w="12700">
            <a:solidFill>
              <a:srgbClr val="E0D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a:extLst>
              <a:ext uri="{FF2B5EF4-FFF2-40B4-BE49-F238E27FC236}">
                <a16:creationId xmlns:a16="http://schemas.microsoft.com/office/drawing/2014/main" id="{996FB034-D742-6B99-0091-D60D4C4EF645}"/>
              </a:ext>
            </a:extLst>
          </p:cNvPr>
          <p:cNvSpPr txBox="1"/>
          <p:nvPr/>
        </p:nvSpPr>
        <p:spPr>
          <a:xfrm>
            <a:off x="8420000" y="3239999"/>
            <a:ext cx="2343177" cy="445635"/>
          </a:xfrm>
          <a:prstGeom prst="rect">
            <a:avLst/>
          </a:prstGeom>
          <a:noFill/>
        </p:spPr>
        <p:txBody>
          <a:bodyPr wrap="square" lIns="0" tIns="0" rIns="0" bIns="0" anchor="t">
            <a:spAutoFit/>
          </a:bodyPr>
          <a:lstStyle/>
          <a:p>
            <a:pPr algn="l">
              <a:lnSpc>
                <a:spcPct val="105000"/>
              </a:lnSpc>
            </a:pPr>
            <a:r>
              <a:rPr sz="1400" b="1">
                <a:solidFill>
                  <a:srgbClr val="232337"/>
                </a:solidFill>
                <a:latin typeface="Aptos"/>
              </a:rPr>
              <a:t>Streams input/output and supports barge-in</a:t>
            </a:r>
          </a:p>
        </p:txBody>
      </p:sp>
      <p:sp>
        <p:nvSpPr>
          <p:cNvPr id="49" name="Rounded Rectangle 18">
            <a:extLst>
              <a:ext uri="{FF2B5EF4-FFF2-40B4-BE49-F238E27FC236}">
                <a16:creationId xmlns:a16="http://schemas.microsoft.com/office/drawing/2014/main" id="{8A14D67A-1208-1BEB-611A-0CECE0FEBA1A}"/>
              </a:ext>
            </a:extLst>
          </p:cNvPr>
          <p:cNvSpPr/>
          <p:nvPr/>
        </p:nvSpPr>
        <p:spPr>
          <a:xfrm>
            <a:off x="8300000" y="3850000"/>
            <a:ext cx="2700000" cy="600000"/>
          </a:xfrm>
          <a:prstGeom prst="roundRect">
            <a:avLst/>
          </a:prstGeom>
          <a:solidFill>
            <a:srgbClr val="FFFFFF"/>
          </a:solidFill>
          <a:ln w="12700">
            <a:solidFill>
              <a:srgbClr val="E0D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51" name="TextBox 50">
            <a:extLst>
              <a:ext uri="{FF2B5EF4-FFF2-40B4-BE49-F238E27FC236}">
                <a16:creationId xmlns:a16="http://schemas.microsoft.com/office/drawing/2014/main" id="{2AE0EB1D-DB4B-7B2B-CC14-10724B95B290}"/>
              </a:ext>
            </a:extLst>
          </p:cNvPr>
          <p:cNvSpPr txBox="1"/>
          <p:nvPr/>
        </p:nvSpPr>
        <p:spPr>
          <a:xfrm>
            <a:off x="8420001" y="3940000"/>
            <a:ext cx="2460000" cy="445635"/>
          </a:xfrm>
          <a:prstGeom prst="rect">
            <a:avLst/>
          </a:prstGeom>
          <a:noFill/>
        </p:spPr>
        <p:txBody>
          <a:bodyPr wrap="square" lIns="0" tIns="0" rIns="0" bIns="0" anchor="t">
            <a:spAutoFit/>
          </a:bodyPr>
          <a:lstStyle/>
          <a:p>
            <a:pPr algn="l">
              <a:lnSpc>
                <a:spcPct val="105000"/>
              </a:lnSpc>
            </a:pPr>
            <a:r>
              <a:rPr sz="1400" b="1">
                <a:solidFill>
                  <a:srgbClr val="232337"/>
                </a:solidFill>
                <a:latin typeface="Aptos"/>
              </a:rPr>
              <a:t>Preserves session state and routes the new intent</a:t>
            </a:r>
          </a:p>
        </p:txBody>
      </p:sp>
      <p:sp>
        <p:nvSpPr>
          <p:cNvPr id="53" name="Rounded Rectangle 24">
            <a:extLst>
              <a:ext uri="{FF2B5EF4-FFF2-40B4-BE49-F238E27FC236}">
                <a16:creationId xmlns:a16="http://schemas.microsoft.com/office/drawing/2014/main" id="{6C84C3A8-2772-B2CA-2764-AEB3E9B9DF66}"/>
              </a:ext>
            </a:extLst>
          </p:cNvPr>
          <p:cNvSpPr/>
          <p:nvPr/>
        </p:nvSpPr>
        <p:spPr>
          <a:xfrm>
            <a:off x="8300000" y="4550000"/>
            <a:ext cx="2700000" cy="600000"/>
          </a:xfrm>
          <a:prstGeom prst="roundRect">
            <a:avLst/>
          </a:prstGeom>
          <a:solidFill>
            <a:srgbClr val="FFFFFF"/>
          </a:solidFill>
          <a:ln w="12700">
            <a:solidFill>
              <a:srgbClr val="E0D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55" name="TextBox 54">
            <a:extLst>
              <a:ext uri="{FF2B5EF4-FFF2-40B4-BE49-F238E27FC236}">
                <a16:creationId xmlns:a16="http://schemas.microsoft.com/office/drawing/2014/main" id="{1F1A5292-ABBE-51F0-BC95-FEA8179AE8B6}"/>
              </a:ext>
            </a:extLst>
          </p:cNvPr>
          <p:cNvSpPr txBox="1"/>
          <p:nvPr/>
        </p:nvSpPr>
        <p:spPr>
          <a:xfrm>
            <a:off x="8420000" y="4640000"/>
            <a:ext cx="2343177" cy="445635"/>
          </a:xfrm>
          <a:prstGeom prst="rect">
            <a:avLst/>
          </a:prstGeom>
          <a:noFill/>
        </p:spPr>
        <p:txBody>
          <a:bodyPr wrap="square" lIns="0" tIns="0" rIns="0" bIns="0" anchor="t">
            <a:spAutoFit/>
          </a:bodyPr>
          <a:lstStyle/>
          <a:p>
            <a:pPr algn="l">
              <a:lnSpc>
                <a:spcPct val="105000"/>
              </a:lnSpc>
            </a:pPr>
            <a:r>
              <a:rPr sz="1400" b="1">
                <a:solidFill>
                  <a:srgbClr val="232337"/>
                </a:solidFill>
                <a:latin typeface="Aptos"/>
              </a:rPr>
              <a:t>Observer + local Vault add workflow context</a:t>
            </a:r>
          </a:p>
        </p:txBody>
      </p:sp>
      <p:sp>
        <p:nvSpPr>
          <p:cNvPr id="57" name="Rounded Rectangle 30">
            <a:extLst>
              <a:ext uri="{FF2B5EF4-FFF2-40B4-BE49-F238E27FC236}">
                <a16:creationId xmlns:a16="http://schemas.microsoft.com/office/drawing/2014/main" id="{918F47DE-23BE-B8F5-42C8-7DBB832812D0}"/>
              </a:ext>
            </a:extLst>
          </p:cNvPr>
          <p:cNvSpPr/>
          <p:nvPr/>
        </p:nvSpPr>
        <p:spPr>
          <a:xfrm>
            <a:off x="8300000" y="5250000"/>
            <a:ext cx="2700000" cy="600000"/>
          </a:xfrm>
          <a:prstGeom prst="roundRect">
            <a:avLst/>
          </a:prstGeom>
          <a:solidFill>
            <a:srgbClr val="FFFFFF"/>
          </a:solidFill>
          <a:ln w="12700">
            <a:solidFill>
              <a:srgbClr val="E0D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p>
        </p:txBody>
      </p:sp>
      <p:sp>
        <p:nvSpPr>
          <p:cNvPr id="59" name="TextBox 58">
            <a:extLst>
              <a:ext uri="{FF2B5EF4-FFF2-40B4-BE49-F238E27FC236}">
                <a16:creationId xmlns:a16="http://schemas.microsoft.com/office/drawing/2014/main" id="{E6ABA1D2-8D3B-0529-4E32-985FFA3B6749}"/>
              </a:ext>
            </a:extLst>
          </p:cNvPr>
          <p:cNvSpPr txBox="1"/>
          <p:nvPr/>
        </p:nvSpPr>
        <p:spPr>
          <a:xfrm>
            <a:off x="8420000" y="5340000"/>
            <a:ext cx="2460001" cy="445635"/>
          </a:xfrm>
          <a:prstGeom prst="rect">
            <a:avLst/>
          </a:prstGeom>
          <a:noFill/>
        </p:spPr>
        <p:txBody>
          <a:bodyPr wrap="square" lIns="0" tIns="0" rIns="0" bIns="0" anchor="t">
            <a:spAutoFit/>
          </a:bodyPr>
          <a:lstStyle/>
          <a:p>
            <a:pPr algn="l">
              <a:lnSpc>
                <a:spcPct val="105000"/>
              </a:lnSpc>
            </a:pPr>
            <a:r>
              <a:rPr sz="1400" b="1">
                <a:solidFill>
                  <a:srgbClr val="232337"/>
                </a:solidFill>
                <a:latin typeface="Aptos"/>
              </a:rPr>
              <a:t>Voyager compiles solved workflows into reusable skills</a:t>
            </a:r>
          </a:p>
        </p:txBody>
      </p:sp>
    </p:spTree>
    <p:extLst>
      <p:ext uri="{BB962C8B-B14F-4D97-AF65-F5344CB8AC3E}">
        <p14:creationId xmlns:p14="http://schemas.microsoft.com/office/powerpoint/2010/main" val="154997041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a:xfrm>
            <a:off x="909917" y="266513"/>
            <a:ext cx="10515600" cy="1325563"/>
          </a:xfrm>
        </p:spPr>
        <p:txBody>
          <a:bodyPr/>
          <a:lstStyle/>
          <a:p>
            <a:r>
              <a:rPr lang="en-IN" b="1">
                <a:solidFill>
                  <a:srgbClr val="704EA6"/>
                </a:solidFill>
                <a:latin typeface="+mn-lt"/>
              </a:rPr>
              <a:t>Our Solutions &amp; Architecture Diagram</a:t>
            </a:r>
          </a:p>
        </p:txBody>
      </p:sp>
      <p:pic>
        <p:nvPicPr>
          <p:cNvPr id="4" name="Picture 3" descr="The diagram illustrates a complex system for managing multi-turn interactions, with components for input processing, various execution models, and output handling, ensuring coherent communication and state management in a conversational AI or dialogue system.&#10;&#10;AI-generated content may be incorrect.">
            <a:extLst>
              <a:ext uri="{FF2B5EF4-FFF2-40B4-BE49-F238E27FC236}">
                <a16:creationId xmlns:a16="http://schemas.microsoft.com/office/drawing/2014/main" id="{FADFB69B-3A68-10C3-B2A5-53E26A705D5D}"/>
              </a:ext>
            </a:extLst>
          </p:cNvPr>
          <p:cNvPicPr>
            <a:picLocks noChangeAspect="1"/>
          </p:cNvPicPr>
          <p:nvPr/>
        </p:nvPicPr>
        <p:blipFill>
          <a:blip r:embed="rId3"/>
          <a:stretch>
            <a:fillRect/>
          </a:stretch>
        </p:blipFill>
        <p:spPr>
          <a:xfrm>
            <a:off x="1938528" y="1678686"/>
            <a:ext cx="8186057" cy="4118610"/>
          </a:xfrm>
          <a:prstGeom prst="rect">
            <a:avLst/>
          </a:prstGeom>
        </p:spPr>
      </p:pic>
    </p:spTree>
    <p:extLst>
      <p:ext uri="{BB962C8B-B14F-4D97-AF65-F5344CB8AC3E}">
        <p14:creationId xmlns:p14="http://schemas.microsoft.com/office/powerpoint/2010/main" val="2579789072"/>
      </p:ext>
    </p:extLst>
  </p:cSld>
  <p:clrMapOvr>
    <a:overrideClrMapping bg1="lt1" tx1="dk1" bg2="lt2" tx2="dk2" accent1="accent1" accent2="accent2" accent3="accent3" accent4="accent4" accent5="accent5" accent6="accent6" hlink="hlink" folHlink="folHlink"/>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r>
              <a:rPr lang="en-IN" b="1">
                <a:solidFill>
                  <a:srgbClr val="704EA6"/>
                </a:solidFill>
                <a:latin typeface="+mn-lt"/>
              </a:rPr>
              <a:t>Demo &amp; Product Walkthrough</a:t>
            </a:r>
          </a:p>
        </p:txBody>
      </p:sp>
    </p:spTree>
    <p:extLst>
      <p:ext uri="{BB962C8B-B14F-4D97-AF65-F5344CB8AC3E}">
        <p14:creationId xmlns:p14="http://schemas.microsoft.com/office/powerpoint/2010/main" val="1178244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a:xfrm>
            <a:off x="734201" y="318128"/>
            <a:ext cx="10515600" cy="1325563"/>
          </a:xfrm>
        </p:spPr>
        <p:txBody>
          <a:bodyPr/>
          <a:lstStyle/>
          <a:p>
            <a:r>
              <a:rPr lang="en-US" sz="4400" b="1">
                <a:solidFill>
                  <a:srgbClr val="704EA6"/>
                </a:solidFill>
                <a:latin typeface="Calibri" pitchFamily="34" charset="0"/>
                <a:ea typeface="Calibri" pitchFamily="34" charset="-122"/>
                <a:cs typeface="Calibri" pitchFamily="34" charset="-120"/>
              </a:rPr>
              <a:t>Tools and tech stack used</a:t>
            </a:r>
            <a:endParaRPr lang="en-IN" b="1">
              <a:solidFill>
                <a:srgbClr val="704EA6"/>
              </a:solidFill>
            </a:endParaRPr>
          </a:p>
        </p:txBody>
      </p:sp>
      <p:sp>
        <p:nvSpPr>
          <p:cNvPr id="5" name="Rounded Rectangle 3">
            <a:extLst>
              <a:ext uri="{FF2B5EF4-FFF2-40B4-BE49-F238E27FC236}">
                <a16:creationId xmlns:a16="http://schemas.microsoft.com/office/drawing/2014/main" id="{777D8529-63DB-4517-6141-2C52C7ACF81B}"/>
              </a:ext>
            </a:extLst>
          </p:cNvPr>
          <p:cNvSpPr/>
          <p:nvPr/>
        </p:nvSpPr>
        <p:spPr>
          <a:xfrm>
            <a:off x="1074589" y="1619003"/>
            <a:ext cx="4650000" cy="760000"/>
          </a:xfrm>
          <a:prstGeom prst="roundRect">
            <a:avLst/>
          </a:prstGeom>
          <a:solidFill>
            <a:srgbClr val="FFFFFF"/>
          </a:solidFill>
          <a:ln w="12700">
            <a:solidFill>
              <a:srgbClr val="E0D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a:extLst>
              <a:ext uri="{FF2B5EF4-FFF2-40B4-BE49-F238E27FC236}">
                <a16:creationId xmlns:a16="http://schemas.microsoft.com/office/drawing/2014/main" id="{17334425-5C29-AC39-1D45-3F1BB1AF90B1}"/>
              </a:ext>
            </a:extLst>
          </p:cNvPr>
          <p:cNvSpPr txBox="1"/>
          <p:nvPr/>
        </p:nvSpPr>
        <p:spPr>
          <a:xfrm>
            <a:off x="1224589" y="1714003"/>
            <a:ext cx="1150000" cy="260000"/>
          </a:xfrm>
          <a:prstGeom prst="rect">
            <a:avLst/>
          </a:prstGeom>
          <a:noFill/>
        </p:spPr>
        <p:txBody>
          <a:bodyPr wrap="none" lIns="0" tIns="0" rIns="0" bIns="0" anchor="t">
            <a:spAutoFit/>
          </a:bodyPr>
          <a:lstStyle/>
          <a:p>
            <a:pPr algn="l">
              <a:lnSpc>
                <a:spcPct val="105000"/>
              </a:lnSpc>
            </a:pPr>
            <a:r>
              <a:rPr sz="1200" b="1">
                <a:solidFill>
                  <a:srgbClr val="6B3FBE"/>
                </a:solidFill>
                <a:latin typeface="Aptos"/>
              </a:rPr>
              <a:t>Desktop</a:t>
            </a:r>
          </a:p>
        </p:txBody>
      </p:sp>
      <p:sp>
        <p:nvSpPr>
          <p:cNvPr id="9" name="TextBox 8">
            <a:extLst>
              <a:ext uri="{FF2B5EF4-FFF2-40B4-BE49-F238E27FC236}">
                <a16:creationId xmlns:a16="http://schemas.microsoft.com/office/drawing/2014/main" id="{5DBCE2C1-0678-687E-06BD-B6221CDF44B2}"/>
              </a:ext>
            </a:extLst>
          </p:cNvPr>
          <p:cNvSpPr txBox="1"/>
          <p:nvPr/>
        </p:nvSpPr>
        <p:spPr>
          <a:xfrm>
            <a:off x="2324589" y="1699003"/>
            <a:ext cx="3200000" cy="270000"/>
          </a:xfrm>
          <a:prstGeom prst="rect">
            <a:avLst/>
          </a:prstGeom>
          <a:noFill/>
        </p:spPr>
        <p:txBody>
          <a:bodyPr wrap="none" lIns="0" tIns="0" rIns="0" bIns="0" anchor="t">
            <a:spAutoFit/>
          </a:bodyPr>
          <a:lstStyle/>
          <a:p>
            <a:pPr algn="l">
              <a:lnSpc>
                <a:spcPct val="105000"/>
              </a:lnSpc>
            </a:pPr>
            <a:r>
              <a:rPr sz="1500" b="1">
                <a:solidFill>
                  <a:srgbClr val="181837"/>
                </a:solidFill>
                <a:latin typeface="Aptos"/>
              </a:rPr>
              <a:t>Electron 35</a:t>
            </a:r>
          </a:p>
        </p:txBody>
      </p:sp>
      <p:sp>
        <p:nvSpPr>
          <p:cNvPr id="11" name="TextBox 10">
            <a:extLst>
              <a:ext uri="{FF2B5EF4-FFF2-40B4-BE49-F238E27FC236}">
                <a16:creationId xmlns:a16="http://schemas.microsoft.com/office/drawing/2014/main" id="{4D4F07E7-E6FE-0D22-3CCC-C4806D3E341C}"/>
              </a:ext>
            </a:extLst>
          </p:cNvPr>
          <p:cNvSpPr txBox="1"/>
          <p:nvPr/>
        </p:nvSpPr>
        <p:spPr>
          <a:xfrm>
            <a:off x="2324589" y="1979003"/>
            <a:ext cx="1996059" cy="219419"/>
          </a:xfrm>
          <a:prstGeom prst="rect">
            <a:avLst/>
          </a:prstGeom>
          <a:noFill/>
        </p:spPr>
        <p:txBody>
          <a:bodyPr wrap="none" lIns="0" tIns="0" rIns="0" bIns="0" anchor="t">
            <a:spAutoFit/>
          </a:bodyPr>
          <a:lstStyle/>
          <a:p>
            <a:pPr algn="l">
              <a:lnSpc>
                <a:spcPct val="105000"/>
              </a:lnSpc>
            </a:pPr>
            <a:r>
              <a:rPr sz="1400" b="0">
                <a:solidFill>
                  <a:srgbClr val="69697D"/>
                </a:solidFill>
                <a:latin typeface="Aptos"/>
              </a:rPr>
              <a:t>Native Windows app shell</a:t>
            </a:r>
          </a:p>
        </p:txBody>
      </p:sp>
      <p:sp>
        <p:nvSpPr>
          <p:cNvPr id="13" name="Rounded Rectangle 7">
            <a:extLst>
              <a:ext uri="{FF2B5EF4-FFF2-40B4-BE49-F238E27FC236}">
                <a16:creationId xmlns:a16="http://schemas.microsoft.com/office/drawing/2014/main" id="{6B9911F8-F0CD-928F-701A-3900E7D3BBC0}"/>
              </a:ext>
            </a:extLst>
          </p:cNvPr>
          <p:cNvSpPr/>
          <p:nvPr/>
        </p:nvSpPr>
        <p:spPr>
          <a:xfrm>
            <a:off x="6424589" y="1619003"/>
            <a:ext cx="4650000" cy="760000"/>
          </a:xfrm>
          <a:prstGeom prst="roundRect">
            <a:avLst/>
          </a:prstGeom>
          <a:solidFill>
            <a:srgbClr val="FFFFFF"/>
          </a:solidFill>
          <a:ln w="12700">
            <a:solidFill>
              <a:srgbClr val="E0D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a:extLst>
              <a:ext uri="{FF2B5EF4-FFF2-40B4-BE49-F238E27FC236}">
                <a16:creationId xmlns:a16="http://schemas.microsoft.com/office/drawing/2014/main" id="{F37BF88B-3858-3370-DB68-FC5FADA9E0C9}"/>
              </a:ext>
            </a:extLst>
          </p:cNvPr>
          <p:cNvSpPr txBox="1"/>
          <p:nvPr/>
        </p:nvSpPr>
        <p:spPr>
          <a:xfrm>
            <a:off x="6574589" y="1714003"/>
            <a:ext cx="1150000" cy="260000"/>
          </a:xfrm>
          <a:prstGeom prst="rect">
            <a:avLst/>
          </a:prstGeom>
          <a:noFill/>
        </p:spPr>
        <p:txBody>
          <a:bodyPr wrap="none" lIns="0" tIns="0" rIns="0" bIns="0" anchor="t">
            <a:spAutoFit/>
          </a:bodyPr>
          <a:lstStyle/>
          <a:p>
            <a:pPr algn="l">
              <a:lnSpc>
                <a:spcPct val="105000"/>
              </a:lnSpc>
            </a:pPr>
            <a:r>
              <a:rPr sz="1200" b="1">
                <a:solidFill>
                  <a:srgbClr val="6B3FBE"/>
                </a:solidFill>
                <a:latin typeface="Aptos"/>
              </a:rPr>
              <a:t>Frontend</a:t>
            </a:r>
          </a:p>
        </p:txBody>
      </p:sp>
      <p:sp>
        <p:nvSpPr>
          <p:cNvPr id="17" name="TextBox 16">
            <a:extLst>
              <a:ext uri="{FF2B5EF4-FFF2-40B4-BE49-F238E27FC236}">
                <a16:creationId xmlns:a16="http://schemas.microsoft.com/office/drawing/2014/main" id="{FBB881CE-12D7-85CA-9224-872450E6A093}"/>
              </a:ext>
            </a:extLst>
          </p:cNvPr>
          <p:cNvSpPr txBox="1"/>
          <p:nvPr/>
        </p:nvSpPr>
        <p:spPr>
          <a:xfrm>
            <a:off x="7674589" y="1699003"/>
            <a:ext cx="3200000" cy="270000"/>
          </a:xfrm>
          <a:prstGeom prst="rect">
            <a:avLst/>
          </a:prstGeom>
          <a:noFill/>
        </p:spPr>
        <p:txBody>
          <a:bodyPr wrap="none" lIns="0" tIns="0" rIns="0" bIns="0" anchor="t">
            <a:spAutoFit/>
          </a:bodyPr>
          <a:lstStyle/>
          <a:p>
            <a:pPr algn="l">
              <a:lnSpc>
                <a:spcPct val="105000"/>
              </a:lnSpc>
            </a:pPr>
            <a:r>
              <a:rPr sz="1500" b="1">
                <a:solidFill>
                  <a:srgbClr val="181837"/>
                </a:solidFill>
                <a:latin typeface="Aptos"/>
              </a:rPr>
              <a:t>React 19 + Vite 6</a:t>
            </a:r>
          </a:p>
        </p:txBody>
      </p:sp>
      <p:sp>
        <p:nvSpPr>
          <p:cNvPr id="19" name="TextBox 18">
            <a:extLst>
              <a:ext uri="{FF2B5EF4-FFF2-40B4-BE49-F238E27FC236}">
                <a16:creationId xmlns:a16="http://schemas.microsoft.com/office/drawing/2014/main" id="{B4943087-C502-F4AC-5D4E-2155369B42F7}"/>
              </a:ext>
            </a:extLst>
          </p:cNvPr>
          <p:cNvSpPr txBox="1"/>
          <p:nvPr/>
        </p:nvSpPr>
        <p:spPr>
          <a:xfrm>
            <a:off x="7674589" y="1979003"/>
            <a:ext cx="2509598" cy="219419"/>
          </a:xfrm>
          <a:prstGeom prst="rect">
            <a:avLst/>
          </a:prstGeom>
          <a:noFill/>
        </p:spPr>
        <p:txBody>
          <a:bodyPr wrap="none" lIns="0" tIns="0" rIns="0" bIns="0" anchor="t">
            <a:spAutoFit/>
          </a:bodyPr>
          <a:lstStyle/>
          <a:p>
            <a:pPr algn="l">
              <a:lnSpc>
                <a:spcPct val="105000"/>
              </a:lnSpc>
            </a:pPr>
            <a:r>
              <a:rPr sz="1400" b="0">
                <a:solidFill>
                  <a:srgbClr val="69697D"/>
                </a:solidFill>
                <a:latin typeface="Aptos"/>
              </a:rPr>
              <a:t>TypeScript UI + real-time cockpit</a:t>
            </a:r>
          </a:p>
        </p:txBody>
      </p:sp>
      <p:sp>
        <p:nvSpPr>
          <p:cNvPr id="21" name="Rounded Rectangle 11">
            <a:extLst>
              <a:ext uri="{FF2B5EF4-FFF2-40B4-BE49-F238E27FC236}">
                <a16:creationId xmlns:a16="http://schemas.microsoft.com/office/drawing/2014/main" id="{BF2D75A7-A3CD-8653-BB16-51E2B583EE0C}"/>
              </a:ext>
            </a:extLst>
          </p:cNvPr>
          <p:cNvSpPr/>
          <p:nvPr/>
        </p:nvSpPr>
        <p:spPr>
          <a:xfrm>
            <a:off x="1074589" y="2519003"/>
            <a:ext cx="4650000" cy="760000"/>
          </a:xfrm>
          <a:prstGeom prst="roundRect">
            <a:avLst/>
          </a:prstGeom>
          <a:solidFill>
            <a:srgbClr val="FFFFFF"/>
          </a:solidFill>
          <a:ln w="12700">
            <a:solidFill>
              <a:srgbClr val="E0D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a:extLst>
              <a:ext uri="{FF2B5EF4-FFF2-40B4-BE49-F238E27FC236}">
                <a16:creationId xmlns:a16="http://schemas.microsoft.com/office/drawing/2014/main" id="{942D7EEC-2AF2-87CF-E6CB-45706ABA5F1A}"/>
              </a:ext>
            </a:extLst>
          </p:cNvPr>
          <p:cNvSpPr txBox="1"/>
          <p:nvPr/>
        </p:nvSpPr>
        <p:spPr>
          <a:xfrm>
            <a:off x="1224589" y="2614003"/>
            <a:ext cx="1150000" cy="260000"/>
          </a:xfrm>
          <a:prstGeom prst="rect">
            <a:avLst/>
          </a:prstGeom>
          <a:noFill/>
        </p:spPr>
        <p:txBody>
          <a:bodyPr wrap="none" lIns="0" tIns="0" rIns="0" bIns="0" anchor="t">
            <a:spAutoFit/>
          </a:bodyPr>
          <a:lstStyle/>
          <a:p>
            <a:pPr algn="l">
              <a:lnSpc>
                <a:spcPct val="105000"/>
              </a:lnSpc>
            </a:pPr>
            <a:r>
              <a:rPr sz="1200" b="1">
                <a:solidFill>
                  <a:srgbClr val="6B3FBE"/>
                </a:solidFill>
                <a:latin typeface="Aptos"/>
              </a:rPr>
              <a:t>Styling</a:t>
            </a:r>
          </a:p>
        </p:txBody>
      </p:sp>
      <p:sp>
        <p:nvSpPr>
          <p:cNvPr id="25" name="TextBox 24">
            <a:extLst>
              <a:ext uri="{FF2B5EF4-FFF2-40B4-BE49-F238E27FC236}">
                <a16:creationId xmlns:a16="http://schemas.microsoft.com/office/drawing/2014/main" id="{E640F447-3170-93B3-3F78-1115D3F233EF}"/>
              </a:ext>
            </a:extLst>
          </p:cNvPr>
          <p:cNvSpPr txBox="1"/>
          <p:nvPr/>
        </p:nvSpPr>
        <p:spPr>
          <a:xfrm>
            <a:off x="2324589" y="2599003"/>
            <a:ext cx="3200000" cy="270000"/>
          </a:xfrm>
          <a:prstGeom prst="rect">
            <a:avLst/>
          </a:prstGeom>
          <a:noFill/>
        </p:spPr>
        <p:txBody>
          <a:bodyPr wrap="none" lIns="0" tIns="0" rIns="0" bIns="0" anchor="t">
            <a:spAutoFit/>
          </a:bodyPr>
          <a:lstStyle/>
          <a:p>
            <a:pPr algn="l">
              <a:lnSpc>
                <a:spcPct val="105000"/>
              </a:lnSpc>
            </a:pPr>
            <a:r>
              <a:rPr sz="1500" b="1">
                <a:solidFill>
                  <a:srgbClr val="181837"/>
                </a:solidFill>
                <a:latin typeface="Aptos"/>
              </a:rPr>
              <a:t>Tailwind CSS 4</a:t>
            </a:r>
          </a:p>
        </p:txBody>
      </p:sp>
      <p:sp>
        <p:nvSpPr>
          <p:cNvPr id="27" name="TextBox 26">
            <a:extLst>
              <a:ext uri="{FF2B5EF4-FFF2-40B4-BE49-F238E27FC236}">
                <a16:creationId xmlns:a16="http://schemas.microsoft.com/office/drawing/2014/main" id="{BED875FD-1B04-4F11-9929-BC9D677059F5}"/>
              </a:ext>
            </a:extLst>
          </p:cNvPr>
          <p:cNvSpPr txBox="1"/>
          <p:nvPr/>
        </p:nvSpPr>
        <p:spPr>
          <a:xfrm>
            <a:off x="2324589" y="2879003"/>
            <a:ext cx="2331729" cy="219419"/>
          </a:xfrm>
          <a:prstGeom prst="rect">
            <a:avLst/>
          </a:prstGeom>
          <a:noFill/>
        </p:spPr>
        <p:txBody>
          <a:bodyPr wrap="none" lIns="0" tIns="0" rIns="0" bIns="0" anchor="t">
            <a:spAutoFit/>
          </a:bodyPr>
          <a:lstStyle/>
          <a:p>
            <a:pPr algn="l">
              <a:lnSpc>
                <a:spcPct val="105000"/>
              </a:lnSpc>
            </a:pPr>
            <a:r>
              <a:rPr sz="1400" b="0">
                <a:solidFill>
                  <a:srgbClr val="69697D"/>
                </a:solidFill>
                <a:latin typeface="Aptos"/>
              </a:rPr>
              <a:t>Dense systems-style interface</a:t>
            </a:r>
          </a:p>
        </p:txBody>
      </p:sp>
      <p:sp>
        <p:nvSpPr>
          <p:cNvPr id="29" name="Rounded Rectangle 15">
            <a:extLst>
              <a:ext uri="{FF2B5EF4-FFF2-40B4-BE49-F238E27FC236}">
                <a16:creationId xmlns:a16="http://schemas.microsoft.com/office/drawing/2014/main" id="{FE1A1F21-0F26-577F-CABC-CD46B012C12B}"/>
              </a:ext>
            </a:extLst>
          </p:cNvPr>
          <p:cNvSpPr/>
          <p:nvPr/>
        </p:nvSpPr>
        <p:spPr>
          <a:xfrm>
            <a:off x="6424589" y="2519003"/>
            <a:ext cx="4650000" cy="760000"/>
          </a:xfrm>
          <a:prstGeom prst="roundRect">
            <a:avLst/>
          </a:prstGeom>
          <a:solidFill>
            <a:srgbClr val="FFFFFF"/>
          </a:solidFill>
          <a:ln w="12700">
            <a:solidFill>
              <a:srgbClr val="E0D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a:extLst>
              <a:ext uri="{FF2B5EF4-FFF2-40B4-BE49-F238E27FC236}">
                <a16:creationId xmlns:a16="http://schemas.microsoft.com/office/drawing/2014/main" id="{3E15D95B-87F9-EB68-FFDA-DD48ED22AB4F}"/>
              </a:ext>
            </a:extLst>
          </p:cNvPr>
          <p:cNvSpPr txBox="1"/>
          <p:nvPr/>
        </p:nvSpPr>
        <p:spPr>
          <a:xfrm>
            <a:off x="6574589" y="2614003"/>
            <a:ext cx="1150000" cy="260000"/>
          </a:xfrm>
          <a:prstGeom prst="rect">
            <a:avLst/>
          </a:prstGeom>
          <a:noFill/>
        </p:spPr>
        <p:txBody>
          <a:bodyPr wrap="none" lIns="0" tIns="0" rIns="0" bIns="0" anchor="t">
            <a:spAutoFit/>
          </a:bodyPr>
          <a:lstStyle/>
          <a:p>
            <a:pPr algn="l">
              <a:lnSpc>
                <a:spcPct val="105000"/>
              </a:lnSpc>
            </a:pPr>
            <a:r>
              <a:rPr sz="1200" b="1">
                <a:solidFill>
                  <a:srgbClr val="6B3FBE"/>
                </a:solidFill>
                <a:latin typeface="Aptos"/>
              </a:rPr>
              <a:t>AI</a:t>
            </a:r>
          </a:p>
        </p:txBody>
      </p:sp>
      <p:sp>
        <p:nvSpPr>
          <p:cNvPr id="33" name="TextBox 32">
            <a:extLst>
              <a:ext uri="{FF2B5EF4-FFF2-40B4-BE49-F238E27FC236}">
                <a16:creationId xmlns:a16="http://schemas.microsoft.com/office/drawing/2014/main" id="{47C26C9C-6986-194A-FB5A-A478034CE3A7}"/>
              </a:ext>
            </a:extLst>
          </p:cNvPr>
          <p:cNvSpPr txBox="1"/>
          <p:nvPr/>
        </p:nvSpPr>
        <p:spPr>
          <a:xfrm>
            <a:off x="7674589" y="2599003"/>
            <a:ext cx="3200000" cy="270000"/>
          </a:xfrm>
          <a:prstGeom prst="rect">
            <a:avLst/>
          </a:prstGeom>
          <a:noFill/>
        </p:spPr>
        <p:txBody>
          <a:bodyPr wrap="none" lIns="0" tIns="0" rIns="0" bIns="0" anchor="t">
            <a:spAutoFit/>
          </a:bodyPr>
          <a:lstStyle/>
          <a:p>
            <a:pPr algn="l">
              <a:lnSpc>
                <a:spcPct val="105000"/>
              </a:lnSpc>
            </a:pPr>
            <a:r>
              <a:rPr sz="1500" b="1">
                <a:solidFill>
                  <a:srgbClr val="181837"/>
                </a:solidFill>
                <a:latin typeface="Aptos"/>
              </a:rPr>
              <a:t>Google GenAI SDK</a:t>
            </a:r>
          </a:p>
        </p:txBody>
      </p:sp>
      <p:sp>
        <p:nvSpPr>
          <p:cNvPr id="35" name="TextBox 34">
            <a:extLst>
              <a:ext uri="{FF2B5EF4-FFF2-40B4-BE49-F238E27FC236}">
                <a16:creationId xmlns:a16="http://schemas.microsoft.com/office/drawing/2014/main" id="{C9AE1126-6AEC-9FF6-F965-51C9554CA838}"/>
              </a:ext>
            </a:extLst>
          </p:cNvPr>
          <p:cNvSpPr txBox="1"/>
          <p:nvPr/>
        </p:nvSpPr>
        <p:spPr>
          <a:xfrm>
            <a:off x="7674589" y="2879003"/>
            <a:ext cx="2220993" cy="219419"/>
          </a:xfrm>
          <a:prstGeom prst="rect">
            <a:avLst/>
          </a:prstGeom>
          <a:noFill/>
        </p:spPr>
        <p:txBody>
          <a:bodyPr wrap="none" lIns="0" tIns="0" rIns="0" bIns="0" anchor="t">
            <a:spAutoFit/>
          </a:bodyPr>
          <a:lstStyle/>
          <a:p>
            <a:pPr algn="l">
              <a:lnSpc>
                <a:spcPct val="105000"/>
              </a:lnSpc>
            </a:pPr>
            <a:r>
              <a:rPr sz="1400" b="0">
                <a:solidFill>
                  <a:srgbClr val="69697D"/>
                </a:solidFill>
                <a:latin typeface="Aptos"/>
              </a:rPr>
              <a:t>Gemini Live + text generation</a:t>
            </a:r>
          </a:p>
        </p:txBody>
      </p:sp>
      <p:sp>
        <p:nvSpPr>
          <p:cNvPr id="37" name="Rounded Rectangle 19">
            <a:extLst>
              <a:ext uri="{FF2B5EF4-FFF2-40B4-BE49-F238E27FC236}">
                <a16:creationId xmlns:a16="http://schemas.microsoft.com/office/drawing/2014/main" id="{C4978C8A-3D4D-61E5-C63A-F64A1346934E}"/>
              </a:ext>
            </a:extLst>
          </p:cNvPr>
          <p:cNvSpPr/>
          <p:nvPr/>
        </p:nvSpPr>
        <p:spPr>
          <a:xfrm>
            <a:off x="1074589" y="3419003"/>
            <a:ext cx="4650000" cy="760000"/>
          </a:xfrm>
          <a:prstGeom prst="roundRect">
            <a:avLst/>
          </a:prstGeom>
          <a:solidFill>
            <a:srgbClr val="FFFFFF"/>
          </a:solidFill>
          <a:ln w="12700">
            <a:solidFill>
              <a:srgbClr val="E0D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a:extLst>
              <a:ext uri="{FF2B5EF4-FFF2-40B4-BE49-F238E27FC236}">
                <a16:creationId xmlns:a16="http://schemas.microsoft.com/office/drawing/2014/main" id="{E9E51737-FF6C-A740-617C-A89B76FA7FDC}"/>
              </a:ext>
            </a:extLst>
          </p:cNvPr>
          <p:cNvSpPr txBox="1"/>
          <p:nvPr/>
        </p:nvSpPr>
        <p:spPr>
          <a:xfrm>
            <a:off x="1224589" y="3514003"/>
            <a:ext cx="1150000" cy="260000"/>
          </a:xfrm>
          <a:prstGeom prst="rect">
            <a:avLst/>
          </a:prstGeom>
          <a:noFill/>
        </p:spPr>
        <p:txBody>
          <a:bodyPr wrap="none" lIns="0" tIns="0" rIns="0" bIns="0" anchor="t">
            <a:spAutoFit/>
          </a:bodyPr>
          <a:lstStyle/>
          <a:p>
            <a:pPr algn="l">
              <a:lnSpc>
                <a:spcPct val="105000"/>
              </a:lnSpc>
            </a:pPr>
            <a:r>
              <a:rPr sz="1200" b="1">
                <a:solidFill>
                  <a:srgbClr val="6B3FBE"/>
                </a:solidFill>
                <a:latin typeface="Aptos"/>
              </a:rPr>
              <a:t>Realtime</a:t>
            </a:r>
          </a:p>
        </p:txBody>
      </p:sp>
      <p:sp>
        <p:nvSpPr>
          <p:cNvPr id="41" name="TextBox 40">
            <a:extLst>
              <a:ext uri="{FF2B5EF4-FFF2-40B4-BE49-F238E27FC236}">
                <a16:creationId xmlns:a16="http://schemas.microsoft.com/office/drawing/2014/main" id="{8904C4F4-35CB-69D4-E8D2-AB58F8CB3756}"/>
              </a:ext>
            </a:extLst>
          </p:cNvPr>
          <p:cNvSpPr txBox="1"/>
          <p:nvPr/>
        </p:nvSpPr>
        <p:spPr>
          <a:xfrm>
            <a:off x="2324589" y="3499003"/>
            <a:ext cx="3200000" cy="270000"/>
          </a:xfrm>
          <a:prstGeom prst="rect">
            <a:avLst/>
          </a:prstGeom>
          <a:noFill/>
        </p:spPr>
        <p:txBody>
          <a:bodyPr wrap="none" lIns="0" tIns="0" rIns="0" bIns="0" anchor="t">
            <a:spAutoFit/>
          </a:bodyPr>
          <a:lstStyle/>
          <a:p>
            <a:pPr algn="l">
              <a:lnSpc>
                <a:spcPct val="105000"/>
              </a:lnSpc>
            </a:pPr>
            <a:r>
              <a:rPr sz="1500" b="1">
                <a:solidFill>
                  <a:srgbClr val="181837"/>
                </a:solidFill>
                <a:latin typeface="Aptos"/>
              </a:rPr>
              <a:t>WebSocket / PCM</a:t>
            </a:r>
          </a:p>
        </p:txBody>
      </p:sp>
      <p:sp>
        <p:nvSpPr>
          <p:cNvPr id="43" name="TextBox 42">
            <a:extLst>
              <a:ext uri="{FF2B5EF4-FFF2-40B4-BE49-F238E27FC236}">
                <a16:creationId xmlns:a16="http://schemas.microsoft.com/office/drawing/2014/main" id="{5BC23B84-E8E7-BF8B-1892-4388E0D61D91}"/>
              </a:ext>
            </a:extLst>
          </p:cNvPr>
          <p:cNvSpPr txBox="1"/>
          <p:nvPr/>
        </p:nvSpPr>
        <p:spPr>
          <a:xfrm>
            <a:off x="2324589" y="3779003"/>
            <a:ext cx="2603790" cy="219419"/>
          </a:xfrm>
          <a:prstGeom prst="rect">
            <a:avLst/>
          </a:prstGeom>
          <a:noFill/>
        </p:spPr>
        <p:txBody>
          <a:bodyPr wrap="none" lIns="0" tIns="0" rIns="0" bIns="0" anchor="t">
            <a:spAutoFit/>
          </a:bodyPr>
          <a:lstStyle/>
          <a:p>
            <a:pPr algn="l">
              <a:lnSpc>
                <a:spcPct val="105000"/>
              </a:lnSpc>
            </a:pPr>
            <a:r>
              <a:rPr sz="1400" b="0">
                <a:solidFill>
                  <a:srgbClr val="69697D"/>
                </a:solidFill>
                <a:latin typeface="Aptos"/>
              </a:rPr>
              <a:t>Bidirectional 16 kHz audio stream</a:t>
            </a:r>
          </a:p>
        </p:txBody>
      </p:sp>
      <p:sp>
        <p:nvSpPr>
          <p:cNvPr id="45" name="Rounded Rectangle 23">
            <a:extLst>
              <a:ext uri="{FF2B5EF4-FFF2-40B4-BE49-F238E27FC236}">
                <a16:creationId xmlns:a16="http://schemas.microsoft.com/office/drawing/2014/main" id="{22F1DE56-C5EC-B531-A9D3-3B87CB95BF31}"/>
              </a:ext>
            </a:extLst>
          </p:cNvPr>
          <p:cNvSpPr/>
          <p:nvPr/>
        </p:nvSpPr>
        <p:spPr>
          <a:xfrm>
            <a:off x="6424589" y="3419003"/>
            <a:ext cx="4650000" cy="760000"/>
          </a:xfrm>
          <a:prstGeom prst="roundRect">
            <a:avLst/>
          </a:prstGeom>
          <a:solidFill>
            <a:srgbClr val="FFFFFF"/>
          </a:solidFill>
          <a:ln w="12700">
            <a:solidFill>
              <a:srgbClr val="E0D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a:extLst>
              <a:ext uri="{FF2B5EF4-FFF2-40B4-BE49-F238E27FC236}">
                <a16:creationId xmlns:a16="http://schemas.microsoft.com/office/drawing/2014/main" id="{A42C1651-FED8-AB1B-8277-9F4D0F756DC8}"/>
              </a:ext>
            </a:extLst>
          </p:cNvPr>
          <p:cNvSpPr txBox="1"/>
          <p:nvPr/>
        </p:nvSpPr>
        <p:spPr>
          <a:xfrm>
            <a:off x="6574589" y="3514003"/>
            <a:ext cx="1150000" cy="260000"/>
          </a:xfrm>
          <a:prstGeom prst="rect">
            <a:avLst/>
          </a:prstGeom>
          <a:noFill/>
        </p:spPr>
        <p:txBody>
          <a:bodyPr wrap="none" lIns="0" tIns="0" rIns="0" bIns="0" anchor="t">
            <a:spAutoFit/>
          </a:bodyPr>
          <a:lstStyle/>
          <a:p>
            <a:pPr algn="l">
              <a:lnSpc>
                <a:spcPct val="105000"/>
              </a:lnSpc>
            </a:pPr>
            <a:r>
              <a:rPr sz="1200" b="1">
                <a:solidFill>
                  <a:srgbClr val="6B3FBE"/>
                </a:solidFill>
                <a:latin typeface="Aptos"/>
              </a:rPr>
              <a:t>Reasoning</a:t>
            </a:r>
          </a:p>
        </p:txBody>
      </p:sp>
      <p:sp>
        <p:nvSpPr>
          <p:cNvPr id="49" name="TextBox 48">
            <a:extLst>
              <a:ext uri="{FF2B5EF4-FFF2-40B4-BE49-F238E27FC236}">
                <a16:creationId xmlns:a16="http://schemas.microsoft.com/office/drawing/2014/main" id="{EB506845-4803-E5F7-969A-7F959DC43D40}"/>
              </a:ext>
            </a:extLst>
          </p:cNvPr>
          <p:cNvSpPr txBox="1"/>
          <p:nvPr/>
        </p:nvSpPr>
        <p:spPr>
          <a:xfrm>
            <a:off x="7674589" y="3499003"/>
            <a:ext cx="3200000" cy="270000"/>
          </a:xfrm>
          <a:prstGeom prst="rect">
            <a:avLst/>
          </a:prstGeom>
          <a:noFill/>
        </p:spPr>
        <p:txBody>
          <a:bodyPr wrap="none" lIns="0" tIns="0" rIns="0" bIns="0" anchor="t">
            <a:spAutoFit/>
          </a:bodyPr>
          <a:lstStyle/>
          <a:p>
            <a:pPr algn="l">
              <a:lnSpc>
                <a:spcPct val="105000"/>
              </a:lnSpc>
            </a:pPr>
            <a:r>
              <a:rPr sz="1500" b="1">
                <a:solidFill>
                  <a:srgbClr val="181837"/>
                </a:solidFill>
                <a:latin typeface="Aptos"/>
              </a:rPr>
              <a:t>Socratic + multi-agent</a:t>
            </a:r>
          </a:p>
        </p:txBody>
      </p:sp>
      <p:sp>
        <p:nvSpPr>
          <p:cNvPr id="51" name="TextBox 50">
            <a:extLst>
              <a:ext uri="{FF2B5EF4-FFF2-40B4-BE49-F238E27FC236}">
                <a16:creationId xmlns:a16="http://schemas.microsoft.com/office/drawing/2014/main" id="{6C71DD44-CEB3-EC95-B4B3-BE5F5E759C09}"/>
              </a:ext>
            </a:extLst>
          </p:cNvPr>
          <p:cNvSpPr txBox="1"/>
          <p:nvPr/>
        </p:nvSpPr>
        <p:spPr>
          <a:xfrm>
            <a:off x="7674589" y="3779003"/>
            <a:ext cx="2328201" cy="219419"/>
          </a:xfrm>
          <a:prstGeom prst="rect">
            <a:avLst/>
          </a:prstGeom>
          <a:noFill/>
        </p:spPr>
        <p:txBody>
          <a:bodyPr wrap="none" lIns="0" tIns="0" rIns="0" bIns="0" anchor="t">
            <a:spAutoFit/>
          </a:bodyPr>
          <a:lstStyle/>
          <a:p>
            <a:pPr algn="l">
              <a:lnSpc>
                <a:spcPct val="105000"/>
              </a:lnSpc>
            </a:pPr>
            <a:r>
              <a:rPr sz="1400" b="0">
                <a:solidFill>
                  <a:srgbClr val="69697D"/>
                </a:solidFill>
                <a:latin typeface="Aptos"/>
              </a:rPr>
              <a:t>Argument graph + deliberation</a:t>
            </a:r>
          </a:p>
        </p:txBody>
      </p:sp>
      <p:sp>
        <p:nvSpPr>
          <p:cNvPr id="53" name="Rounded Rectangle 27">
            <a:extLst>
              <a:ext uri="{FF2B5EF4-FFF2-40B4-BE49-F238E27FC236}">
                <a16:creationId xmlns:a16="http://schemas.microsoft.com/office/drawing/2014/main" id="{6320812E-084E-7F39-92E2-C2F3ECE9B5D8}"/>
              </a:ext>
            </a:extLst>
          </p:cNvPr>
          <p:cNvSpPr/>
          <p:nvPr/>
        </p:nvSpPr>
        <p:spPr>
          <a:xfrm>
            <a:off x="1074589" y="4319003"/>
            <a:ext cx="4650000" cy="760000"/>
          </a:xfrm>
          <a:prstGeom prst="roundRect">
            <a:avLst/>
          </a:prstGeom>
          <a:solidFill>
            <a:srgbClr val="FFFFFF"/>
          </a:solidFill>
          <a:ln w="12700">
            <a:solidFill>
              <a:srgbClr val="E0D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a:extLst>
              <a:ext uri="{FF2B5EF4-FFF2-40B4-BE49-F238E27FC236}">
                <a16:creationId xmlns:a16="http://schemas.microsoft.com/office/drawing/2014/main" id="{84ECE241-F980-6B78-5439-6B4AE5D03ED5}"/>
              </a:ext>
            </a:extLst>
          </p:cNvPr>
          <p:cNvSpPr txBox="1"/>
          <p:nvPr/>
        </p:nvSpPr>
        <p:spPr>
          <a:xfrm>
            <a:off x="1224589" y="4414003"/>
            <a:ext cx="1150000" cy="260000"/>
          </a:xfrm>
          <a:prstGeom prst="rect">
            <a:avLst/>
          </a:prstGeom>
          <a:noFill/>
        </p:spPr>
        <p:txBody>
          <a:bodyPr wrap="none" lIns="0" tIns="0" rIns="0" bIns="0" anchor="t">
            <a:spAutoFit/>
          </a:bodyPr>
          <a:lstStyle/>
          <a:p>
            <a:pPr algn="l">
              <a:lnSpc>
                <a:spcPct val="105000"/>
              </a:lnSpc>
            </a:pPr>
            <a:r>
              <a:rPr sz="1200" b="1">
                <a:solidFill>
                  <a:srgbClr val="6B3FBE"/>
                </a:solidFill>
                <a:latin typeface="Aptos"/>
              </a:rPr>
              <a:t>Context</a:t>
            </a:r>
          </a:p>
        </p:txBody>
      </p:sp>
      <p:sp>
        <p:nvSpPr>
          <p:cNvPr id="57" name="TextBox 56">
            <a:extLst>
              <a:ext uri="{FF2B5EF4-FFF2-40B4-BE49-F238E27FC236}">
                <a16:creationId xmlns:a16="http://schemas.microsoft.com/office/drawing/2014/main" id="{36AE55C9-6553-4863-709A-3EBF19443CFD}"/>
              </a:ext>
            </a:extLst>
          </p:cNvPr>
          <p:cNvSpPr txBox="1"/>
          <p:nvPr/>
        </p:nvSpPr>
        <p:spPr>
          <a:xfrm>
            <a:off x="2324589" y="4399003"/>
            <a:ext cx="3200000" cy="270000"/>
          </a:xfrm>
          <a:prstGeom prst="rect">
            <a:avLst/>
          </a:prstGeom>
          <a:noFill/>
        </p:spPr>
        <p:txBody>
          <a:bodyPr wrap="none" lIns="0" tIns="0" rIns="0" bIns="0" anchor="t">
            <a:spAutoFit/>
          </a:bodyPr>
          <a:lstStyle/>
          <a:p>
            <a:pPr algn="l">
              <a:lnSpc>
                <a:spcPct val="105000"/>
              </a:lnSpc>
            </a:pPr>
            <a:r>
              <a:rPr sz="1500" b="1">
                <a:solidFill>
                  <a:srgbClr val="181837"/>
                </a:solidFill>
                <a:latin typeface="Aptos"/>
              </a:rPr>
              <a:t>Screenpipe observer</a:t>
            </a:r>
          </a:p>
        </p:txBody>
      </p:sp>
      <p:sp>
        <p:nvSpPr>
          <p:cNvPr id="59" name="TextBox 58">
            <a:extLst>
              <a:ext uri="{FF2B5EF4-FFF2-40B4-BE49-F238E27FC236}">
                <a16:creationId xmlns:a16="http://schemas.microsoft.com/office/drawing/2014/main" id="{D6F5ADDD-F993-E462-3BC1-C8FCB6FE49BD}"/>
              </a:ext>
            </a:extLst>
          </p:cNvPr>
          <p:cNvSpPr txBox="1"/>
          <p:nvPr/>
        </p:nvSpPr>
        <p:spPr>
          <a:xfrm>
            <a:off x="2324589" y="4679003"/>
            <a:ext cx="2701381" cy="219419"/>
          </a:xfrm>
          <a:prstGeom prst="rect">
            <a:avLst/>
          </a:prstGeom>
          <a:noFill/>
        </p:spPr>
        <p:txBody>
          <a:bodyPr wrap="none" lIns="0" tIns="0" rIns="0" bIns="0" anchor="t">
            <a:spAutoFit/>
          </a:bodyPr>
          <a:lstStyle/>
          <a:p>
            <a:pPr algn="l">
              <a:lnSpc>
                <a:spcPct val="105000"/>
              </a:lnSpc>
            </a:pPr>
            <a:r>
              <a:rPr sz="1400" b="0">
                <a:solidFill>
                  <a:srgbClr val="69697D"/>
                </a:solidFill>
                <a:latin typeface="Aptos"/>
              </a:rPr>
              <a:t>OCR/activity-informed intervention</a:t>
            </a:r>
          </a:p>
        </p:txBody>
      </p:sp>
      <p:sp>
        <p:nvSpPr>
          <p:cNvPr id="61" name="Rounded Rectangle 31">
            <a:extLst>
              <a:ext uri="{FF2B5EF4-FFF2-40B4-BE49-F238E27FC236}">
                <a16:creationId xmlns:a16="http://schemas.microsoft.com/office/drawing/2014/main" id="{DAFFCCB0-C172-AFBE-9628-BDAFFE3B8DD8}"/>
              </a:ext>
            </a:extLst>
          </p:cNvPr>
          <p:cNvSpPr/>
          <p:nvPr/>
        </p:nvSpPr>
        <p:spPr>
          <a:xfrm>
            <a:off x="6424589" y="4319003"/>
            <a:ext cx="4650000" cy="760000"/>
          </a:xfrm>
          <a:prstGeom prst="roundRect">
            <a:avLst/>
          </a:prstGeom>
          <a:solidFill>
            <a:srgbClr val="FFFFFF"/>
          </a:solidFill>
          <a:ln w="12700">
            <a:solidFill>
              <a:srgbClr val="E0D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62">
            <a:extLst>
              <a:ext uri="{FF2B5EF4-FFF2-40B4-BE49-F238E27FC236}">
                <a16:creationId xmlns:a16="http://schemas.microsoft.com/office/drawing/2014/main" id="{AD54DCC1-BBD3-8858-CB9A-EC74AA18BEBB}"/>
              </a:ext>
            </a:extLst>
          </p:cNvPr>
          <p:cNvSpPr txBox="1"/>
          <p:nvPr/>
        </p:nvSpPr>
        <p:spPr>
          <a:xfrm>
            <a:off x="6574589" y="4414003"/>
            <a:ext cx="1150000" cy="260000"/>
          </a:xfrm>
          <a:prstGeom prst="rect">
            <a:avLst/>
          </a:prstGeom>
          <a:noFill/>
        </p:spPr>
        <p:txBody>
          <a:bodyPr wrap="none" lIns="0" tIns="0" rIns="0" bIns="0" anchor="t">
            <a:spAutoFit/>
          </a:bodyPr>
          <a:lstStyle/>
          <a:p>
            <a:pPr algn="l">
              <a:lnSpc>
                <a:spcPct val="105000"/>
              </a:lnSpc>
            </a:pPr>
            <a:r>
              <a:rPr sz="1200" b="1">
                <a:solidFill>
                  <a:srgbClr val="6B3FBE"/>
                </a:solidFill>
                <a:latin typeface="Aptos"/>
              </a:rPr>
              <a:t>Memory</a:t>
            </a:r>
          </a:p>
        </p:txBody>
      </p:sp>
      <p:sp>
        <p:nvSpPr>
          <p:cNvPr id="65" name="TextBox 64">
            <a:extLst>
              <a:ext uri="{FF2B5EF4-FFF2-40B4-BE49-F238E27FC236}">
                <a16:creationId xmlns:a16="http://schemas.microsoft.com/office/drawing/2014/main" id="{84D91FBE-576C-4C18-A6CF-74492F3A1B73}"/>
              </a:ext>
            </a:extLst>
          </p:cNvPr>
          <p:cNvSpPr txBox="1"/>
          <p:nvPr/>
        </p:nvSpPr>
        <p:spPr>
          <a:xfrm>
            <a:off x="7674589" y="4399003"/>
            <a:ext cx="3200000" cy="270000"/>
          </a:xfrm>
          <a:prstGeom prst="rect">
            <a:avLst/>
          </a:prstGeom>
          <a:noFill/>
        </p:spPr>
        <p:txBody>
          <a:bodyPr wrap="none" lIns="0" tIns="0" rIns="0" bIns="0" anchor="t">
            <a:spAutoFit/>
          </a:bodyPr>
          <a:lstStyle/>
          <a:p>
            <a:pPr algn="l">
              <a:lnSpc>
                <a:spcPct val="105000"/>
              </a:lnSpc>
            </a:pPr>
            <a:r>
              <a:rPr sz="1500" b="1">
                <a:solidFill>
                  <a:srgbClr val="181837"/>
                </a:solidFill>
                <a:latin typeface="Aptos"/>
              </a:rPr>
              <a:t>Local Vault</a:t>
            </a:r>
          </a:p>
        </p:txBody>
      </p:sp>
      <p:sp>
        <p:nvSpPr>
          <p:cNvPr id="67" name="TextBox 66">
            <a:extLst>
              <a:ext uri="{FF2B5EF4-FFF2-40B4-BE49-F238E27FC236}">
                <a16:creationId xmlns:a16="http://schemas.microsoft.com/office/drawing/2014/main" id="{4AB958BF-E324-B31F-1A7E-EBB8FFF4F42F}"/>
              </a:ext>
            </a:extLst>
          </p:cNvPr>
          <p:cNvSpPr txBox="1"/>
          <p:nvPr/>
        </p:nvSpPr>
        <p:spPr>
          <a:xfrm>
            <a:off x="7674589" y="4679003"/>
            <a:ext cx="2719334" cy="219419"/>
          </a:xfrm>
          <a:prstGeom prst="rect">
            <a:avLst/>
          </a:prstGeom>
          <a:noFill/>
        </p:spPr>
        <p:txBody>
          <a:bodyPr wrap="none" lIns="0" tIns="0" rIns="0" bIns="0" anchor="t">
            <a:spAutoFit/>
          </a:bodyPr>
          <a:lstStyle/>
          <a:p>
            <a:pPr algn="l">
              <a:lnSpc>
                <a:spcPct val="105000"/>
              </a:lnSpc>
            </a:pPr>
            <a:r>
              <a:rPr sz="1400" b="0">
                <a:solidFill>
                  <a:srgbClr val="69697D"/>
                </a:solidFill>
                <a:latin typeface="Aptos"/>
              </a:rPr>
              <a:t>Session memory + skill persistence</a:t>
            </a:r>
          </a:p>
        </p:txBody>
      </p:sp>
      <p:sp>
        <p:nvSpPr>
          <p:cNvPr id="69" name="Rounded Rectangle 35">
            <a:extLst>
              <a:ext uri="{FF2B5EF4-FFF2-40B4-BE49-F238E27FC236}">
                <a16:creationId xmlns:a16="http://schemas.microsoft.com/office/drawing/2014/main" id="{7F227CA8-CEA6-6798-25F5-2B53D71C6DBF}"/>
              </a:ext>
            </a:extLst>
          </p:cNvPr>
          <p:cNvSpPr/>
          <p:nvPr/>
        </p:nvSpPr>
        <p:spPr>
          <a:xfrm>
            <a:off x="1074589" y="5219003"/>
            <a:ext cx="4650000" cy="760000"/>
          </a:xfrm>
          <a:prstGeom prst="roundRect">
            <a:avLst/>
          </a:prstGeom>
          <a:solidFill>
            <a:srgbClr val="FFFFFF"/>
          </a:solidFill>
          <a:ln w="12700">
            <a:solidFill>
              <a:srgbClr val="E0D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TextBox 70">
            <a:extLst>
              <a:ext uri="{FF2B5EF4-FFF2-40B4-BE49-F238E27FC236}">
                <a16:creationId xmlns:a16="http://schemas.microsoft.com/office/drawing/2014/main" id="{5CA379A5-7221-DBD9-4213-6E309D830234}"/>
              </a:ext>
            </a:extLst>
          </p:cNvPr>
          <p:cNvSpPr txBox="1"/>
          <p:nvPr/>
        </p:nvSpPr>
        <p:spPr>
          <a:xfrm>
            <a:off x="1224589" y="5314003"/>
            <a:ext cx="1150000" cy="260000"/>
          </a:xfrm>
          <a:prstGeom prst="rect">
            <a:avLst/>
          </a:prstGeom>
          <a:noFill/>
        </p:spPr>
        <p:txBody>
          <a:bodyPr wrap="none" lIns="0" tIns="0" rIns="0" bIns="0" anchor="t">
            <a:spAutoFit/>
          </a:bodyPr>
          <a:lstStyle/>
          <a:p>
            <a:pPr algn="l">
              <a:lnSpc>
                <a:spcPct val="105000"/>
              </a:lnSpc>
            </a:pPr>
            <a:r>
              <a:rPr sz="1200" b="1">
                <a:solidFill>
                  <a:srgbClr val="6B3FBE"/>
                </a:solidFill>
                <a:latin typeface="Aptos"/>
              </a:rPr>
              <a:t>Integration</a:t>
            </a:r>
          </a:p>
        </p:txBody>
      </p:sp>
      <p:sp>
        <p:nvSpPr>
          <p:cNvPr id="73" name="TextBox 72">
            <a:extLst>
              <a:ext uri="{FF2B5EF4-FFF2-40B4-BE49-F238E27FC236}">
                <a16:creationId xmlns:a16="http://schemas.microsoft.com/office/drawing/2014/main" id="{5527A758-0E53-6467-E9B3-58F8336250A0}"/>
              </a:ext>
            </a:extLst>
          </p:cNvPr>
          <p:cNvSpPr txBox="1"/>
          <p:nvPr/>
        </p:nvSpPr>
        <p:spPr>
          <a:xfrm>
            <a:off x="2324589" y="5299003"/>
            <a:ext cx="3200000" cy="270000"/>
          </a:xfrm>
          <a:prstGeom prst="rect">
            <a:avLst/>
          </a:prstGeom>
          <a:noFill/>
        </p:spPr>
        <p:txBody>
          <a:bodyPr wrap="none" lIns="0" tIns="0" rIns="0" bIns="0" anchor="t">
            <a:spAutoFit/>
          </a:bodyPr>
          <a:lstStyle/>
          <a:p>
            <a:pPr algn="l">
              <a:lnSpc>
                <a:spcPct val="105000"/>
              </a:lnSpc>
            </a:pPr>
            <a:r>
              <a:rPr sz="1500" b="1">
                <a:solidFill>
                  <a:srgbClr val="181837"/>
                </a:solidFill>
                <a:latin typeface="Aptos"/>
              </a:rPr>
              <a:t>Google Workspace</a:t>
            </a:r>
          </a:p>
        </p:txBody>
      </p:sp>
      <p:sp>
        <p:nvSpPr>
          <p:cNvPr id="75" name="TextBox 74">
            <a:extLst>
              <a:ext uri="{FF2B5EF4-FFF2-40B4-BE49-F238E27FC236}">
                <a16:creationId xmlns:a16="http://schemas.microsoft.com/office/drawing/2014/main" id="{02720C7F-5828-B965-992B-023DB29FC303}"/>
              </a:ext>
            </a:extLst>
          </p:cNvPr>
          <p:cNvSpPr txBox="1"/>
          <p:nvPr/>
        </p:nvSpPr>
        <p:spPr>
          <a:xfrm>
            <a:off x="2324589" y="5579003"/>
            <a:ext cx="2359172" cy="219419"/>
          </a:xfrm>
          <a:prstGeom prst="rect">
            <a:avLst/>
          </a:prstGeom>
          <a:noFill/>
        </p:spPr>
        <p:txBody>
          <a:bodyPr wrap="none" lIns="0" tIns="0" rIns="0" bIns="0" anchor="t">
            <a:spAutoFit/>
          </a:bodyPr>
          <a:lstStyle/>
          <a:p>
            <a:pPr algn="l">
              <a:lnSpc>
                <a:spcPct val="105000"/>
              </a:lnSpc>
            </a:pPr>
            <a:r>
              <a:rPr sz="1400" b="0">
                <a:solidFill>
                  <a:srgbClr val="69697D"/>
                </a:solidFill>
                <a:latin typeface="Aptos"/>
              </a:rPr>
              <a:t>Gmail, Drive &amp; Tasks via OAuth</a:t>
            </a:r>
          </a:p>
        </p:txBody>
      </p:sp>
    </p:spTree>
    <p:extLst>
      <p:ext uri="{BB962C8B-B14F-4D97-AF65-F5344CB8AC3E}">
        <p14:creationId xmlns:p14="http://schemas.microsoft.com/office/powerpoint/2010/main" val="372482880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a:xfrm>
            <a:off x="838200" y="177386"/>
            <a:ext cx="10515600" cy="1325563"/>
          </a:xfrm>
        </p:spPr>
        <p:txBody>
          <a:bodyPr/>
          <a:lstStyle/>
          <a:p>
            <a:r>
              <a:rPr lang="en-US" sz="4400" b="1">
                <a:solidFill>
                  <a:srgbClr val="704EA6"/>
                </a:solidFill>
                <a:latin typeface="Calibri" pitchFamily="34" charset="0"/>
                <a:ea typeface="Calibri" pitchFamily="34" charset="-122"/>
                <a:cs typeface="Calibri" pitchFamily="34" charset="-120"/>
              </a:rPr>
              <a:t>Impact &amp; Use case</a:t>
            </a:r>
            <a:endParaRPr lang="en-IN" b="1">
              <a:solidFill>
                <a:srgbClr val="704EA6"/>
              </a:solidFill>
            </a:endParaRPr>
          </a:p>
        </p:txBody>
      </p:sp>
      <p:sp>
        <p:nvSpPr>
          <p:cNvPr id="5" name="TextBox 4">
            <a:extLst>
              <a:ext uri="{FF2B5EF4-FFF2-40B4-BE49-F238E27FC236}">
                <a16:creationId xmlns:a16="http://schemas.microsoft.com/office/drawing/2014/main" id="{D57E353E-05AC-0312-DFA7-D7C9276C4230}"/>
              </a:ext>
            </a:extLst>
          </p:cNvPr>
          <p:cNvSpPr txBox="1"/>
          <p:nvPr/>
        </p:nvSpPr>
        <p:spPr>
          <a:xfrm>
            <a:off x="838200" y="1315750"/>
            <a:ext cx="2165684" cy="374398"/>
          </a:xfrm>
          <a:prstGeom prst="rect">
            <a:avLst/>
          </a:prstGeom>
          <a:noFill/>
        </p:spPr>
        <p:txBody>
          <a:bodyPr wrap="square">
            <a:spAutoFit/>
          </a:bodyPr>
          <a:lstStyle/>
          <a:p>
            <a:pPr algn="l">
              <a:lnSpc>
                <a:spcPct val="105000"/>
              </a:lnSpc>
            </a:pPr>
            <a:r>
              <a:rPr lang="en-IN" b="1">
                <a:solidFill>
                  <a:srgbClr val="F05332"/>
                </a:solidFill>
                <a:latin typeface="Aptos"/>
              </a:rPr>
              <a:t>WHY IT MATTERS</a:t>
            </a:r>
          </a:p>
        </p:txBody>
      </p:sp>
      <p:sp>
        <p:nvSpPr>
          <p:cNvPr id="7" name="Rounded Rectangle 3">
            <a:extLst>
              <a:ext uri="{FF2B5EF4-FFF2-40B4-BE49-F238E27FC236}">
                <a16:creationId xmlns:a16="http://schemas.microsoft.com/office/drawing/2014/main" id="{D6EE7AF3-0F15-57FB-60A7-38E59633BAFC}"/>
              </a:ext>
            </a:extLst>
          </p:cNvPr>
          <p:cNvSpPr/>
          <p:nvPr/>
        </p:nvSpPr>
        <p:spPr>
          <a:xfrm>
            <a:off x="787884" y="1896500"/>
            <a:ext cx="4700000" cy="3950000"/>
          </a:xfrm>
          <a:prstGeom prst="roundRect">
            <a:avLst/>
          </a:prstGeom>
          <a:solidFill>
            <a:srgbClr val="FFFFFF"/>
          </a:solidFill>
          <a:ln w="12700">
            <a:solidFill>
              <a:srgbClr val="E0D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a:extLst>
              <a:ext uri="{FF2B5EF4-FFF2-40B4-BE49-F238E27FC236}">
                <a16:creationId xmlns:a16="http://schemas.microsoft.com/office/drawing/2014/main" id="{8108FE24-6C05-CAB5-1012-233646773791}"/>
              </a:ext>
            </a:extLst>
          </p:cNvPr>
          <p:cNvSpPr txBox="1"/>
          <p:nvPr/>
        </p:nvSpPr>
        <p:spPr>
          <a:xfrm>
            <a:off x="1143284" y="2723244"/>
            <a:ext cx="4216116" cy="2823850"/>
          </a:xfrm>
          <a:prstGeom prst="rect">
            <a:avLst/>
          </a:prstGeom>
          <a:noFill/>
        </p:spPr>
        <p:txBody>
          <a:bodyPr wrap="square" lIns="0" rIns="0">
            <a:spAutoFit/>
          </a:bodyPr>
          <a:lstStyle/>
          <a:p>
            <a:pPr>
              <a:spcAft>
                <a:spcPts val="700"/>
              </a:spcAft>
              <a:defRPr sz="1500">
                <a:solidFill>
                  <a:srgbClr val="232337"/>
                </a:solidFill>
                <a:latin typeface="Aptos"/>
              </a:defRPr>
            </a:pPr>
            <a:r>
              <a:rPr sz="2000"/>
              <a:t>• Coding copilot that notices repeated errors or stagnation.</a:t>
            </a:r>
          </a:p>
          <a:p>
            <a:pPr>
              <a:spcAft>
                <a:spcPts val="700"/>
              </a:spcAft>
              <a:defRPr sz="1500">
                <a:solidFill>
                  <a:srgbClr val="232337"/>
                </a:solidFill>
                <a:latin typeface="Aptos"/>
              </a:defRPr>
            </a:pPr>
            <a:r>
              <a:rPr sz="2000"/>
              <a:t>• Study partner that turns documents into guided Socratic learning.</a:t>
            </a:r>
          </a:p>
          <a:p>
            <a:pPr>
              <a:spcAft>
                <a:spcPts val="700"/>
              </a:spcAft>
              <a:defRPr sz="1500">
                <a:solidFill>
                  <a:srgbClr val="232337"/>
                </a:solidFill>
                <a:latin typeface="Aptos"/>
              </a:defRPr>
            </a:pPr>
            <a:r>
              <a:rPr sz="2000"/>
              <a:t>• Research companion that keeps context while goals evolve.</a:t>
            </a:r>
          </a:p>
          <a:p>
            <a:pPr>
              <a:spcAft>
                <a:spcPts val="700"/>
              </a:spcAft>
              <a:defRPr sz="1500">
                <a:solidFill>
                  <a:srgbClr val="232337"/>
                </a:solidFill>
                <a:latin typeface="Aptos"/>
              </a:defRPr>
            </a:pPr>
            <a:r>
              <a:rPr sz="2000"/>
              <a:t>• Desktop assistant that connects conversation to local workflows.</a:t>
            </a:r>
          </a:p>
        </p:txBody>
      </p:sp>
      <p:sp>
        <p:nvSpPr>
          <p:cNvPr id="15" name="Rounded Rectangle 7">
            <a:extLst>
              <a:ext uri="{FF2B5EF4-FFF2-40B4-BE49-F238E27FC236}">
                <a16:creationId xmlns:a16="http://schemas.microsoft.com/office/drawing/2014/main" id="{546D2F94-1F59-9DA1-F232-CAB094E50B1B}"/>
              </a:ext>
            </a:extLst>
          </p:cNvPr>
          <p:cNvSpPr/>
          <p:nvPr/>
        </p:nvSpPr>
        <p:spPr>
          <a:xfrm>
            <a:off x="6754116" y="1925850"/>
            <a:ext cx="4650000" cy="3950000"/>
          </a:xfrm>
          <a:prstGeom prst="roundRect">
            <a:avLst/>
          </a:prstGeom>
          <a:solidFill>
            <a:srgbClr val="FFFFFF"/>
          </a:solidFill>
          <a:ln w="12700">
            <a:solidFill>
              <a:srgbClr val="E0D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a:extLst>
              <a:ext uri="{FF2B5EF4-FFF2-40B4-BE49-F238E27FC236}">
                <a16:creationId xmlns:a16="http://schemas.microsoft.com/office/drawing/2014/main" id="{BB12B5BA-8F74-D4C1-0A37-1B41BB9EC14F}"/>
              </a:ext>
            </a:extLst>
          </p:cNvPr>
          <p:cNvSpPr txBox="1"/>
          <p:nvPr/>
        </p:nvSpPr>
        <p:spPr>
          <a:xfrm>
            <a:off x="7191874" y="2274967"/>
            <a:ext cx="1286300" cy="313419"/>
          </a:xfrm>
          <a:prstGeom prst="rect">
            <a:avLst/>
          </a:prstGeom>
          <a:noFill/>
        </p:spPr>
        <p:txBody>
          <a:bodyPr wrap="square" lIns="0" tIns="0" rIns="0" bIns="0" anchor="t">
            <a:spAutoFit/>
          </a:bodyPr>
          <a:lstStyle/>
          <a:p>
            <a:pPr algn="l">
              <a:lnSpc>
                <a:spcPct val="105000"/>
              </a:lnSpc>
            </a:pPr>
            <a:r>
              <a:rPr sz="2000" b="1">
                <a:solidFill>
                  <a:srgbClr val="1CB8C2"/>
                </a:solidFill>
                <a:latin typeface="Aptos"/>
              </a:rPr>
              <a:t>User value</a:t>
            </a:r>
          </a:p>
        </p:txBody>
      </p:sp>
      <p:sp>
        <p:nvSpPr>
          <p:cNvPr id="21" name="TextBox 20">
            <a:extLst>
              <a:ext uri="{FF2B5EF4-FFF2-40B4-BE49-F238E27FC236}">
                <a16:creationId xmlns:a16="http://schemas.microsoft.com/office/drawing/2014/main" id="{88DFDB42-CB55-DF54-BC88-BED8109BF9CE}"/>
              </a:ext>
            </a:extLst>
          </p:cNvPr>
          <p:cNvSpPr txBox="1"/>
          <p:nvPr/>
        </p:nvSpPr>
        <p:spPr>
          <a:xfrm>
            <a:off x="7014116" y="2702312"/>
            <a:ext cx="4390000" cy="2823850"/>
          </a:xfrm>
          <a:prstGeom prst="rect">
            <a:avLst/>
          </a:prstGeom>
          <a:noFill/>
        </p:spPr>
        <p:txBody>
          <a:bodyPr wrap="square" lIns="0" rIns="0">
            <a:spAutoFit/>
          </a:bodyPr>
          <a:lstStyle/>
          <a:p>
            <a:pPr>
              <a:spcAft>
                <a:spcPts val="700"/>
              </a:spcAft>
              <a:defRPr sz="1500">
                <a:solidFill>
                  <a:srgbClr val="232337"/>
                </a:solidFill>
                <a:latin typeface="Aptos"/>
              </a:defRPr>
            </a:pPr>
            <a:r>
              <a:rPr sz="2000"/>
              <a:t>• Less conversational friction during natural speech.</a:t>
            </a:r>
          </a:p>
          <a:p>
            <a:pPr>
              <a:spcAft>
                <a:spcPts val="700"/>
              </a:spcAft>
              <a:defRPr sz="1500">
                <a:solidFill>
                  <a:srgbClr val="232337"/>
                </a:solidFill>
                <a:latin typeface="Aptos"/>
              </a:defRPr>
            </a:pPr>
            <a:r>
              <a:rPr sz="2000"/>
              <a:t>• No hard reset when an interruption changes the goal.</a:t>
            </a:r>
          </a:p>
          <a:p>
            <a:pPr>
              <a:spcAft>
                <a:spcPts val="700"/>
              </a:spcAft>
              <a:defRPr sz="1500">
                <a:solidFill>
                  <a:srgbClr val="232337"/>
                </a:solidFill>
                <a:latin typeface="Aptos"/>
              </a:defRPr>
            </a:pPr>
            <a:r>
              <a:rPr sz="2000"/>
              <a:t>• Context is retained within the session and local Vault.</a:t>
            </a:r>
          </a:p>
          <a:p>
            <a:pPr>
              <a:spcAft>
                <a:spcPts val="700"/>
              </a:spcAft>
              <a:defRPr sz="1500">
                <a:solidFill>
                  <a:srgbClr val="232337"/>
                </a:solidFill>
                <a:latin typeface="Aptos"/>
              </a:defRPr>
            </a:pPr>
            <a:r>
              <a:rPr sz="2000"/>
              <a:t>• Resolved tasks can become reusable skills instead of one-off answers.</a:t>
            </a:r>
          </a:p>
        </p:txBody>
      </p:sp>
      <p:sp>
        <p:nvSpPr>
          <p:cNvPr id="23" name="Rounded Rectangle 11">
            <a:extLst>
              <a:ext uri="{FF2B5EF4-FFF2-40B4-BE49-F238E27FC236}">
                <a16:creationId xmlns:a16="http://schemas.microsoft.com/office/drawing/2014/main" id="{DA0D3DC7-F919-1382-75DB-2220F7EE6EA4}"/>
              </a:ext>
            </a:extLst>
          </p:cNvPr>
          <p:cNvSpPr/>
          <p:nvPr/>
        </p:nvSpPr>
        <p:spPr>
          <a:xfrm>
            <a:off x="838655" y="6033949"/>
            <a:ext cx="9760000" cy="600000"/>
          </a:xfrm>
          <a:prstGeom prst="roundRect">
            <a:avLst/>
          </a:prstGeom>
          <a:solidFill>
            <a:srgbClr val="F7F7FC"/>
          </a:solidFill>
          <a:ln w="12700">
            <a:solidFill>
              <a:srgbClr val="E0D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a:extLst>
              <a:ext uri="{FF2B5EF4-FFF2-40B4-BE49-F238E27FC236}">
                <a16:creationId xmlns:a16="http://schemas.microsoft.com/office/drawing/2014/main" id="{F9B22383-62EC-5188-FE9D-A2EEF79C347B}"/>
              </a:ext>
            </a:extLst>
          </p:cNvPr>
          <p:cNvSpPr txBox="1"/>
          <p:nvPr/>
        </p:nvSpPr>
        <p:spPr>
          <a:xfrm>
            <a:off x="1050000" y="6205850"/>
            <a:ext cx="9260000" cy="270000"/>
          </a:xfrm>
          <a:prstGeom prst="rect">
            <a:avLst/>
          </a:prstGeom>
          <a:noFill/>
        </p:spPr>
        <p:txBody>
          <a:bodyPr wrap="none" lIns="0" tIns="0" rIns="0" bIns="0" anchor="t">
            <a:spAutoFit/>
          </a:bodyPr>
          <a:lstStyle/>
          <a:p>
            <a:pPr algn="ctr">
              <a:lnSpc>
                <a:spcPct val="105000"/>
              </a:lnSpc>
            </a:pPr>
            <a:r>
              <a:rPr sz="1400" b="1">
                <a:solidFill>
                  <a:srgbClr val="181837"/>
                </a:solidFill>
                <a:latin typeface="Aptos"/>
              </a:rPr>
              <a:t>Design principle: the agent should yield instantly, remember what matters, and continue from the user's new intent.</a:t>
            </a:r>
          </a:p>
        </p:txBody>
      </p:sp>
      <p:sp>
        <p:nvSpPr>
          <p:cNvPr id="9" name="TextBox 8">
            <a:extLst>
              <a:ext uri="{FF2B5EF4-FFF2-40B4-BE49-F238E27FC236}">
                <a16:creationId xmlns:a16="http://schemas.microsoft.com/office/drawing/2014/main" id="{14312088-A2E1-792A-9AC7-B6C4D19F3010}"/>
              </a:ext>
            </a:extLst>
          </p:cNvPr>
          <p:cNvSpPr txBox="1"/>
          <p:nvPr/>
        </p:nvSpPr>
        <p:spPr>
          <a:xfrm>
            <a:off x="1321304" y="2280000"/>
            <a:ext cx="2488053" cy="313419"/>
          </a:xfrm>
          <a:prstGeom prst="rect">
            <a:avLst/>
          </a:prstGeom>
          <a:noFill/>
        </p:spPr>
        <p:txBody>
          <a:bodyPr wrap="none" lIns="0" tIns="0" rIns="0" bIns="0" anchor="t">
            <a:spAutoFit/>
          </a:bodyPr>
          <a:lstStyle/>
          <a:p>
            <a:pPr algn="l">
              <a:lnSpc>
                <a:spcPct val="105000"/>
              </a:lnSpc>
            </a:pPr>
            <a:r>
              <a:rPr sz="2000" b="1">
                <a:solidFill>
                  <a:srgbClr val="6B3FBE"/>
                </a:solidFill>
                <a:latin typeface="Aptos"/>
              </a:rPr>
              <a:t>Real-world use cases</a:t>
            </a:r>
          </a:p>
        </p:txBody>
      </p:sp>
    </p:spTree>
    <p:extLst>
      <p:ext uri="{BB962C8B-B14F-4D97-AF65-F5344CB8AC3E}">
        <p14:creationId xmlns:p14="http://schemas.microsoft.com/office/powerpoint/2010/main" val="366811909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a:xfrm>
            <a:off x="760896" y="254690"/>
            <a:ext cx="10515600" cy="1325563"/>
          </a:xfrm>
        </p:spPr>
        <p:txBody>
          <a:bodyPr/>
          <a:lstStyle/>
          <a:p>
            <a:pPr>
              <a:spcAft>
                <a:spcPts val="500"/>
              </a:spcAft>
              <a:buSzPct val="100000"/>
            </a:pPr>
            <a:r>
              <a:rPr lang="en-US" sz="4400" b="1">
                <a:solidFill>
                  <a:srgbClr val="704EA6"/>
                </a:solidFill>
                <a:latin typeface="Calibri" pitchFamily="34" charset="0"/>
                <a:ea typeface="Calibri" pitchFamily="34" charset="-122"/>
                <a:cs typeface="Calibri" pitchFamily="34" charset="-120"/>
              </a:rPr>
              <a:t>Innovation highlights, results and limitations</a:t>
            </a:r>
            <a:endParaRPr lang="en-US" sz="4400" b="1">
              <a:solidFill>
                <a:srgbClr val="704EA6"/>
              </a:solidFill>
            </a:endParaRPr>
          </a:p>
        </p:txBody>
      </p:sp>
      <p:sp>
        <p:nvSpPr>
          <p:cNvPr id="5" name="Rounded Rectangle 3">
            <a:extLst>
              <a:ext uri="{FF2B5EF4-FFF2-40B4-BE49-F238E27FC236}">
                <a16:creationId xmlns:a16="http://schemas.microsoft.com/office/drawing/2014/main" id="{87C05DB1-6FEE-F416-530F-EA9EBC39405E}"/>
              </a:ext>
            </a:extLst>
          </p:cNvPr>
          <p:cNvSpPr/>
          <p:nvPr/>
        </p:nvSpPr>
        <p:spPr>
          <a:xfrm>
            <a:off x="765246" y="1521536"/>
            <a:ext cx="1000000" cy="620000"/>
          </a:xfrm>
          <a:prstGeom prst="roundRect">
            <a:avLst/>
          </a:prstGeom>
          <a:solidFill>
            <a:srgbClr val="6B3FBE"/>
          </a:solidFill>
          <a:ln w="12700">
            <a:solidFill>
              <a:srgbClr val="6B3FB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a:extLst>
              <a:ext uri="{FF2B5EF4-FFF2-40B4-BE49-F238E27FC236}">
                <a16:creationId xmlns:a16="http://schemas.microsoft.com/office/drawing/2014/main" id="{EE0A825E-65BE-3B4B-6ABC-D3DD929AD686}"/>
              </a:ext>
            </a:extLst>
          </p:cNvPr>
          <p:cNvSpPr txBox="1"/>
          <p:nvPr/>
        </p:nvSpPr>
        <p:spPr>
          <a:xfrm>
            <a:off x="765246" y="1661536"/>
            <a:ext cx="1000000" cy="250000"/>
          </a:xfrm>
          <a:prstGeom prst="rect">
            <a:avLst/>
          </a:prstGeom>
          <a:noFill/>
        </p:spPr>
        <p:txBody>
          <a:bodyPr wrap="none" lIns="0" tIns="0" rIns="0" bIns="0" anchor="t">
            <a:spAutoFit/>
          </a:bodyPr>
          <a:lstStyle/>
          <a:p>
            <a:pPr algn="ctr">
              <a:lnSpc>
                <a:spcPct val="105000"/>
              </a:lnSpc>
            </a:pPr>
            <a:r>
              <a:rPr sz="1500" b="1">
                <a:solidFill>
                  <a:srgbClr val="FFFFFF"/>
                </a:solidFill>
                <a:latin typeface="Aptos"/>
              </a:rPr>
              <a:t>01</a:t>
            </a:r>
          </a:p>
        </p:txBody>
      </p:sp>
      <p:sp>
        <p:nvSpPr>
          <p:cNvPr id="9" name="TextBox 8">
            <a:extLst>
              <a:ext uri="{FF2B5EF4-FFF2-40B4-BE49-F238E27FC236}">
                <a16:creationId xmlns:a16="http://schemas.microsoft.com/office/drawing/2014/main" id="{294680FB-93C5-4590-E726-F3AA1323FEA0}"/>
              </a:ext>
            </a:extLst>
          </p:cNvPr>
          <p:cNvSpPr txBox="1"/>
          <p:nvPr/>
        </p:nvSpPr>
        <p:spPr>
          <a:xfrm>
            <a:off x="1915246" y="1581536"/>
            <a:ext cx="2650000" cy="280000"/>
          </a:xfrm>
          <a:prstGeom prst="rect">
            <a:avLst/>
          </a:prstGeom>
          <a:noFill/>
        </p:spPr>
        <p:txBody>
          <a:bodyPr wrap="none" lIns="0" tIns="0" rIns="0" bIns="0" anchor="t">
            <a:spAutoFit/>
          </a:bodyPr>
          <a:lstStyle/>
          <a:p>
            <a:pPr algn="l">
              <a:lnSpc>
                <a:spcPct val="105000"/>
              </a:lnSpc>
            </a:pPr>
            <a:r>
              <a:rPr sz="1500" b="1">
                <a:solidFill>
                  <a:srgbClr val="181837"/>
                </a:solidFill>
                <a:latin typeface="Aptos"/>
              </a:rPr>
              <a:t>Interruptibility</a:t>
            </a:r>
          </a:p>
        </p:txBody>
      </p:sp>
      <p:sp>
        <p:nvSpPr>
          <p:cNvPr id="11" name="TextBox 10">
            <a:extLst>
              <a:ext uri="{FF2B5EF4-FFF2-40B4-BE49-F238E27FC236}">
                <a16:creationId xmlns:a16="http://schemas.microsoft.com/office/drawing/2014/main" id="{398E9B70-78F0-6186-2407-9D4CE1C53AC6}"/>
              </a:ext>
            </a:extLst>
          </p:cNvPr>
          <p:cNvSpPr txBox="1"/>
          <p:nvPr/>
        </p:nvSpPr>
        <p:spPr>
          <a:xfrm>
            <a:off x="4665246" y="1566536"/>
            <a:ext cx="7125701" cy="509307"/>
          </a:xfrm>
          <a:prstGeom prst="rect">
            <a:avLst/>
          </a:prstGeom>
          <a:noFill/>
        </p:spPr>
        <p:txBody>
          <a:bodyPr wrap="square" lIns="0" tIns="0" rIns="0" bIns="0" anchor="t">
            <a:spAutoFit/>
          </a:bodyPr>
          <a:lstStyle/>
          <a:p>
            <a:pPr algn="l">
              <a:lnSpc>
                <a:spcPct val="105000"/>
              </a:lnSpc>
            </a:pPr>
            <a:r>
              <a:rPr sz="1600" b="0">
                <a:solidFill>
                  <a:srgbClr val="232337"/>
                </a:solidFill>
                <a:latin typeface="Aptos"/>
              </a:rPr>
              <a:t>Gemini Live session forwards audio in both directions and exposes an interrupted event to the UI.</a:t>
            </a:r>
          </a:p>
        </p:txBody>
      </p:sp>
      <p:sp>
        <p:nvSpPr>
          <p:cNvPr id="13" name="Rounded Rectangle 7">
            <a:extLst>
              <a:ext uri="{FF2B5EF4-FFF2-40B4-BE49-F238E27FC236}">
                <a16:creationId xmlns:a16="http://schemas.microsoft.com/office/drawing/2014/main" id="{C0F9836F-9A0A-1355-1A82-A992BF5968E8}"/>
              </a:ext>
            </a:extLst>
          </p:cNvPr>
          <p:cNvSpPr/>
          <p:nvPr/>
        </p:nvSpPr>
        <p:spPr>
          <a:xfrm>
            <a:off x="765246" y="2331536"/>
            <a:ext cx="1000000" cy="620000"/>
          </a:xfrm>
          <a:prstGeom prst="roundRect">
            <a:avLst/>
          </a:prstGeom>
          <a:solidFill>
            <a:srgbClr val="1CB8C2"/>
          </a:solidFill>
          <a:ln w="12700">
            <a:solidFill>
              <a:srgbClr val="1CB8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a:extLst>
              <a:ext uri="{FF2B5EF4-FFF2-40B4-BE49-F238E27FC236}">
                <a16:creationId xmlns:a16="http://schemas.microsoft.com/office/drawing/2014/main" id="{11B5955B-DB62-B5D9-014C-F2DD2F45131A}"/>
              </a:ext>
            </a:extLst>
          </p:cNvPr>
          <p:cNvSpPr txBox="1"/>
          <p:nvPr/>
        </p:nvSpPr>
        <p:spPr>
          <a:xfrm>
            <a:off x="765246" y="2471536"/>
            <a:ext cx="1000000" cy="250000"/>
          </a:xfrm>
          <a:prstGeom prst="rect">
            <a:avLst/>
          </a:prstGeom>
          <a:noFill/>
        </p:spPr>
        <p:txBody>
          <a:bodyPr wrap="none" lIns="0" tIns="0" rIns="0" bIns="0" anchor="t">
            <a:spAutoFit/>
          </a:bodyPr>
          <a:lstStyle/>
          <a:p>
            <a:pPr algn="ctr">
              <a:lnSpc>
                <a:spcPct val="105000"/>
              </a:lnSpc>
            </a:pPr>
            <a:r>
              <a:rPr sz="1500" b="1">
                <a:solidFill>
                  <a:srgbClr val="FFFFFF"/>
                </a:solidFill>
                <a:latin typeface="Aptos"/>
              </a:rPr>
              <a:t>02</a:t>
            </a:r>
          </a:p>
        </p:txBody>
      </p:sp>
      <p:sp>
        <p:nvSpPr>
          <p:cNvPr id="17" name="TextBox 16">
            <a:extLst>
              <a:ext uri="{FF2B5EF4-FFF2-40B4-BE49-F238E27FC236}">
                <a16:creationId xmlns:a16="http://schemas.microsoft.com/office/drawing/2014/main" id="{99026539-7CDA-F436-A0CE-8B29A8093BAC}"/>
              </a:ext>
            </a:extLst>
          </p:cNvPr>
          <p:cNvSpPr txBox="1"/>
          <p:nvPr/>
        </p:nvSpPr>
        <p:spPr>
          <a:xfrm>
            <a:off x="1915246" y="2391536"/>
            <a:ext cx="2650000" cy="280000"/>
          </a:xfrm>
          <a:prstGeom prst="rect">
            <a:avLst/>
          </a:prstGeom>
          <a:noFill/>
        </p:spPr>
        <p:txBody>
          <a:bodyPr wrap="none" lIns="0" tIns="0" rIns="0" bIns="0" anchor="t">
            <a:spAutoFit/>
          </a:bodyPr>
          <a:lstStyle/>
          <a:p>
            <a:pPr algn="l">
              <a:lnSpc>
                <a:spcPct val="105000"/>
              </a:lnSpc>
            </a:pPr>
            <a:r>
              <a:rPr sz="1500" b="1">
                <a:solidFill>
                  <a:srgbClr val="181837"/>
                </a:solidFill>
                <a:latin typeface="Aptos"/>
              </a:rPr>
              <a:t>Resilience</a:t>
            </a:r>
          </a:p>
        </p:txBody>
      </p:sp>
      <p:sp>
        <p:nvSpPr>
          <p:cNvPr id="19" name="TextBox 18">
            <a:extLst>
              <a:ext uri="{FF2B5EF4-FFF2-40B4-BE49-F238E27FC236}">
                <a16:creationId xmlns:a16="http://schemas.microsoft.com/office/drawing/2014/main" id="{97E74598-DDBB-6019-0B41-06C122680720}"/>
              </a:ext>
            </a:extLst>
          </p:cNvPr>
          <p:cNvSpPr txBox="1"/>
          <p:nvPr/>
        </p:nvSpPr>
        <p:spPr>
          <a:xfrm>
            <a:off x="4665246" y="2376536"/>
            <a:ext cx="7236083" cy="250774"/>
          </a:xfrm>
          <a:prstGeom prst="rect">
            <a:avLst/>
          </a:prstGeom>
          <a:noFill/>
        </p:spPr>
        <p:txBody>
          <a:bodyPr wrap="none" lIns="0" tIns="0" rIns="0" bIns="0" anchor="t">
            <a:spAutoFit/>
          </a:bodyPr>
          <a:lstStyle/>
          <a:p>
            <a:pPr algn="l">
              <a:lnSpc>
                <a:spcPct val="105000"/>
              </a:lnSpc>
            </a:pPr>
            <a:r>
              <a:rPr sz="1600" b="0">
                <a:latin typeface="Aptos"/>
              </a:rPr>
              <a:t>Fallback model cascade and offline responses reduce abrupt conversation failure.</a:t>
            </a:r>
          </a:p>
        </p:txBody>
      </p:sp>
      <p:sp>
        <p:nvSpPr>
          <p:cNvPr id="21" name="Rounded Rectangle 11">
            <a:extLst>
              <a:ext uri="{FF2B5EF4-FFF2-40B4-BE49-F238E27FC236}">
                <a16:creationId xmlns:a16="http://schemas.microsoft.com/office/drawing/2014/main" id="{E475F931-D28E-BDD2-78B2-3E641240E7F7}"/>
              </a:ext>
            </a:extLst>
          </p:cNvPr>
          <p:cNvSpPr/>
          <p:nvPr/>
        </p:nvSpPr>
        <p:spPr>
          <a:xfrm>
            <a:off x="765246" y="3141536"/>
            <a:ext cx="1000000" cy="620000"/>
          </a:xfrm>
          <a:prstGeom prst="roundRect">
            <a:avLst/>
          </a:prstGeom>
          <a:solidFill>
            <a:srgbClr val="6B3FBE"/>
          </a:solidFill>
          <a:ln w="12700">
            <a:solidFill>
              <a:srgbClr val="6B3FB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a:extLst>
              <a:ext uri="{FF2B5EF4-FFF2-40B4-BE49-F238E27FC236}">
                <a16:creationId xmlns:a16="http://schemas.microsoft.com/office/drawing/2014/main" id="{68469F66-2DC6-5273-7418-E4E7B1E1B038}"/>
              </a:ext>
            </a:extLst>
          </p:cNvPr>
          <p:cNvSpPr txBox="1"/>
          <p:nvPr/>
        </p:nvSpPr>
        <p:spPr>
          <a:xfrm>
            <a:off x="765246" y="3281536"/>
            <a:ext cx="1000000" cy="250000"/>
          </a:xfrm>
          <a:prstGeom prst="rect">
            <a:avLst/>
          </a:prstGeom>
          <a:noFill/>
        </p:spPr>
        <p:txBody>
          <a:bodyPr wrap="none" lIns="0" tIns="0" rIns="0" bIns="0" anchor="t">
            <a:spAutoFit/>
          </a:bodyPr>
          <a:lstStyle/>
          <a:p>
            <a:pPr algn="ctr">
              <a:lnSpc>
                <a:spcPct val="105000"/>
              </a:lnSpc>
            </a:pPr>
            <a:r>
              <a:rPr sz="1500" b="1">
                <a:solidFill>
                  <a:srgbClr val="FFFFFF"/>
                </a:solidFill>
                <a:latin typeface="Aptos"/>
              </a:rPr>
              <a:t>03</a:t>
            </a:r>
          </a:p>
        </p:txBody>
      </p:sp>
      <p:sp>
        <p:nvSpPr>
          <p:cNvPr id="25" name="TextBox 24">
            <a:extLst>
              <a:ext uri="{FF2B5EF4-FFF2-40B4-BE49-F238E27FC236}">
                <a16:creationId xmlns:a16="http://schemas.microsoft.com/office/drawing/2014/main" id="{214DEC37-D892-C4D7-5346-5F53DAFD803C}"/>
              </a:ext>
            </a:extLst>
          </p:cNvPr>
          <p:cNvSpPr txBox="1"/>
          <p:nvPr/>
        </p:nvSpPr>
        <p:spPr>
          <a:xfrm>
            <a:off x="1915246" y="3201536"/>
            <a:ext cx="2650000" cy="280000"/>
          </a:xfrm>
          <a:prstGeom prst="rect">
            <a:avLst/>
          </a:prstGeom>
          <a:noFill/>
        </p:spPr>
        <p:txBody>
          <a:bodyPr wrap="none" lIns="0" tIns="0" rIns="0" bIns="0" anchor="t">
            <a:spAutoFit/>
          </a:bodyPr>
          <a:lstStyle/>
          <a:p>
            <a:pPr algn="l">
              <a:lnSpc>
                <a:spcPct val="105000"/>
              </a:lnSpc>
            </a:pPr>
            <a:r>
              <a:rPr sz="1500" b="1">
                <a:solidFill>
                  <a:srgbClr val="181837"/>
                </a:solidFill>
                <a:latin typeface="Aptos"/>
              </a:rPr>
              <a:t>Context awareness</a:t>
            </a:r>
          </a:p>
        </p:txBody>
      </p:sp>
      <p:sp>
        <p:nvSpPr>
          <p:cNvPr id="27" name="TextBox 26">
            <a:extLst>
              <a:ext uri="{FF2B5EF4-FFF2-40B4-BE49-F238E27FC236}">
                <a16:creationId xmlns:a16="http://schemas.microsoft.com/office/drawing/2014/main" id="{91708E40-1F20-1648-AF65-18AF0D0657E2}"/>
              </a:ext>
            </a:extLst>
          </p:cNvPr>
          <p:cNvSpPr txBox="1"/>
          <p:nvPr/>
        </p:nvSpPr>
        <p:spPr>
          <a:xfrm>
            <a:off x="4665246" y="3186536"/>
            <a:ext cx="7236083" cy="509307"/>
          </a:xfrm>
          <a:prstGeom prst="rect">
            <a:avLst/>
          </a:prstGeom>
          <a:noFill/>
        </p:spPr>
        <p:txBody>
          <a:bodyPr wrap="square" lIns="0" tIns="0" rIns="0" bIns="0" anchor="t">
            <a:spAutoFit/>
          </a:bodyPr>
          <a:lstStyle/>
          <a:p>
            <a:pPr algn="l">
              <a:lnSpc>
                <a:spcPct val="105000"/>
              </a:lnSpc>
            </a:pPr>
            <a:r>
              <a:rPr sz="1600" b="0" err="1">
                <a:solidFill>
                  <a:srgbClr val="232337"/>
                </a:solidFill>
                <a:latin typeface="Aptos"/>
              </a:rPr>
              <a:t>Screenpipe</a:t>
            </a:r>
            <a:r>
              <a:rPr sz="1600" b="0">
                <a:solidFill>
                  <a:srgbClr val="232337"/>
                </a:solidFill>
                <a:latin typeface="Aptos"/>
              </a:rPr>
              <a:t> supervisor can trigger proactive intervention from stagnation/error signals.</a:t>
            </a:r>
          </a:p>
        </p:txBody>
      </p:sp>
      <p:sp>
        <p:nvSpPr>
          <p:cNvPr id="29" name="Rounded Rectangle 15">
            <a:extLst>
              <a:ext uri="{FF2B5EF4-FFF2-40B4-BE49-F238E27FC236}">
                <a16:creationId xmlns:a16="http://schemas.microsoft.com/office/drawing/2014/main" id="{B1C92665-416D-4C9D-E43E-B2548E0D5E97}"/>
              </a:ext>
            </a:extLst>
          </p:cNvPr>
          <p:cNvSpPr/>
          <p:nvPr/>
        </p:nvSpPr>
        <p:spPr>
          <a:xfrm>
            <a:off x="765246" y="3951536"/>
            <a:ext cx="1000000" cy="620000"/>
          </a:xfrm>
          <a:prstGeom prst="roundRect">
            <a:avLst/>
          </a:prstGeom>
          <a:solidFill>
            <a:srgbClr val="1CB8C2"/>
          </a:solidFill>
          <a:ln w="12700">
            <a:solidFill>
              <a:srgbClr val="1CB8C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a:extLst>
              <a:ext uri="{FF2B5EF4-FFF2-40B4-BE49-F238E27FC236}">
                <a16:creationId xmlns:a16="http://schemas.microsoft.com/office/drawing/2014/main" id="{D1D5A5B5-D96C-3B3F-F18B-DB732B7EAC09}"/>
              </a:ext>
            </a:extLst>
          </p:cNvPr>
          <p:cNvSpPr txBox="1"/>
          <p:nvPr/>
        </p:nvSpPr>
        <p:spPr>
          <a:xfrm>
            <a:off x="765246" y="4091536"/>
            <a:ext cx="1000000" cy="250000"/>
          </a:xfrm>
          <a:prstGeom prst="rect">
            <a:avLst/>
          </a:prstGeom>
          <a:noFill/>
        </p:spPr>
        <p:txBody>
          <a:bodyPr wrap="none" lIns="0" tIns="0" rIns="0" bIns="0" anchor="t">
            <a:spAutoFit/>
          </a:bodyPr>
          <a:lstStyle/>
          <a:p>
            <a:pPr algn="ctr">
              <a:lnSpc>
                <a:spcPct val="105000"/>
              </a:lnSpc>
            </a:pPr>
            <a:r>
              <a:rPr sz="1500" b="1">
                <a:solidFill>
                  <a:srgbClr val="FFFFFF"/>
                </a:solidFill>
                <a:latin typeface="Aptos"/>
              </a:rPr>
              <a:t>04</a:t>
            </a:r>
          </a:p>
        </p:txBody>
      </p:sp>
      <p:sp>
        <p:nvSpPr>
          <p:cNvPr id="33" name="TextBox 32">
            <a:extLst>
              <a:ext uri="{FF2B5EF4-FFF2-40B4-BE49-F238E27FC236}">
                <a16:creationId xmlns:a16="http://schemas.microsoft.com/office/drawing/2014/main" id="{332A8D25-FC96-0E1D-21FB-2A52187E4765}"/>
              </a:ext>
            </a:extLst>
          </p:cNvPr>
          <p:cNvSpPr txBox="1"/>
          <p:nvPr/>
        </p:nvSpPr>
        <p:spPr>
          <a:xfrm>
            <a:off x="1915246" y="4011536"/>
            <a:ext cx="2650000" cy="280000"/>
          </a:xfrm>
          <a:prstGeom prst="rect">
            <a:avLst/>
          </a:prstGeom>
          <a:noFill/>
        </p:spPr>
        <p:txBody>
          <a:bodyPr wrap="none" lIns="0" tIns="0" rIns="0" bIns="0" anchor="t">
            <a:spAutoFit/>
          </a:bodyPr>
          <a:lstStyle/>
          <a:p>
            <a:pPr algn="l">
              <a:lnSpc>
                <a:spcPct val="105000"/>
              </a:lnSpc>
            </a:pPr>
            <a:r>
              <a:rPr sz="1500" b="1">
                <a:solidFill>
                  <a:srgbClr val="181837"/>
                </a:solidFill>
                <a:latin typeface="Aptos"/>
              </a:rPr>
              <a:t>Reasoning depth</a:t>
            </a:r>
          </a:p>
        </p:txBody>
      </p:sp>
      <p:sp>
        <p:nvSpPr>
          <p:cNvPr id="35" name="TextBox 34">
            <a:extLst>
              <a:ext uri="{FF2B5EF4-FFF2-40B4-BE49-F238E27FC236}">
                <a16:creationId xmlns:a16="http://schemas.microsoft.com/office/drawing/2014/main" id="{96B26990-D975-C224-B307-C1FC80AC7121}"/>
              </a:ext>
            </a:extLst>
          </p:cNvPr>
          <p:cNvSpPr txBox="1"/>
          <p:nvPr/>
        </p:nvSpPr>
        <p:spPr>
          <a:xfrm>
            <a:off x="4665246" y="4016284"/>
            <a:ext cx="6028421" cy="509307"/>
          </a:xfrm>
          <a:prstGeom prst="rect">
            <a:avLst/>
          </a:prstGeom>
          <a:noFill/>
        </p:spPr>
        <p:txBody>
          <a:bodyPr wrap="square" lIns="0" tIns="0" rIns="0" bIns="0" anchor="t">
            <a:spAutoFit/>
          </a:bodyPr>
          <a:lstStyle/>
          <a:p>
            <a:pPr algn="l">
              <a:lnSpc>
                <a:spcPct val="105000"/>
              </a:lnSpc>
            </a:pPr>
            <a:r>
              <a:rPr sz="1600" b="0">
                <a:solidFill>
                  <a:srgbClr val="232337"/>
                </a:solidFill>
                <a:latin typeface="Aptos"/>
              </a:rPr>
              <a:t>Socratic graph + Teacher–Critic–Student deliberation separate analysis from the spoken answer.</a:t>
            </a:r>
          </a:p>
        </p:txBody>
      </p:sp>
      <p:sp>
        <p:nvSpPr>
          <p:cNvPr id="37" name="Rounded Rectangle 19">
            <a:extLst>
              <a:ext uri="{FF2B5EF4-FFF2-40B4-BE49-F238E27FC236}">
                <a16:creationId xmlns:a16="http://schemas.microsoft.com/office/drawing/2014/main" id="{10EF3279-6311-5F18-9FC5-DB14CCDADE4D}"/>
              </a:ext>
            </a:extLst>
          </p:cNvPr>
          <p:cNvSpPr/>
          <p:nvPr/>
        </p:nvSpPr>
        <p:spPr>
          <a:xfrm>
            <a:off x="765246" y="4761536"/>
            <a:ext cx="1000000" cy="620000"/>
          </a:xfrm>
          <a:prstGeom prst="roundRect">
            <a:avLst/>
          </a:prstGeom>
          <a:solidFill>
            <a:srgbClr val="6B3FBE"/>
          </a:solidFill>
          <a:ln w="12700">
            <a:solidFill>
              <a:srgbClr val="6B3FB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a:extLst>
              <a:ext uri="{FF2B5EF4-FFF2-40B4-BE49-F238E27FC236}">
                <a16:creationId xmlns:a16="http://schemas.microsoft.com/office/drawing/2014/main" id="{A7A9CA4D-8AFA-943C-54DA-26AB452D9373}"/>
              </a:ext>
            </a:extLst>
          </p:cNvPr>
          <p:cNvSpPr txBox="1"/>
          <p:nvPr/>
        </p:nvSpPr>
        <p:spPr>
          <a:xfrm>
            <a:off x="765246" y="4901536"/>
            <a:ext cx="1000000" cy="250000"/>
          </a:xfrm>
          <a:prstGeom prst="rect">
            <a:avLst/>
          </a:prstGeom>
          <a:noFill/>
        </p:spPr>
        <p:txBody>
          <a:bodyPr wrap="none" lIns="0" tIns="0" rIns="0" bIns="0" anchor="t">
            <a:spAutoFit/>
          </a:bodyPr>
          <a:lstStyle/>
          <a:p>
            <a:pPr algn="ctr">
              <a:lnSpc>
                <a:spcPct val="105000"/>
              </a:lnSpc>
            </a:pPr>
            <a:r>
              <a:rPr sz="1500" b="1">
                <a:solidFill>
                  <a:srgbClr val="FFFFFF"/>
                </a:solidFill>
                <a:latin typeface="Aptos"/>
              </a:rPr>
              <a:t>05</a:t>
            </a:r>
          </a:p>
        </p:txBody>
      </p:sp>
      <p:sp>
        <p:nvSpPr>
          <p:cNvPr id="41" name="TextBox 40">
            <a:extLst>
              <a:ext uri="{FF2B5EF4-FFF2-40B4-BE49-F238E27FC236}">
                <a16:creationId xmlns:a16="http://schemas.microsoft.com/office/drawing/2014/main" id="{5991EBA6-937A-EE74-31C4-F4D68C2412E8}"/>
              </a:ext>
            </a:extLst>
          </p:cNvPr>
          <p:cNvSpPr txBox="1"/>
          <p:nvPr/>
        </p:nvSpPr>
        <p:spPr>
          <a:xfrm>
            <a:off x="1915246" y="4821536"/>
            <a:ext cx="2650000" cy="280000"/>
          </a:xfrm>
          <a:prstGeom prst="rect">
            <a:avLst/>
          </a:prstGeom>
          <a:noFill/>
        </p:spPr>
        <p:txBody>
          <a:bodyPr wrap="none" lIns="0" tIns="0" rIns="0" bIns="0" anchor="t">
            <a:spAutoFit/>
          </a:bodyPr>
          <a:lstStyle/>
          <a:p>
            <a:pPr algn="l">
              <a:lnSpc>
                <a:spcPct val="105000"/>
              </a:lnSpc>
            </a:pPr>
            <a:r>
              <a:rPr sz="1500" b="1">
                <a:solidFill>
                  <a:srgbClr val="181837"/>
                </a:solidFill>
                <a:latin typeface="Aptos"/>
              </a:rPr>
              <a:t>Lifelong learning</a:t>
            </a:r>
          </a:p>
        </p:txBody>
      </p:sp>
      <p:sp>
        <p:nvSpPr>
          <p:cNvPr id="43" name="TextBox 42">
            <a:extLst>
              <a:ext uri="{FF2B5EF4-FFF2-40B4-BE49-F238E27FC236}">
                <a16:creationId xmlns:a16="http://schemas.microsoft.com/office/drawing/2014/main" id="{78140146-380F-B74B-31D2-16E237FECBC5}"/>
              </a:ext>
            </a:extLst>
          </p:cNvPr>
          <p:cNvSpPr txBox="1"/>
          <p:nvPr/>
        </p:nvSpPr>
        <p:spPr>
          <a:xfrm>
            <a:off x="4665246" y="4806536"/>
            <a:ext cx="6176434" cy="250774"/>
          </a:xfrm>
          <a:prstGeom prst="rect">
            <a:avLst/>
          </a:prstGeom>
          <a:noFill/>
        </p:spPr>
        <p:txBody>
          <a:bodyPr wrap="none" lIns="0" tIns="0" rIns="0" bIns="0" anchor="t">
            <a:spAutoFit/>
          </a:bodyPr>
          <a:lstStyle/>
          <a:p>
            <a:pPr algn="l">
              <a:lnSpc>
                <a:spcPct val="105000"/>
              </a:lnSpc>
            </a:pPr>
            <a:r>
              <a:rPr sz="1600" b="0">
                <a:solidFill>
                  <a:srgbClr val="232337"/>
                </a:solidFill>
                <a:latin typeface="Aptos"/>
              </a:rPr>
              <a:t>Voyager turns solved engineering workflows into versioned Vault skills.</a:t>
            </a:r>
          </a:p>
        </p:txBody>
      </p:sp>
      <p:sp>
        <p:nvSpPr>
          <p:cNvPr id="45" name="Rounded Rectangle 23">
            <a:extLst>
              <a:ext uri="{FF2B5EF4-FFF2-40B4-BE49-F238E27FC236}">
                <a16:creationId xmlns:a16="http://schemas.microsoft.com/office/drawing/2014/main" id="{E8605FDC-BC6E-F280-1E8E-C2E552D9E6E5}"/>
              </a:ext>
            </a:extLst>
          </p:cNvPr>
          <p:cNvSpPr/>
          <p:nvPr/>
        </p:nvSpPr>
        <p:spPr>
          <a:xfrm>
            <a:off x="1096000" y="5625763"/>
            <a:ext cx="10000000" cy="820000"/>
          </a:xfrm>
          <a:prstGeom prst="roundRect">
            <a:avLst/>
          </a:prstGeom>
          <a:solidFill>
            <a:srgbClr val="F7F7FC"/>
          </a:solidFill>
          <a:ln w="12700">
            <a:solidFill>
              <a:srgbClr val="E0D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a:extLst>
              <a:ext uri="{FF2B5EF4-FFF2-40B4-BE49-F238E27FC236}">
                <a16:creationId xmlns:a16="http://schemas.microsoft.com/office/drawing/2014/main" id="{8A07318C-8C98-CE55-B755-5470DD2EB159}"/>
              </a:ext>
            </a:extLst>
          </p:cNvPr>
          <p:cNvSpPr txBox="1"/>
          <p:nvPr/>
        </p:nvSpPr>
        <p:spPr>
          <a:xfrm>
            <a:off x="1415246" y="5948641"/>
            <a:ext cx="1000000" cy="250000"/>
          </a:xfrm>
          <a:prstGeom prst="rect">
            <a:avLst/>
          </a:prstGeom>
          <a:noFill/>
        </p:spPr>
        <p:txBody>
          <a:bodyPr wrap="none" lIns="0" tIns="0" rIns="0" bIns="0" anchor="t">
            <a:spAutoFit/>
          </a:bodyPr>
          <a:lstStyle/>
          <a:p>
            <a:pPr algn="l">
              <a:lnSpc>
                <a:spcPct val="105000"/>
              </a:lnSpc>
            </a:pPr>
            <a:r>
              <a:rPr sz="1300" b="1">
                <a:solidFill>
                  <a:srgbClr val="F05332"/>
                </a:solidFill>
                <a:latin typeface="Aptos"/>
              </a:rPr>
              <a:t>LIMITS</a:t>
            </a:r>
          </a:p>
        </p:txBody>
      </p:sp>
      <p:sp>
        <p:nvSpPr>
          <p:cNvPr id="49" name="TextBox 48">
            <a:extLst>
              <a:ext uri="{FF2B5EF4-FFF2-40B4-BE49-F238E27FC236}">
                <a16:creationId xmlns:a16="http://schemas.microsoft.com/office/drawing/2014/main" id="{EDA0FDB3-55A1-284A-DB22-BBE8EC59F8F1}"/>
              </a:ext>
            </a:extLst>
          </p:cNvPr>
          <p:cNvSpPr txBox="1"/>
          <p:nvPr/>
        </p:nvSpPr>
        <p:spPr>
          <a:xfrm>
            <a:off x="2415246" y="5828847"/>
            <a:ext cx="7980038" cy="413831"/>
          </a:xfrm>
          <a:prstGeom prst="rect">
            <a:avLst/>
          </a:prstGeom>
          <a:noFill/>
        </p:spPr>
        <p:txBody>
          <a:bodyPr wrap="square" lIns="0" tIns="0" rIns="0" bIns="0" anchor="t">
            <a:spAutoFit/>
          </a:bodyPr>
          <a:lstStyle/>
          <a:p>
            <a:pPr algn="l">
              <a:lnSpc>
                <a:spcPct val="105000"/>
              </a:lnSpc>
            </a:pPr>
            <a:r>
              <a:rPr sz="1300" b="1">
                <a:solidFill>
                  <a:srgbClr val="232337"/>
                </a:solidFill>
                <a:latin typeface="Aptos"/>
              </a:rPr>
              <a:t>Current prototype is local-first but still depends on Gemini connectivity for full cloud reasoning; observer signals and workflow actions are prototype integrations rather than a production automation layer.</a:t>
            </a:r>
          </a:p>
        </p:txBody>
      </p:sp>
    </p:spTree>
    <p:extLst>
      <p:ext uri="{BB962C8B-B14F-4D97-AF65-F5344CB8AC3E}">
        <p14:creationId xmlns:p14="http://schemas.microsoft.com/office/powerpoint/2010/main" val="19932370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p:txBody>
          <a:bodyPr/>
          <a:lstStyle/>
          <a:p>
            <a:pPr>
              <a:spcAft>
                <a:spcPts val="500"/>
              </a:spcAft>
              <a:buSzPct val="100000"/>
            </a:pPr>
            <a:r>
              <a:rPr lang="en-US" sz="4400" b="1">
                <a:solidFill>
                  <a:srgbClr val="704EA6"/>
                </a:solidFill>
                <a:latin typeface="Calibri" pitchFamily="34" charset="0"/>
                <a:ea typeface="Calibri" pitchFamily="34" charset="-122"/>
                <a:cs typeface="Calibri" pitchFamily="34" charset="-120"/>
              </a:rPr>
              <a:t>What’s next</a:t>
            </a:r>
            <a:endParaRPr lang="en-US" sz="4400" b="1">
              <a:solidFill>
                <a:srgbClr val="704EA6"/>
              </a:solidFill>
            </a:endParaRPr>
          </a:p>
        </p:txBody>
      </p:sp>
      <p:sp>
        <p:nvSpPr>
          <p:cNvPr id="4" name="Rounded Rectangle 4">
            <a:extLst>
              <a:ext uri="{FF2B5EF4-FFF2-40B4-BE49-F238E27FC236}">
                <a16:creationId xmlns:a16="http://schemas.microsoft.com/office/drawing/2014/main" id="{3F3BAA80-F2ED-07FF-2A9B-9940C7F602B4}"/>
              </a:ext>
            </a:extLst>
          </p:cNvPr>
          <p:cNvSpPr/>
          <p:nvPr/>
        </p:nvSpPr>
        <p:spPr>
          <a:xfrm>
            <a:off x="1421000" y="1690688"/>
            <a:ext cx="2950000" cy="3350000"/>
          </a:xfrm>
          <a:prstGeom prst="roundRect">
            <a:avLst/>
          </a:prstGeom>
          <a:solidFill>
            <a:srgbClr val="FFFFFF"/>
          </a:solidFill>
          <a:ln w="12700">
            <a:solidFill>
              <a:srgbClr val="E0D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a:extLst>
              <a:ext uri="{FF2B5EF4-FFF2-40B4-BE49-F238E27FC236}">
                <a16:creationId xmlns:a16="http://schemas.microsoft.com/office/drawing/2014/main" id="{FD6CD0DB-5535-DC1B-2266-404A9EF3D9D2}"/>
              </a:ext>
            </a:extLst>
          </p:cNvPr>
          <p:cNvSpPr/>
          <p:nvPr/>
        </p:nvSpPr>
        <p:spPr>
          <a:xfrm>
            <a:off x="1601000" y="1910688"/>
            <a:ext cx="560000" cy="560000"/>
          </a:xfrm>
          <a:prstGeom prst="ellipse">
            <a:avLst/>
          </a:prstGeom>
          <a:solidFill>
            <a:srgbClr val="6B3F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a:extLst>
              <a:ext uri="{FF2B5EF4-FFF2-40B4-BE49-F238E27FC236}">
                <a16:creationId xmlns:a16="http://schemas.microsoft.com/office/drawing/2014/main" id="{90132D85-4BE6-CBB6-CBA8-19DD2F180C51}"/>
              </a:ext>
            </a:extLst>
          </p:cNvPr>
          <p:cNvSpPr txBox="1"/>
          <p:nvPr/>
        </p:nvSpPr>
        <p:spPr>
          <a:xfrm>
            <a:off x="1601000" y="2100688"/>
            <a:ext cx="560000" cy="180000"/>
          </a:xfrm>
          <a:prstGeom prst="rect">
            <a:avLst/>
          </a:prstGeom>
          <a:noFill/>
        </p:spPr>
        <p:txBody>
          <a:bodyPr wrap="square" lIns="0" tIns="0" rIns="0" bIns="0">
            <a:spAutoFit/>
          </a:bodyPr>
          <a:lstStyle/>
          <a:p>
            <a:pPr algn="ctr"/>
            <a:r>
              <a:rPr sz="1100" b="1" dirty="0">
                <a:solidFill>
                  <a:srgbClr val="FFFFFF"/>
                </a:solidFill>
                <a:latin typeface="Aptos"/>
              </a:rPr>
              <a:t>01</a:t>
            </a:r>
          </a:p>
        </p:txBody>
      </p:sp>
      <p:sp>
        <p:nvSpPr>
          <p:cNvPr id="10" name="TextBox 9">
            <a:extLst>
              <a:ext uri="{FF2B5EF4-FFF2-40B4-BE49-F238E27FC236}">
                <a16:creationId xmlns:a16="http://schemas.microsoft.com/office/drawing/2014/main" id="{CC597937-5832-B80A-519D-6450345656BB}"/>
              </a:ext>
            </a:extLst>
          </p:cNvPr>
          <p:cNvSpPr txBox="1"/>
          <p:nvPr/>
        </p:nvSpPr>
        <p:spPr>
          <a:xfrm>
            <a:off x="1601000" y="2740688"/>
            <a:ext cx="2590000" cy="650000"/>
          </a:xfrm>
          <a:prstGeom prst="rect">
            <a:avLst/>
          </a:prstGeom>
          <a:noFill/>
        </p:spPr>
        <p:txBody>
          <a:bodyPr wrap="square" lIns="0" tIns="0" rIns="0" bIns="0">
            <a:spAutoFit/>
          </a:bodyPr>
          <a:lstStyle/>
          <a:p>
            <a:pPr algn="l"/>
            <a:r>
              <a:rPr sz="1800" b="1">
                <a:solidFill>
                  <a:srgbClr val="181837"/>
                </a:solidFill>
                <a:latin typeface="Aptos"/>
              </a:rPr>
              <a:t>WORKSPACE
CONNECTION</a:t>
            </a:r>
          </a:p>
        </p:txBody>
      </p:sp>
      <p:sp>
        <p:nvSpPr>
          <p:cNvPr id="12" name="Rectangle 11">
            <a:extLst>
              <a:ext uri="{FF2B5EF4-FFF2-40B4-BE49-F238E27FC236}">
                <a16:creationId xmlns:a16="http://schemas.microsoft.com/office/drawing/2014/main" id="{589E74F5-93E2-B627-9D1A-539517F332D8}"/>
              </a:ext>
            </a:extLst>
          </p:cNvPr>
          <p:cNvSpPr/>
          <p:nvPr/>
        </p:nvSpPr>
        <p:spPr>
          <a:xfrm>
            <a:off x="1601000" y="3510688"/>
            <a:ext cx="700000" cy="60000"/>
          </a:xfrm>
          <a:prstGeom prst="rect">
            <a:avLst/>
          </a:prstGeom>
          <a:solidFill>
            <a:srgbClr val="6B3F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a:extLst>
              <a:ext uri="{FF2B5EF4-FFF2-40B4-BE49-F238E27FC236}">
                <a16:creationId xmlns:a16="http://schemas.microsoft.com/office/drawing/2014/main" id="{91F91FC0-4A50-39E0-4445-5C2EC69A5FBB}"/>
              </a:ext>
            </a:extLst>
          </p:cNvPr>
          <p:cNvSpPr txBox="1"/>
          <p:nvPr/>
        </p:nvSpPr>
        <p:spPr>
          <a:xfrm>
            <a:off x="1601000" y="3740688"/>
            <a:ext cx="2590000" cy="646331"/>
          </a:xfrm>
          <a:prstGeom prst="rect">
            <a:avLst/>
          </a:prstGeom>
          <a:noFill/>
        </p:spPr>
        <p:txBody>
          <a:bodyPr wrap="square" lIns="0" tIns="0" rIns="0" bIns="0">
            <a:spAutoFit/>
          </a:bodyPr>
          <a:lstStyle/>
          <a:p>
            <a:pPr algn="l"/>
            <a:r>
              <a:rPr sz="1400" b="0" dirty="0">
                <a:latin typeface="Aptos"/>
              </a:rPr>
              <a:t>Connect Gmail, Drive &amp; Tasks to bring everyday work context directly into KAIZEN.</a:t>
            </a:r>
          </a:p>
        </p:txBody>
      </p:sp>
      <p:sp>
        <p:nvSpPr>
          <p:cNvPr id="16" name="Rounded Rectangle 10">
            <a:extLst>
              <a:ext uri="{FF2B5EF4-FFF2-40B4-BE49-F238E27FC236}">
                <a16:creationId xmlns:a16="http://schemas.microsoft.com/office/drawing/2014/main" id="{E8B54005-63E5-0AD3-784A-834A6174ACCA}"/>
              </a:ext>
            </a:extLst>
          </p:cNvPr>
          <p:cNvSpPr/>
          <p:nvPr/>
        </p:nvSpPr>
        <p:spPr>
          <a:xfrm>
            <a:off x="4621000" y="1690688"/>
            <a:ext cx="2950000" cy="3350000"/>
          </a:xfrm>
          <a:prstGeom prst="roundRect">
            <a:avLst/>
          </a:prstGeom>
          <a:solidFill>
            <a:srgbClr val="FFFFFF"/>
          </a:solidFill>
          <a:ln w="12700">
            <a:solidFill>
              <a:srgbClr val="E0D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a:extLst>
              <a:ext uri="{FF2B5EF4-FFF2-40B4-BE49-F238E27FC236}">
                <a16:creationId xmlns:a16="http://schemas.microsoft.com/office/drawing/2014/main" id="{631B426F-65ED-013A-F7BC-0CFFDC81C11E}"/>
              </a:ext>
            </a:extLst>
          </p:cNvPr>
          <p:cNvSpPr/>
          <p:nvPr/>
        </p:nvSpPr>
        <p:spPr>
          <a:xfrm>
            <a:off x="4801000" y="1910688"/>
            <a:ext cx="560000" cy="560000"/>
          </a:xfrm>
          <a:prstGeom prst="ellipse">
            <a:avLst/>
          </a:prstGeom>
          <a:solidFill>
            <a:srgbClr val="1CB8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a:extLst>
              <a:ext uri="{FF2B5EF4-FFF2-40B4-BE49-F238E27FC236}">
                <a16:creationId xmlns:a16="http://schemas.microsoft.com/office/drawing/2014/main" id="{7DB274B8-1B17-7626-5828-9C39CA640495}"/>
              </a:ext>
            </a:extLst>
          </p:cNvPr>
          <p:cNvSpPr txBox="1"/>
          <p:nvPr/>
        </p:nvSpPr>
        <p:spPr>
          <a:xfrm>
            <a:off x="4801000" y="2100688"/>
            <a:ext cx="560000" cy="180000"/>
          </a:xfrm>
          <a:prstGeom prst="rect">
            <a:avLst/>
          </a:prstGeom>
          <a:noFill/>
        </p:spPr>
        <p:txBody>
          <a:bodyPr wrap="square" lIns="0" tIns="0" rIns="0" bIns="0">
            <a:spAutoFit/>
          </a:bodyPr>
          <a:lstStyle/>
          <a:p>
            <a:pPr algn="ctr"/>
            <a:r>
              <a:rPr sz="1100" b="1" dirty="0">
                <a:solidFill>
                  <a:srgbClr val="FFFFFF"/>
                </a:solidFill>
                <a:latin typeface="Aptos"/>
              </a:rPr>
              <a:t>02</a:t>
            </a:r>
          </a:p>
        </p:txBody>
      </p:sp>
      <p:sp>
        <p:nvSpPr>
          <p:cNvPr id="22" name="TextBox 21">
            <a:extLst>
              <a:ext uri="{FF2B5EF4-FFF2-40B4-BE49-F238E27FC236}">
                <a16:creationId xmlns:a16="http://schemas.microsoft.com/office/drawing/2014/main" id="{011CEEFC-4066-84A6-7073-5B8D9FB00C6F}"/>
              </a:ext>
            </a:extLst>
          </p:cNvPr>
          <p:cNvSpPr txBox="1"/>
          <p:nvPr/>
        </p:nvSpPr>
        <p:spPr>
          <a:xfrm>
            <a:off x="4801000" y="2740688"/>
            <a:ext cx="2590000" cy="650000"/>
          </a:xfrm>
          <a:prstGeom prst="rect">
            <a:avLst/>
          </a:prstGeom>
          <a:noFill/>
        </p:spPr>
        <p:txBody>
          <a:bodyPr wrap="square" lIns="0" tIns="0" rIns="0" bIns="0">
            <a:spAutoFit/>
          </a:bodyPr>
          <a:lstStyle/>
          <a:p>
            <a:pPr algn="l"/>
            <a:r>
              <a:rPr sz="1800" b="1">
                <a:solidFill>
                  <a:srgbClr val="181837"/>
                </a:solidFill>
                <a:latin typeface="Aptos"/>
              </a:rPr>
              <a:t>LOCAL BRAIN</a:t>
            </a:r>
          </a:p>
        </p:txBody>
      </p:sp>
      <p:sp>
        <p:nvSpPr>
          <p:cNvPr id="24" name="Rectangle 23">
            <a:extLst>
              <a:ext uri="{FF2B5EF4-FFF2-40B4-BE49-F238E27FC236}">
                <a16:creationId xmlns:a16="http://schemas.microsoft.com/office/drawing/2014/main" id="{FBFAF3A7-329A-22C5-207C-07CDFA006102}"/>
              </a:ext>
            </a:extLst>
          </p:cNvPr>
          <p:cNvSpPr/>
          <p:nvPr/>
        </p:nvSpPr>
        <p:spPr>
          <a:xfrm>
            <a:off x="4801000" y="3510688"/>
            <a:ext cx="700000" cy="60000"/>
          </a:xfrm>
          <a:prstGeom prst="rect">
            <a:avLst/>
          </a:prstGeom>
          <a:solidFill>
            <a:srgbClr val="1CB8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a:extLst>
              <a:ext uri="{FF2B5EF4-FFF2-40B4-BE49-F238E27FC236}">
                <a16:creationId xmlns:a16="http://schemas.microsoft.com/office/drawing/2014/main" id="{0EA380E7-1F26-8ED3-7783-1D3B55494A8B}"/>
              </a:ext>
            </a:extLst>
          </p:cNvPr>
          <p:cNvSpPr txBox="1"/>
          <p:nvPr/>
        </p:nvSpPr>
        <p:spPr>
          <a:xfrm>
            <a:off x="4801000" y="3740688"/>
            <a:ext cx="2590000" cy="646331"/>
          </a:xfrm>
          <a:prstGeom prst="rect">
            <a:avLst/>
          </a:prstGeom>
          <a:noFill/>
        </p:spPr>
        <p:txBody>
          <a:bodyPr wrap="square" lIns="0" tIns="0" rIns="0" bIns="0">
            <a:spAutoFit/>
          </a:bodyPr>
          <a:lstStyle/>
          <a:p>
            <a:pPr algn="l"/>
            <a:r>
              <a:rPr sz="1400" b="0" dirty="0">
                <a:solidFill>
                  <a:srgbClr val="232337"/>
                </a:solidFill>
                <a:latin typeface="Aptos"/>
              </a:rPr>
              <a:t>Obsidian-powered note taking for capturing, organizing and recalling knowledge locally.</a:t>
            </a:r>
          </a:p>
        </p:txBody>
      </p:sp>
      <p:sp>
        <p:nvSpPr>
          <p:cNvPr id="28" name="Rounded Rectangle 16">
            <a:extLst>
              <a:ext uri="{FF2B5EF4-FFF2-40B4-BE49-F238E27FC236}">
                <a16:creationId xmlns:a16="http://schemas.microsoft.com/office/drawing/2014/main" id="{2307BBA5-7DED-9055-7F88-AA6F7CAAF70D}"/>
              </a:ext>
            </a:extLst>
          </p:cNvPr>
          <p:cNvSpPr/>
          <p:nvPr/>
        </p:nvSpPr>
        <p:spPr>
          <a:xfrm>
            <a:off x="7821000" y="1690688"/>
            <a:ext cx="2950000" cy="3350000"/>
          </a:xfrm>
          <a:prstGeom prst="roundRect">
            <a:avLst/>
          </a:prstGeom>
          <a:solidFill>
            <a:srgbClr val="FFFFFF"/>
          </a:solidFill>
          <a:ln w="12700">
            <a:solidFill>
              <a:srgbClr val="E0D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val 29">
            <a:extLst>
              <a:ext uri="{FF2B5EF4-FFF2-40B4-BE49-F238E27FC236}">
                <a16:creationId xmlns:a16="http://schemas.microsoft.com/office/drawing/2014/main" id="{8A6CECA1-096F-E24D-F904-6ADFBB7424F6}"/>
              </a:ext>
            </a:extLst>
          </p:cNvPr>
          <p:cNvSpPr/>
          <p:nvPr/>
        </p:nvSpPr>
        <p:spPr>
          <a:xfrm>
            <a:off x="8001000" y="1910688"/>
            <a:ext cx="560000" cy="560000"/>
          </a:xfrm>
          <a:prstGeom prst="ellipse">
            <a:avLst/>
          </a:prstGeom>
          <a:solidFill>
            <a:srgbClr val="6B3F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a:extLst>
              <a:ext uri="{FF2B5EF4-FFF2-40B4-BE49-F238E27FC236}">
                <a16:creationId xmlns:a16="http://schemas.microsoft.com/office/drawing/2014/main" id="{138F8F21-3A26-1E53-1042-A727276FF50E}"/>
              </a:ext>
            </a:extLst>
          </p:cNvPr>
          <p:cNvSpPr txBox="1"/>
          <p:nvPr/>
        </p:nvSpPr>
        <p:spPr>
          <a:xfrm>
            <a:off x="8001000" y="2100688"/>
            <a:ext cx="560000" cy="180000"/>
          </a:xfrm>
          <a:prstGeom prst="rect">
            <a:avLst/>
          </a:prstGeom>
          <a:noFill/>
        </p:spPr>
        <p:txBody>
          <a:bodyPr wrap="square" lIns="0" tIns="0" rIns="0" bIns="0">
            <a:spAutoFit/>
          </a:bodyPr>
          <a:lstStyle/>
          <a:p>
            <a:pPr algn="ctr"/>
            <a:r>
              <a:rPr sz="1100" b="1" dirty="0">
                <a:solidFill>
                  <a:srgbClr val="FFFFFF"/>
                </a:solidFill>
                <a:latin typeface="Aptos"/>
              </a:rPr>
              <a:t>03</a:t>
            </a:r>
          </a:p>
        </p:txBody>
      </p:sp>
      <p:sp>
        <p:nvSpPr>
          <p:cNvPr id="34" name="TextBox 33">
            <a:extLst>
              <a:ext uri="{FF2B5EF4-FFF2-40B4-BE49-F238E27FC236}">
                <a16:creationId xmlns:a16="http://schemas.microsoft.com/office/drawing/2014/main" id="{EAD1C97C-F017-2DFE-A7B7-37051131FA84}"/>
              </a:ext>
            </a:extLst>
          </p:cNvPr>
          <p:cNvSpPr txBox="1"/>
          <p:nvPr/>
        </p:nvSpPr>
        <p:spPr>
          <a:xfrm>
            <a:off x="8001000" y="2740688"/>
            <a:ext cx="2590000" cy="650000"/>
          </a:xfrm>
          <a:prstGeom prst="rect">
            <a:avLst/>
          </a:prstGeom>
          <a:noFill/>
        </p:spPr>
        <p:txBody>
          <a:bodyPr wrap="square" lIns="0" tIns="0" rIns="0" bIns="0">
            <a:spAutoFit/>
          </a:bodyPr>
          <a:lstStyle/>
          <a:p>
            <a:pPr algn="l"/>
            <a:r>
              <a:rPr sz="1800" b="1">
                <a:solidFill>
                  <a:srgbClr val="181837"/>
                </a:solidFill>
                <a:latin typeface="Aptos"/>
              </a:rPr>
              <a:t>SKILL LEARNING</a:t>
            </a:r>
          </a:p>
        </p:txBody>
      </p:sp>
      <p:sp>
        <p:nvSpPr>
          <p:cNvPr id="36" name="Rectangle 35">
            <a:extLst>
              <a:ext uri="{FF2B5EF4-FFF2-40B4-BE49-F238E27FC236}">
                <a16:creationId xmlns:a16="http://schemas.microsoft.com/office/drawing/2014/main" id="{A99FBD4E-3276-5987-D6E5-09B840CB02AD}"/>
              </a:ext>
            </a:extLst>
          </p:cNvPr>
          <p:cNvSpPr/>
          <p:nvPr/>
        </p:nvSpPr>
        <p:spPr>
          <a:xfrm>
            <a:off x="8001000" y="3510688"/>
            <a:ext cx="700000" cy="60000"/>
          </a:xfrm>
          <a:prstGeom prst="rect">
            <a:avLst/>
          </a:prstGeom>
          <a:solidFill>
            <a:srgbClr val="6B3FB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a:extLst>
              <a:ext uri="{FF2B5EF4-FFF2-40B4-BE49-F238E27FC236}">
                <a16:creationId xmlns:a16="http://schemas.microsoft.com/office/drawing/2014/main" id="{20D5F0CB-F83A-1B7E-8E3C-4BED54BB62F2}"/>
              </a:ext>
            </a:extLst>
          </p:cNvPr>
          <p:cNvSpPr txBox="1"/>
          <p:nvPr/>
        </p:nvSpPr>
        <p:spPr>
          <a:xfrm>
            <a:off x="8001000" y="3740688"/>
            <a:ext cx="2590000" cy="646331"/>
          </a:xfrm>
          <a:prstGeom prst="rect">
            <a:avLst/>
          </a:prstGeom>
          <a:noFill/>
        </p:spPr>
        <p:txBody>
          <a:bodyPr wrap="square" lIns="0" tIns="0" rIns="0" bIns="0">
            <a:spAutoFit/>
          </a:bodyPr>
          <a:lstStyle/>
          <a:p>
            <a:pPr algn="l"/>
            <a:r>
              <a:rPr sz="1400" b="0" dirty="0">
                <a:solidFill>
                  <a:srgbClr val="232337"/>
                </a:solidFill>
                <a:latin typeface="Aptos"/>
              </a:rPr>
              <a:t>Learn from completed tasks and convert successful workflows into reusable skills.</a:t>
            </a:r>
          </a:p>
        </p:txBody>
      </p:sp>
      <p:sp>
        <p:nvSpPr>
          <p:cNvPr id="40" name="Rounded Rectangle 22">
            <a:extLst>
              <a:ext uri="{FF2B5EF4-FFF2-40B4-BE49-F238E27FC236}">
                <a16:creationId xmlns:a16="http://schemas.microsoft.com/office/drawing/2014/main" id="{CF258365-B453-2BA1-7FFF-BADD87C470F4}"/>
              </a:ext>
            </a:extLst>
          </p:cNvPr>
          <p:cNvSpPr/>
          <p:nvPr/>
        </p:nvSpPr>
        <p:spPr>
          <a:xfrm>
            <a:off x="1421000" y="5332408"/>
            <a:ext cx="9400000" cy="720000"/>
          </a:xfrm>
          <a:prstGeom prst="roundRect">
            <a:avLst/>
          </a:prstGeom>
          <a:solidFill>
            <a:srgbClr val="F7F7FC"/>
          </a:solidFill>
          <a:ln w="12700">
            <a:solidFill>
              <a:srgbClr val="E0D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a:extLst>
              <a:ext uri="{FF2B5EF4-FFF2-40B4-BE49-F238E27FC236}">
                <a16:creationId xmlns:a16="http://schemas.microsoft.com/office/drawing/2014/main" id="{0C3D4D22-3742-28B0-2F7D-436D89CCBADE}"/>
              </a:ext>
            </a:extLst>
          </p:cNvPr>
          <p:cNvSpPr txBox="1"/>
          <p:nvPr/>
        </p:nvSpPr>
        <p:spPr>
          <a:xfrm>
            <a:off x="1735008" y="5553908"/>
            <a:ext cx="1800000" cy="276999"/>
          </a:xfrm>
          <a:prstGeom prst="rect">
            <a:avLst/>
          </a:prstGeom>
          <a:noFill/>
        </p:spPr>
        <p:txBody>
          <a:bodyPr wrap="square" lIns="0" tIns="0" rIns="0" bIns="0">
            <a:spAutoFit/>
          </a:bodyPr>
          <a:lstStyle/>
          <a:p>
            <a:pPr algn="l"/>
            <a:r>
              <a:rPr b="1" dirty="0">
                <a:solidFill>
                  <a:srgbClr val="6B3FBE"/>
                </a:solidFill>
                <a:latin typeface="Aptos"/>
              </a:rPr>
              <a:t>OUR VISION</a:t>
            </a:r>
          </a:p>
        </p:txBody>
      </p:sp>
      <p:sp>
        <p:nvSpPr>
          <p:cNvPr id="44" name="TextBox 43">
            <a:extLst>
              <a:ext uri="{FF2B5EF4-FFF2-40B4-BE49-F238E27FC236}">
                <a16:creationId xmlns:a16="http://schemas.microsoft.com/office/drawing/2014/main" id="{DE7F53EE-CFD0-7F5C-978E-0CE251B28E2B}"/>
              </a:ext>
            </a:extLst>
          </p:cNvPr>
          <p:cNvSpPr txBox="1"/>
          <p:nvPr/>
        </p:nvSpPr>
        <p:spPr>
          <a:xfrm>
            <a:off x="3991000" y="5553908"/>
            <a:ext cx="6800000" cy="350000"/>
          </a:xfrm>
          <a:prstGeom prst="rect">
            <a:avLst/>
          </a:prstGeom>
          <a:noFill/>
        </p:spPr>
        <p:txBody>
          <a:bodyPr wrap="square" lIns="0" tIns="0" rIns="0" bIns="0">
            <a:spAutoFit/>
          </a:bodyPr>
          <a:lstStyle/>
          <a:p>
            <a:pPr algn="ctr"/>
            <a:r>
              <a:rPr sz="1600" b="1" dirty="0">
                <a:solidFill>
                  <a:srgbClr val="181837"/>
                </a:solidFill>
                <a:latin typeface="Aptos"/>
              </a:rPr>
              <a:t>CONNECT  →  REMEMBER  →  LEARN  →  EVOLVE</a:t>
            </a:r>
          </a:p>
        </p:txBody>
      </p:sp>
    </p:spTree>
    <p:extLst>
      <p:ext uri="{BB962C8B-B14F-4D97-AF65-F5344CB8AC3E}">
        <p14:creationId xmlns:p14="http://schemas.microsoft.com/office/powerpoint/2010/main" val="39859146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353DB3-FB86-4452-A4FB-E7F4BEA62856}"/>
              </a:ext>
            </a:extLst>
          </p:cNvPr>
          <p:cNvSpPr>
            <a:spLocks noGrp="1"/>
          </p:cNvSpPr>
          <p:nvPr>
            <p:ph type="title"/>
          </p:nvPr>
        </p:nvSpPr>
        <p:spPr>
          <a:xfrm>
            <a:off x="838200" y="210516"/>
            <a:ext cx="10515600" cy="1325563"/>
          </a:xfrm>
        </p:spPr>
        <p:txBody>
          <a:bodyPr/>
          <a:lstStyle/>
          <a:p>
            <a:pPr>
              <a:spcAft>
                <a:spcPts val="500"/>
              </a:spcAft>
              <a:buSzPct val="100000"/>
            </a:pPr>
            <a:r>
              <a:rPr lang="en-US" sz="4400" b="1">
                <a:solidFill>
                  <a:srgbClr val="704EA6"/>
                </a:solidFill>
                <a:latin typeface="Calibri" pitchFamily="34" charset="0"/>
                <a:ea typeface="Calibri" pitchFamily="34" charset="-122"/>
                <a:cs typeface="Calibri" pitchFamily="34" charset="-120"/>
              </a:rPr>
              <a:t>Brownie points slide</a:t>
            </a:r>
            <a:endParaRPr lang="en-US" sz="4400" b="1">
              <a:solidFill>
                <a:srgbClr val="704EA6"/>
              </a:solidFill>
            </a:endParaRPr>
          </a:p>
        </p:txBody>
      </p:sp>
      <p:sp>
        <p:nvSpPr>
          <p:cNvPr id="5" name="Rounded Rectangle 3">
            <a:extLst>
              <a:ext uri="{FF2B5EF4-FFF2-40B4-BE49-F238E27FC236}">
                <a16:creationId xmlns:a16="http://schemas.microsoft.com/office/drawing/2014/main" id="{A3E154B2-DED2-9B43-B0F8-E958D60E8419}"/>
              </a:ext>
            </a:extLst>
          </p:cNvPr>
          <p:cNvSpPr/>
          <p:nvPr/>
        </p:nvSpPr>
        <p:spPr>
          <a:xfrm>
            <a:off x="1392762" y="1991145"/>
            <a:ext cx="9400000" cy="730000"/>
          </a:xfrm>
          <a:prstGeom prst="roundRect">
            <a:avLst/>
          </a:prstGeom>
          <a:solidFill>
            <a:srgbClr val="FFFFFF"/>
          </a:solidFill>
          <a:ln w="12700">
            <a:solidFill>
              <a:srgbClr val="E0D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a:extLst>
              <a:ext uri="{FF2B5EF4-FFF2-40B4-BE49-F238E27FC236}">
                <a16:creationId xmlns:a16="http://schemas.microsoft.com/office/drawing/2014/main" id="{71287177-6AFF-0988-0C5F-52FE706CA331}"/>
              </a:ext>
            </a:extLst>
          </p:cNvPr>
          <p:cNvSpPr txBox="1"/>
          <p:nvPr/>
        </p:nvSpPr>
        <p:spPr>
          <a:xfrm>
            <a:off x="1642762" y="2081145"/>
            <a:ext cx="2781852" cy="235064"/>
          </a:xfrm>
          <a:prstGeom prst="rect">
            <a:avLst/>
          </a:prstGeom>
          <a:noFill/>
        </p:spPr>
        <p:txBody>
          <a:bodyPr wrap="none" lIns="0" tIns="0" rIns="0" bIns="0" anchor="t">
            <a:spAutoFit/>
          </a:bodyPr>
          <a:lstStyle/>
          <a:p>
            <a:pPr algn="l">
              <a:lnSpc>
                <a:spcPct val="105000"/>
              </a:lnSpc>
            </a:pPr>
            <a:r>
              <a:rPr sz="1500" b="1" i="1">
                <a:solidFill>
                  <a:srgbClr val="7030A0"/>
                </a:solidFill>
                <a:latin typeface="Aptos"/>
              </a:rPr>
              <a:t>Interrupts are a first-class event</a:t>
            </a:r>
          </a:p>
        </p:txBody>
      </p:sp>
      <p:sp>
        <p:nvSpPr>
          <p:cNvPr id="9" name="TextBox 8">
            <a:extLst>
              <a:ext uri="{FF2B5EF4-FFF2-40B4-BE49-F238E27FC236}">
                <a16:creationId xmlns:a16="http://schemas.microsoft.com/office/drawing/2014/main" id="{65021668-D4BE-F7A7-F267-DA4A0A55FE4B}"/>
              </a:ext>
            </a:extLst>
          </p:cNvPr>
          <p:cNvSpPr txBox="1"/>
          <p:nvPr/>
        </p:nvSpPr>
        <p:spPr>
          <a:xfrm>
            <a:off x="5192762" y="2071145"/>
            <a:ext cx="5132624" cy="219419"/>
          </a:xfrm>
          <a:prstGeom prst="rect">
            <a:avLst/>
          </a:prstGeom>
          <a:noFill/>
        </p:spPr>
        <p:txBody>
          <a:bodyPr wrap="none" lIns="0" tIns="0" rIns="0" bIns="0" anchor="t">
            <a:spAutoFit/>
          </a:bodyPr>
          <a:lstStyle/>
          <a:p>
            <a:pPr algn="l">
              <a:lnSpc>
                <a:spcPct val="105000"/>
              </a:lnSpc>
            </a:pPr>
            <a:r>
              <a:rPr sz="1400" b="1">
                <a:solidFill>
                  <a:srgbClr val="232337"/>
                </a:solidFill>
                <a:latin typeface="Aptos"/>
              </a:rPr>
              <a:t>Not a UI trick: barge-in changes agent state and the live stream.</a:t>
            </a:r>
          </a:p>
        </p:txBody>
      </p:sp>
      <p:sp>
        <p:nvSpPr>
          <p:cNvPr id="11" name="Rounded Rectangle 6">
            <a:extLst>
              <a:ext uri="{FF2B5EF4-FFF2-40B4-BE49-F238E27FC236}">
                <a16:creationId xmlns:a16="http://schemas.microsoft.com/office/drawing/2014/main" id="{8A160D0B-754B-492E-CB32-63EA041CABA6}"/>
              </a:ext>
            </a:extLst>
          </p:cNvPr>
          <p:cNvSpPr/>
          <p:nvPr/>
        </p:nvSpPr>
        <p:spPr>
          <a:xfrm>
            <a:off x="1392762" y="2801145"/>
            <a:ext cx="9400000" cy="730000"/>
          </a:xfrm>
          <a:prstGeom prst="roundRect">
            <a:avLst/>
          </a:prstGeom>
          <a:solidFill>
            <a:srgbClr val="FFFFFF"/>
          </a:solidFill>
          <a:ln w="12700">
            <a:solidFill>
              <a:srgbClr val="E0D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a:extLst>
              <a:ext uri="{FF2B5EF4-FFF2-40B4-BE49-F238E27FC236}">
                <a16:creationId xmlns:a16="http://schemas.microsoft.com/office/drawing/2014/main" id="{6897A878-92F8-3343-811E-870EAB229412}"/>
              </a:ext>
            </a:extLst>
          </p:cNvPr>
          <p:cNvSpPr txBox="1"/>
          <p:nvPr/>
        </p:nvSpPr>
        <p:spPr>
          <a:xfrm>
            <a:off x="1642762" y="2891145"/>
            <a:ext cx="2350259" cy="235064"/>
          </a:xfrm>
          <a:prstGeom prst="rect">
            <a:avLst/>
          </a:prstGeom>
          <a:noFill/>
        </p:spPr>
        <p:txBody>
          <a:bodyPr wrap="none" lIns="0" tIns="0" rIns="0" bIns="0" anchor="t">
            <a:spAutoFit/>
          </a:bodyPr>
          <a:lstStyle/>
          <a:p>
            <a:pPr algn="l">
              <a:lnSpc>
                <a:spcPct val="105000"/>
              </a:lnSpc>
            </a:pPr>
            <a:r>
              <a:rPr sz="1500" b="1" i="1">
                <a:solidFill>
                  <a:srgbClr val="7030A0"/>
                </a:solidFill>
                <a:latin typeface="Aptos"/>
              </a:rPr>
              <a:t>Reasoning before speaking</a:t>
            </a:r>
          </a:p>
        </p:txBody>
      </p:sp>
      <p:sp>
        <p:nvSpPr>
          <p:cNvPr id="15" name="TextBox 14">
            <a:extLst>
              <a:ext uri="{FF2B5EF4-FFF2-40B4-BE49-F238E27FC236}">
                <a16:creationId xmlns:a16="http://schemas.microsoft.com/office/drawing/2014/main" id="{751CF6FF-A031-D214-A998-4BEEBB01EAB1}"/>
              </a:ext>
            </a:extLst>
          </p:cNvPr>
          <p:cNvSpPr txBox="1"/>
          <p:nvPr/>
        </p:nvSpPr>
        <p:spPr>
          <a:xfrm>
            <a:off x="5192762" y="2881145"/>
            <a:ext cx="5200000" cy="445635"/>
          </a:xfrm>
          <a:prstGeom prst="rect">
            <a:avLst/>
          </a:prstGeom>
          <a:noFill/>
        </p:spPr>
        <p:txBody>
          <a:bodyPr wrap="square" lIns="0" tIns="0" rIns="0" bIns="0" anchor="t">
            <a:spAutoFit/>
          </a:bodyPr>
          <a:lstStyle/>
          <a:p>
            <a:pPr algn="l">
              <a:lnSpc>
                <a:spcPct val="105000"/>
              </a:lnSpc>
            </a:pPr>
            <a:r>
              <a:rPr sz="1400" b="1">
                <a:solidFill>
                  <a:srgbClr val="232337"/>
                </a:solidFill>
                <a:latin typeface="Aptos"/>
              </a:rPr>
              <a:t>Teacher–Critic–Student deliberation produces a refined answer before vocalization.</a:t>
            </a:r>
          </a:p>
        </p:txBody>
      </p:sp>
      <p:sp>
        <p:nvSpPr>
          <p:cNvPr id="17" name="Rounded Rectangle 9">
            <a:extLst>
              <a:ext uri="{FF2B5EF4-FFF2-40B4-BE49-F238E27FC236}">
                <a16:creationId xmlns:a16="http://schemas.microsoft.com/office/drawing/2014/main" id="{B54DB215-7097-BA62-A7A7-FBC99BF20F29}"/>
              </a:ext>
            </a:extLst>
          </p:cNvPr>
          <p:cNvSpPr/>
          <p:nvPr/>
        </p:nvSpPr>
        <p:spPr>
          <a:xfrm>
            <a:off x="1392762" y="3611145"/>
            <a:ext cx="9400000" cy="730000"/>
          </a:xfrm>
          <a:prstGeom prst="roundRect">
            <a:avLst/>
          </a:prstGeom>
          <a:solidFill>
            <a:srgbClr val="FFFFFF"/>
          </a:solidFill>
          <a:ln w="12700">
            <a:solidFill>
              <a:srgbClr val="E0D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a:extLst>
              <a:ext uri="{FF2B5EF4-FFF2-40B4-BE49-F238E27FC236}">
                <a16:creationId xmlns:a16="http://schemas.microsoft.com/office/drawing/2014/main" id="{85391BC6-E27D-DA9B-B3A3-40449F623A70}"/>
              </a:ext>
            </a:extLst>
          </p:cNvPr>
          <p:cNvSpPr txBox="1"/>
          <p:nvPr/>
        </p:nvSpPr>
        <p:spPr>
          <a:xfrm>
            <a:off x="1642762" y="3701145"/>
            <a:ext cx="1919500" cy="235064"/>
          </a:xfrm>
          <a:prstGeom prst="rect">
            <a:avLst/>
          </a:prstGeom>
          <a:noFill/>
        </p:spPr>
        <p:txBody>
          <a:bodyPr wrap="none" lIns="0" tIns="0" rIns="0" bIns="0" anchor="t">
            <a:spAutoFit/>
          </a:bodyPr>
          <a:lstStyle/>
          <a:p>
            <a:pPr algn="l">
              <a:lnSpc>
                <a:spcPct val="105000"/>
              </a:lnSpc>
            </a:pPr>
            <a:r>
              <a:rPr sz="1500" b="1" i="1">
                <a:solidFill>
                  <a:srgbClr val="7030A0"/>
                </a:solidFill>
                <a:latin typeface="Aptos"/>
              </a:rPr>
              <a:t>Proactive, not passive</a:t>
            </a:r>
          </a:p>
        </p:txBody>
      </p:sp>
      <p:sp>
        <p:nvSpPr>
          <p:cNvPr id="21" name="TextBox 20">
            <a:extLst>
              <a:ext uri="{FF2B5EF4-FFF2-40B4-BE49-F238E27FC236}">
                <a16:creationId xmlns:a16="http://schemas.microsoft.com/office/drawing/2014/main" id="{F77CA3B1-67AA-4A32-3D1C-2DE351C97577}"/>
              </a:ext>
            </a:extLst>
          </p:cNvPr>
          <p:cNvSpPr txBox="1"/>
          <p:nvPr/>
        </p:nvSpPr>
        <p:spPr>
          <a:xfrm>
            <a:off x="5192762" y="3691145"/>
            <a:ext cx="4904139" cy="445635"/>
          </a:xfrm>
          <a:prstGeom prst="rect">
            <a:avLst/>
          </a:prstGeom>
          <a:noFill/>
        </p:spPr>
        <p:txBody>
          <a:bodyPr wrap="square" lIns="0" tIns="0" rIns="0" bIns="0" anchor="t">
            <a:spAutoFit/>
          </a:bodyPr>
          <a:lstStyle/>
          <a:p>
            <a:pPr algn="l">
              <a:lnSpc>
                <a:spcPct val="105000"/>
              </a:lnSpc>
            </a:pPr>
            <a:r>
              <a:rPr sz="1400" b="1" err="1">
                <a:solidFill>
                  <a:srgbClr val="232337"/>
                </a:solidFill>
                <a:latin typeface="Aptos"/>
              </a:rPr>
              <a:t>Screenpipe</a:t>
            </a:r>
            <a:r>
              <a:rPr sz="1400" b="1">
                <a:solidFill>
                  <a:srgbClr val="232337"/>
                </a:solidFill>
                <a:latin typeface="Aptos"/>
              </a:rPr>
              <a:t> can observe stagnation and initiate a contextual intervention.</a:t>
            </a:r>
          </a:p>
        </p:txBody>
      </p:sp>
      <p:sp>
        <p:nvSpPr>
          <p:cNvPr id="23" name="Rounded Rectangle 12">
            <a:extLst>
              <a:ext uri="{FF2B5EF4-FFF2-40B4-BE49-F238E27FC236}">
                <a16:creationId xmlns:a16="http://schemas.microsoft.com/office/drawing/2014/main" id="{C74CC050-BAD0-9A13-11EB-93751EE81044}"/>
              </a:ext>
            </a:extLst>
          </p:cNvPr>
          <p:cNvSpPr/>
          <p:nvPr/>
        </p:nvSpPr>
        <p:spPr>
          <a:xfrm>
            <a:off x="1392762" y="4421145"/>
            <a:ext cx="9400000" cy="730000"/>
          </a:xfrm>
          <a:prstGeom prst="roundRect">
            <a:avLst/>
          </a:prstGeom>
          <a:solidFill>
            <a:srgbClr val="FFFFFF"/>
          </a:solidFill>
          <a:ln w="12700">
            <a:solidFill>
              <a:srgbClr val="E0D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a:extLst>
              <a:ext uri="{FF2B5EF4-FFF2-40B4-BE49-F238E27FC236}">
                <a16:creationId xmlns:a16="http://schemas.microsoft.com/office/drawing/2014/main" id="{15727603-5F1D-23AA-D921-2F62DF2449DD}"/>
              </a:ext>
            </a:extLst>
          </p:cNvPr>
          <p:cNvSpPr txBox="1"/>
          <p:nvPr/>
        </p:nvSpPr>
        <p:spPr>
          <a:xfrm>
            <a:off x="1642762" y="4511145"/>
            <a:ext cx="2183290" cy="235064"/>
          </a:xfrm>
          <a:prstGeom prst="rect">
            <a:avLst/>
          </a:prstGeom>
          <a:noFill/>
        </p:spPr>
        <p:txBody>
          <a:bodyPr wrap="none" lIns="0" tIns="0" rIns="0" bIns="0" anchor="t">
            <a:spAutoFit/>
          </a:bodyPr>
          <a:lstStyle/>
          <a:p>
            <a:pPr algn="l">
              <a:lnSpc>
                <a:spcPct val="105000"/>
              </a:lnSpc>
            </a:pPr>
            <a:r>
              <a:rPr sz="1500" b="1" i="1">
                <a:solidFill>
                  <a:srgbClr val="7030A0"/>
                </a:solidFill>
                <a:latin typeface="Aptos"/>
              </a:rPr>
              <a:t>Memory that compounds</a:t>
            </a:r>
          </a:p>
        </p:txBody>
      </p:sp>
      <p:sp>
        <p:nvSpPr>
          <p:cNvPr id="27" name="TextBox 26">
            <a:extLst>
              <a:ext uri="{FF2B5EF4-FFF2-40B4-BE49-F238E27FC236}">
                <a16:creationId xmlns:a16="http://schemas.microsoft.com/office/drawing/2014/main" id="{909510A6-DBFA-487A-9F64-8D6B2B0C3C82}"/>
              </a:ext>
            </a:extLst>
          </p:cNvPr>
          <p:cNvSpPr txBox="1"/>
          <p:nvPr/>
        </p:nvSpPr>
        <p:spPr>
          <a:xfrm>
            <a:off x="5192762" y="4501145"/>
            <a:ext cx="4923143" cy="219419"/>
          </a:xfrm>
          <a:prstGeom prst="rect">
            <a:avLst/>
          </a:prstGeom>
          <a:noFill/>
        </p:spPr>
        <p:txBody>
          <a:bodyPr wrap="none" lIns="0" tIns="0" rIns="0" bIns="0" anchor="t">
            <a:spAutoFit/>
          </a:bodyPr>
          <a:lstStyle/>
          <a:p>
            <a:pPr algn="l">
              <a:lnSpc>
                <a:spcPct val="105000"/>
              </a:lnSpc>
            </a:pPr>
            <a:r>
              <a:rPr sz="1400" b="1">
                <a:solidFill>
                  <a:srgbClr val="232337"/>
                </a:solidFill>
                <a:latin typeface="Aptos"/>
              </a:rPr>
              <a:t>Voyager converts solved workflows into reusable local skills.</a:t>
            </a:r>
          </a:p>
        </p:txBody>
      </p:sp>
      <p:sp>
        <p:nvSpPr>
          <p:cNvPr id="29" name="Rounded Rectangle 15">
            <a:extLst>
              <a:ext uri="{FF2B5EF4-FFF2-40B4-BE49-F238E27FC236}">
                <a16:creationId xmlns:a16="http://schemas.microsoft.com/office/drawing/2014/main" id="{DE08B9E8-B8F9-4702-80E9-05690405D73A}"/>
              </a:ext>
            </a:extLst>
          </p:cNvPr>
          <p:cNvSpPr/>
          <p:nvPr/>
        </p:nvSpPr>
        <p:spPr>
          <a:xfrm>
            <a:off x="1392762" y="5231145"/>
            <a:ext cx="9400000" cy="730000"/>
          </a:xfrm>
          <a:prstGeom prst="roundRect">
            <a:avLst/>
          </a:prstGeom>
          <a:solidFill>
            <a:srgbClr val="FFFFFF"/>
          </a:solidFill>
          <a:ln w="12700">
            <a:solidFill>
              <a:srgbClr val="E0DE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a:extLst>
              <a:ext uri="{FF2B5EF4-FFF2-40B4-BE49-F238E27FC236}">
                <a16:creationId xmlns:a16="http://schemas.microsoft.com/office/drawing/2014/main" id="{06F1DB47-2231-C3F4-AAD8-88EF369CAC56}"/>
              </a:ext>
            </a:extLst>
          </p:cNvPr>
          <p:cNvSpPr txBox="1"/>
          <p:nvPr/>
        </p:nvSpPr>
        <p:spPr>
          <a:xfrm>
            <a:off x="1642762" y="5321145"/>
            <a:ext cx="1499706" cy="235064"/>
          </a:xfrm>
          <a:prstGeom prst="rect">
            <a:avLst/>
          </a:prstGeom>
          <a:noFill/>
        </p:spPr>
        <p:txBody>
          <a:bodyPr wrap="none" lIns="0" tIns="0" rIns="0" bIns="0" anchor="t">
            <a:spAutoFit/>
          </a:bodyPr>
          <a:lstStyle/>
          <a:p>
            <a:pPr algn="l">
              <a:lnSpc>
                <a:spcPct val="105000"/>
              </a:lnSpc>
            </a:pPr>
            <a:r>
              <a:rPr sz="1500" b="1" i="1">
                <a:solidFill>
                  <a:srgbClr val="7030A0"/>
                </a:solidFill>
                <a:latin typeface="Aptos"/>
              </a:rPr>
              <a:t>Privacy by design</a:t>
            </a:r>
          </a:p>
        </p:txBody>
      </p:sp>
      <p:sp>
        <p:nvSpPr>
          <p:cNvPr id="33" name="TextBox 32">
            <a:extLst>
              <a:ext uri="{FF2B5EF4-FFF2-40B4-BE49-F238E27FC236}">
                <a16:creationId xmlns:a16="http://schemas.microsoft.com/office/drawing/2014/main" id="{B9FF750C-1E37-7707-157F-5E0D06EC88EC}"/>
              </a:ext>
            </a:extLst>
          </p:cNvPr>
          <p:cNvSpPr txBox="1"/>
          <p:nvPr/>
        </p:nvSpPr>
        <p:spPr>
          <a:xfrm>
            <a:off x="5192763" y="5311145"/>
            <a:ext cx="5200000" cy="445635"/>
          </a:xfrm>
          <a:prstGeom prst="rect">
            <a:avLst/>
          </a:prstGeom>
          <a:noFill/>
        </p:spPr>
        <p:txBody>
          <a:bodyPr wrap="square" lIns="0" tIns="0" rIns="0" bIns="0" anchor="t">
            <a:spAutoFit/>
          </a:bodyPr>
          <a:lstStyle/>
          <a:p>
            <a:pPr algn="l">
              <a:lnSpc>
                <a:spcPct val="105000"/>
              </a:lnSpc>
            </a:pPr>
            <a:r>
              <a:rPr sz="1400" b="1">
                <a:solidFill>
                  <a:srgbClr val="232337"/>
                </a:solidFill>
                <a:latin typeface="Aptos"/>
              </a:rPr>
              <a:t>Local Vault + Electron isolation keep conversational memory on-device by default.</a:t>
            </a:r>
          </a:p>
        </p:txBody>
      </p:sp>
      <p:sp>
        <p:nvSpPr>
          <p:cNvPr id="35" name="TextBox 34">
            <a:extLst>
              <a:ext uri="{FF2B5EF4-FFF2-40B4-BE49-F238E27FC236}">
                <a16:creationId xmlns:a16="http://schemas.microsoft.com/office/drawing/2014/main" id="{1F27C321-DAB1-2EA9-106B-3D96695232FE}"/>
              </a:ext>
            </a:extLst>
          </p:cNvPr>
          <p:cNvSpPr txBox="1"/>
          <p:nvPr/>
        </p:nvSpPr>
        <p:spPr>
          <a:xfrm>
            <a:off x="838200" y="1164241"/>
            <a:ext cx="6097604" cy="369332"/>
          </a:xfrm>
          <a:prstGeom prst="rect">
            <a:avLst/>
          </a:prstGeom>
          <a:noFill/>
        </p:spPr>
        <p:txBody>
          <a:bodyPr wrap="square">
            <a:spAutoFit/>
          </a:bodyPr>
          <a:lstStyle/>
          <a:p>
            <a:r>
              <a:rPr lang="en-IN" b="1" i="1">
                <a:solidFill>
                  <a:srgbClr val="181837"/>
                </a:solidFill>
                <a:latin typeface="Aptos Display" panose="020B0004020202020204" pitchFamily="34" charset="0"/>
              </a:rPr>
              <a:t>what makes KAIZEN different</a:t>
            </a:r>
            <a:endParaRPr lang="en-IN" i="1">
              <a:latin typeface="Aptos Display" panose="020B0004020202020204" pitchFamily="34" charset="0"/>
            </a:endParaRPr>
          </a:p>
        </p:txBody>
      </p:sp>
    </p:spTree>
    <p:extLst>
      <p:ext uri="{BB962C8B-B14F-4D97-AF65-F5344CB8AC3E}">
        <p14:creationId xmlns:p14="http://schemas.microsoft.com/office/powerpoint/2010/main" val="20955176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04E28A-8ABF-4E15-B9E1-B0F49C0EE29F}"/>
              </a:ext>
            </a:extLst>
          </p:cNvPr>
          <p:cNvSpPr>
            <a:spLocks noGrp="1"/>
          </p:cNvSpPr>
          <p:nvPr>
            <p:ph type="title"/>
          </p:nvPr>
        </p:nvSpPr>
        <p:spPr/>
        <p:txBody>
          <a:bodyPr/>
          <a:lstStyle/>
          <a:p>
            <a:r>
              <a:rPr lang="en-IN" b="1">
                <a:solidFill>
                  <a:srgbClr val="704EA6"/>
                </a:solidFill>
                <a:latin typeface="+mn-lt"/>
              </a:rPr>
              <a:t>Checklist- Updated on Public GitHub</a:t>
            </a:r>
          </a:p>
        </p:txBody>
      </p:sp>
      <p:sp>
        <p:nvSpPr>
          <p:cNvPr id="3" name="Content Placeholder 2">
            <a:extLst>
              <a:ext uri="{FF2B5EF4-FFF2-40B4-BE49-F238E27FC236}">
                <a16:creationId xmlns:a16="http://schemas.microsoft.com/office/drawing/2014/main" id="{DAB3E6F6-9D00-4480-90E6-EC3C876F2628}"/>
              </a:ext>
            </a:extLst>
          </p:cNvPr>
          <p:cNvSpPr>
            <a:spLocks noGrp="1"/>
          </p:cNvSpPr>
          <p:nvPr>
            <p:ph idx="1"/>
          </p:nvPr>
        </p:nvSpPr>
        <p:spPr/>
        <p:txBody>
          <a:bodyPr/>
          <a:lstStyle/>
          <a:p>
            <a:pPr marL="177800" indent="-177800">
              <a:spcAft>
                <a:spcPts val="500"/>
              </a:spcAft>
              <a:buSzPct val="100000"/>
              <a:buChar char="•"/>
            </a:pPr>
            <a:r>
              <a:rPr lang="en-US" sz="2800">
                <a:solidFill>
                  <a:srgbClr val="63637E"/>
                </a:solidFill>
                <a:latin typeface="Calibri" pitchFamily="34" charset="0"/>
                <a:ea typeface="Calibri" pitchFamily="34" charset="-122"/>
                <a:cs typeface="Calibri" pitchFamily="34" charset="-120"/>
              </a:rPr>
              <a:t>Working prototype code — public or shared GitHub repo (Y/N)</a:t>
            </a:r>
            <a:endParaRPr lang="en-US" sz="2800"/>
          </a:p>
          <a:p>
            <a:pPr marL="177800" indent="-177800">
              <a:spcAft>
                <a:spcPts val="500"/>
              </a:spcAft>
              <a:buSzPct val="100000"/>
              <a:buChar char="•"/>
            </a:pPr>
            <a:r>
              <a:rPr lang="en-US" sz="2800">
                <a:solidFill>
                  <a:srgbClr val="63637E"/>
                </a:solidFill>
                <a:latin typeface="Calibri" pitchFamily="34" charset="0"/>
                <a:ea typeface="Calibri" pitchFamily="34" charset="-122"/>
                <a:cs typeface="Calibri" pitchFamily="34" charset="-120"/>
              </a:rPr>
              <a:t>README with reproducible setup instructions (Y/N)</a:t>
            </a:r>
            <a:endParaRPr lang="en-US" sz="2800"/>
          </a:p>
          <a:p>
            <a:pPr marL="177800" indent="-177800">
              <a:spcAft>
                <a:spcPts val="500"/>
              </a:spcAft>
              <a:buSzPct val="100000"/>
              <a:buChar char="•"/>
            </a:pPr>
            <a:r>
              <a:rPr lang="en-US" sz="2800">
                <a:solidFill>
                  <a:srgbClr val="63637E"/>
                </a:solidFill>
                <a:latin typeface="Calibri" pitchFamily="34" charset="0"/>
                <a:ea typeface="Calibri" pitchFamily="34" charset="-122"/>
                <a:cs typeface="Calibri" pitchFamily="34" charset="-120"/>
              </a:rPr>
              <a:t>Demo video, max 5 minutes (YouTube or Drive link)</a:t>
            </a:r>
            <a:endParaRPr lang="en-US" sz="2800"/>
          </a:p>
          <a:p>
            <a:pPr marL="177800" indent="-177800">
              <a:spcAft>
                <a:spcPts val="500"/>
              </a:spcAft>
              <a:buSzPct val="100000"/>
              <a:buChar char="•"/>
            </a:pPr>
            <a:r>
              <a:rPr lang="en-US" sz="2800">
                <a:solidFill>
                  <a:srgbClr val="63637E"/>
                </a:solidFill>
                <a:latin typeface="Calibri" pitchFamily="34" charset="0"/>
                <a:ea typeface="Calibri" pitchFamily="34" charset="-122"/>
                <a:cs typeface="Calibri" pitchFamily="34" charset="-120"/>
              </a:rPr>
              <a:t>Presentation file (PPT or PDF) (Y/N)</a:t>
            </a:r>
            <a:endParaRPr lang="en-US" sz="2800"/>
          </a:p>
          <a:p>
            <a:pPr marL="0" indent="0">
              <a:buNone/>
            </a:pPr>
            <a:endParaRPr lang="en-IN"/>
          </a:p>
        </p:txBody>
      </p:sp>
    </p:spTree>
    <p:extLst>
      <p:ext uri="{BB962C8B-B14F-4D97-AF65-F5344CB8AC3E}">
        <p14:creationId xmlns:p14="http://schemas.microsoft.com/office/powerpoint/2010/main" val="1806993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46181" y="3432040"/>
            <a:ext cx="6766560" cy="868680"/>
          </a:xfrm>
          <a:prstGeom prst="rect">
            <a:avLst/>
          </a:prstGeom>
          <a:noFill/>
          <a:ln/>
        </p:spPr>
        <p:txBody>
          <a:bodyPr wrap="square" lIns="0" tIns="0" rIns="0" bIns="0" rtlCol="0" anchor="ctr"/>
          <a:lstStyle/>
          <a:p>
            <a:pPr marL="0" indent="0">
              <a:buNone/>
            </a:pPr>
            <a:r>
              <a:rPr lang="en-US" sz="4600" b="1">
                <a:solidFill>
                  <a:srgbClr val="14142B"/>
                </a:solidFill>
                <a:latin typeface="Arial" pitchFamily="34" charset="0"/>
                <a:ea typeface="Arial" pitchFamily="34" charset="-122"/>
                <a:cs typeface="Arial" pitchFamily="34" charset="-120"/>
              </a:rPr>
              <a:t>Thank you</a:t>
            </a:r>
            <a:endParaRPr lang="en-US" sz="4600"/>
          </a:p>
        </p:txBody>
      </p:sp>
      <p:sp>
        <p:nvSpPr>
          <p:cNvPr id="28" name="Text 25"/>
          <p:cNvSpPr txBox="1"/>
          <p:nvPr/>
        </p:nvSpPr>
        <p:spPr>
          <a:xfrm>
            <a:off x="1123183" y="5887220"/>
            <a:ext cx="10607040" cy="296258"/>
          </a:xfrm>
          <a:prstGeom prst="rect">
            <a:avLst/>
          </a:prstGeom>
          <a:noFill/>
          <a:ln/>
        </p:spPr>
        <p:txBody>
          <a:bodyPr wrap="square" lIns="0" tIns="0" rIns="0" bIns="0" rtlCol="0" anchor="ctr"/>
          <a:lstStyle/>
          <a:p>
            <a:pPr marL="0" indent="0">
              <a:buNone/>
            </a:pPr>
            <a:r>
              <a:rPr lang="en-US" sz="1100">
                <a:solidFill>
                  <a:srgbClr val="63637E"/>
                </a:solidFill>
                <a:latin typeface="Calibri" pitchFamily="34" charset="0"/>
                <a:ea typeface="Calibri" pitchFamily="34" charset="-122"/>
                <a:cs typeface="Calibri" pitchFamily="34" charset="-120"/>
              </a:rPr>
              <a:t>Organised by the Language AI Team and the PRISM Team, Samsung R&amp;D Institute India</a:t>
            </a:r>
            <a:endParaRPr lang="en-US" sz="1100"/>
          </a:p>
        </p:txBody>
      </p:sp>
      <p:sp>
        <p:nvSpPr>
          <p:cNvPr id="4" name="TextBox 3">
            <a:extLst>
              <a:ext uri="{FF2B5EF4-FFF2-40B4-BE49-F238E27FC236}">
                <a16:creationId xmlns:a16="http://schemas.microsoft.com/office/drawing/2014/main" id="{58725AD1-F481-4540-06B2-56E78BDF7E44}"/>
              </a:ext>
            </a:extLst>
          </p:cNvPr>
          <p:cNvSpPr txBox="1"/>
          <p:nvPr/>
        </p:nvSpPr>
        <p:spPr>
          <a:xfrm>
            <a:off x="1046181" y="4551776"/>
            <a:ext cx="6097604" cy="374398"/>
          </a:xfrm>
          <a:prstGeom prst="rect">
            <a:avLst/>
          </a:prstGeom>
          <a:noFill/>
        </p:spPr>
        <p:txBody>
          <a:bodyPr wrap="square" lIns="91440" tIns="45720" rIns="91440" bIns="45720" anchor="t">
            <a:spAutoFit/>
          </a:bodyPr>
          <a:lstStyle/>
          <a:p>
            <a:pPr>
              <a:lnSpc>
                <a:spcPct val="105000"/>
              </a:lnSpc>
            </a:pPr>
            <a:r>
              <a:rPr lang="en-IN" sz="1800" b="1">
                <a:solidFill>
                  <a:srgbClr val="6B3FBE"/>
                </a:solidFill>
                <a:latin typeface="Aptos"/>
              </a:rPr>
              <a:t>KAIZEN — </a:t>
            </a:r>
            <a:r>
              <a:rPr lang="en-IN" b="1">
                <a:solidFill>
                  <a:srgbClr val="6B3FBE"/>
                </a:solidFill>
                <a:latin typeface="Aptos"/>
              </a:rPr>
              <a:t>Interruptible AI Partner</a:t>
            </a:r>
            <a:endParaRPr lang="en-IN" sz="1800" b="1">
              <a:solidFill>
                <a:srgbClr val="6B3FBE"/>
              </a:solidFill>
              <a:latin typeface="Aptos"/>
            </a:endParaRPr>
          </a:p>
        </p:txBody>
      </p:sp>
      <p:sp>
        <p:nvSpPr>
          <p:cNvPr id="6" name="TextBox 5">
            <a:extLst>
              <a:ext uri="{FF2B5EF4-FFF2-40B4-BE49-F238E27FC236}">
                <a16:creationId xmlns:a16="http://schemas.microsoft.com/office/drawing/2014/main" id="{69AC107C-78DC-54FE-F1F1-D9C42595F167}"/>
              </a:ext>
            </a:extLst>
          </p:cNvPr>
          <p:cNvSpPr txBox="1"/>
          <p:nvPr/>
        </p:nvSpPr>
        <p:spPr>
          <a:xfrm>
            <a:off x="1123183" y="5254534"/>
            <a:ext cx="8600000" cy="450000"/>
          </a:xfrm>
          <a:prstGeom prst="rect">
            <a:avLst/>
          </a:prstGeom>
          <a:noFill/>
        </p:spPr>
        <p:txBody>
          <a:bodyPr wrap="none" lIns="0" tIns="0" rIns="0" bIns="0" anchor="t">
            <a:spAutoFit/>
          </a:bodyPr>
          <a:lstStyle/>
          <a:p>
            <a:pPr algn="l">
              <a:lnSpc>
                <a:spcPct val="105000"/>
              </a:lnSpc>
            </a:pPr>
            <a:r>
              <a:rPr sz="1400" b="0">
                <a:solidFill>
                  <a:srgbClr val="69697D"/>
                </a:solidFill>
                <a:latin typeface="Aptos"/>
              </a:rPr>
              <a:t>Samsung PRISM Generative AI Hackathon • Theme 05
Autonomous Partners • SRM Institute of Science and Technology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
  <TotalTime>0</TotalTime>
  <Words>957</Words>
  <Application>Microsoft Office PowerPoint</Application>
  <PresentationFormat>Widescreen</PresentationFormat>
  <Paragraphs>138</Paragraphs>
  <Slides>12</Slides>
  <Notes>2</Notes>
  <HiddenSlides>0</HiddenSlides>
  <MMClips>0</MMClips>
  <ScaleCrop>false</ScaleCrop>
  <HeadingPairs>
    <vt:vector size="4" baseType="variant">
      <vt:variant>
        <vt:lpstr>Theme</vt:lpstr>
      </vt:variant>
      <vt:variant>
        <vt:i4>1</vt:i4>
      </vt:variant>
      <vt:variant>
        <vt:lpstr>Slide Titles</vt:lpstr>
      </vt:variant>
      <vt:variant>
        <vt:i4>12</vt:i4>
      </vt:variant>
    </vt:vector>
  </HeadingPairs>
  <TitlesOfParts>
    <vt:vector size="13" baseType="lpstr">
      <vt:lpstr>Office Theme</vt:lpstr>
      <vt:lpstr>PowerPoint Presentation</vt:lpstr>
      <vt:lpstr>Theme – 05 Interruptible Real-Time Agents </vt:lpstr>
      <vt:lpstr>Existing Solutions &amp; Gaps</vt:lpstr>
      <vt:lpstr>Our Solutions &amp; Architecture Diagram</vt:lpstr>
      <vt:lpstr>Demo &amp; Product Walkthrough</vt:lpstr>
      <vt:lpstr>Tools and tech stack used</vt:lpstr>
      <vt:lpstr>Impact &amp; Use case</vt:lpstr>
      <vt:lpstr>Innovation highlights, results and limitations</vt:lpstr>
      <vt:lpstr>What’s next</vt:lpstr>
      <vt:lpstr>Brownie points slide</vt:lpstr>
      <vt:lpstr>Checklist- Updated on Public GitHub</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Binny Lakra/PRISM /SRI-Bangalore/Professional/Samsung Electronics</dc:creator>
  <cp:lastModifiedBy>Pavithra V G</cp:lastModifiedBy>
  <cp:revision>2</cp:revision>
  <dcterms:created xsi:type="dcterms:W3CDTF">2026-09-07T12:01:01Z</dcterms:created>
  <dcterms:modified xsi:type="dcterms:W3CDTF">2026-09-30T17:35:20Z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SCPROP">
    <vt:lpwstr>NSCCustomProperty</vt:lpwstr>
  </property>
</Properties>
</file>