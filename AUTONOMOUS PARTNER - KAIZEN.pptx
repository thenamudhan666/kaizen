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71"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slide for the 3rd edition of the PRISM Generative AI Hackathon. Replace the SAMSUNG PRISM pill with the official PRISM logo image if you have the asset. Confirm the academic year label (2026-27) before circulating.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AF27EEE-1B67-445E-AA5D-351EC91D1DE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AF27EEE-1B67-445E-AA5D-351EC91D1DE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AF27EEE-1B67-445E-AA5D-351EC91D1DE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AF27EEE-1B67-445E-AA5D-351EC91D1DE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AF27EEE-1B67-445E-AA5D-351EC91D1DE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AF27EEE-1B67-445E-AA5D-351EC91D1DE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F27EEE-1B67-445E-AA5D-351EC91D1DE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AF27EEE-1B67-445E-AA5D-351EC91D1DE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AF27EEE-1B67-445E-AA5D-351EC91D1DE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AF27EEE-1B67-445E-AA5D-351EC91D1DE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AF27EEE-1B67-445E-AA5D-351EC91D1DE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04A4-2082-4D7E-8466-9BA22C990A78}"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p:spPr>
        <p:txBody>
          <a:bodyPr wrap="square" lIns="0" tIns="0" rIns="0" bIns="0" rtlCol="0" anchor="ctr"/>
          <a:lstStyle/>
          <a:p>
            <a:pPr marL="0" indent="0" algn="ctr">
              <a:buNone/>
            </a:pPr>
            <a:r>
              <a:rPr lang="en-US" sz="1100" b="1" kern="0" spc="110">
                <a:solidFill>
                  <a:srgbClr val="6D28D9"/>
                </a:solidFill>
                <a:latin typeface="Arial" panose="020B0604020202020204" pitchFamily="34" charset="0"/>
                <a:ea typeface="Arial" panose="020B0604020202020204" pitchFamily="34" charset="-122"/>
                <a:cs typeface="Arial" panose="020B0604020202020204" pitchFamily="34" charset="-120"/>
              </a:rPr>
              <a:t>SAMSUNG PRISM</a:t>
            </a:r>
            <a:endParaRPr lang="en-US" sz="1100"/>
          </a:p>
        </p:txBody>
      </p:sp>
      <p:sp>
        <p:nvSpPr>
          <p:cNvPr id="4" name="Text 2"/>
          <p:cNvSpPr txBox="1"/>
          <p:nvPr/>
        </p:nvSpPr>
        <p:spPr>
          <a:xfrm>
            <a:off x="777240" y="1207008"/>
            <a:ext cx="6126480" cy="749808"/>
          </a:xfrm>
          <a:prstGeom prst="rect">
            <a:avLst/>
          </a:prstGeom>
          <a:noFill/>
        </p:spPr>
        <p:txBody>
          <a:bodyPr wrap="square" lIns="0" tIns="0" rIns="0" bIns="0" rtlCol="0" anchor="ctr"/>
          <a:lstStyle/>
          <a:p>
            <a:pPr marL="0" indent="0">
              <a:buNone/>
            </a:pPr>
            <a:r>
              <a:rPr lang="en-US" sz="5000" b="1">
                <a:solidFill>
                  <a:srgbClr val="14142B"/>
                </a:solidFill>
                <a:latin typeface="Arial" panose="020B0604020202020204" pitchFamily="34" charset="0"/>
                <a:ea typeface="Arial" panose="020B0604020202020204" pitchFamily="34" charset="-122"/>
                <a:cs typeface="Arial" panose="020B0604020202020204" pitchFamily="34" charset="-120"/>
              </a:rPr>
              <a:t>Generative AI</a:t>
            </a:r>
            <a:endParaRPr lang="en-US" sz="5000"/>
          </a:p>
        </p:txBody>
      </p:sp>
      <p:sp>
        <p:nvSpPr>
          <p:cNvPr id="5" name="Text 3"/>
          <p:cNvSpPr txBox="1"/>
          <p:nvPr/>
        </p:nvSpPr>
        <p:spPr>
          <a:xfrm>
            <a:off x="777240" y="1901952"/>
            <a:ext cx="6126480" cy="749808"/>
          </a:xfrm>
          <a:prstGeom prst="rect">
            <a:avLst/>
          </a:prstGeom>
          <a:noFill/>
        </p:spPr>
        <p:txBody>
          <a:bodyPr wrap="square" lIns="0" tIns="0" rIns="0" bIns="0" rtlCol="0" anchor="ctr"/>
          <a:lstStyle/>
          <a:p>
            <a:pPr marL="0" indent="0">
              <a:buNone/>
            </a:pPr>
            <a:r>
              <a:rPr lang="en-US" sz="5000" b="1">
                <a:solidFill>
                  <a:srgbClr val="6D28D9"/>
                </a:solidFill>
                <a:latin typeface="Arial" panose="020B0604020202020204" pitchFamily="34" charset="0"/>
                <a:ea typeface="Arial" panose="020B0604020202020204" pitchFamily="34" charset="-122"/>
                <a:cs typeface="Arial" panose="020B0604020202020204" pitchFamily="34" charset="-120"/>
              </a:rPr>
              <a:t>Hackathon</a:t>
            </a:r>
            <a:endParaRPr lang="en-US" sz="5000"/>
          </a:p>
        </p:txBody>
      </p:sp>
      <p:sp>
        <p:nvSpPr>
          <p:cNvPr id="6" name="Text 4"/>
          <p:cNvSpPr txBox="1"/>
          <p:nvPr/>
        </p:nvSpPr>
        <p:spPr>
          <a:xfrm>
            <a:off x="777240" y="2724912"/>
            <a:ext cx="6126480" cy="457200"/>
          </a:xfrm>
          <a:prstGeom prst="rect">
            <a:avLst/>
          </a:prstGeom>
          <a:noFill/>
        </p:spPr>
        <p:txBody>
          <a:bodyPr wrap="square" lIns="0" tIns="0" rIns="0" bIns="0" rtlCol="0" anchor="ctr"/>
          <a:lstStyle/>
          <a:p>
            <a:pPr marL="0" indent="0">
              <a:buNone/>
            </a:pPr>
            <a:r>
              <a:rPr lang="en-US" sz="2500" b="1">
                <a:solidFill>
                  <a:srgbClr val="14142B"/>
                </a:solidFill>
                <a:latin typeface="Arial" panose="020B0604020202020204" pitchFamily="34" charset="0"/>
                <a:ea typeface="Arial" panose="020B0604020202020204" pitchFamily="34" charset="-122"/>
                <a:cs typeface="Arial" panose="020B0604020202020204" pitchFamily="34" charset="-120"/>
              </a:rPr>
              <a:t>3rd Edition</a:t>
            </a:r>
            <a:r>
              <a:rPr lang="en-US" sz="2000">
                <a:solidFill>
                  <a:srgbClr val="63637E"/>
                </a:solidFill>
                <a:latin typeface="Calibri" panose="020F0502020204030204" pitchFamily="34" charset="0"/>
                <a:ea typeface="Calibri" panose="020F0502020204030204" pitchFamily="34" charset="-122"/>
                <a:cs typeface="Calibri" panose="020F0502020204030204" pitchFamily="34" charset="-120"/>
              </a:rPr>
              <a:t>   2026 – 27</a:t>
            </a:r>
            <a:endParaRPr lang="en-US" sz="2500"/>
          </a:p>
        </p:txBody>
      </p:sp>
      <p:sp>
        <p:nvSpPr>
          <p:cNvPr id="7" name="Text 5"/>
          <p:cNvSpPr txBox="1"/>
          <p:nvPr/>
        </p:nvSpPr>
        <p:spPr>
          <a:xfrm>
            <a:off x="777240" y="3310128"/>
            <a:ext cx="6281928" cy="777240"/>
          </a:xfrm>
          <a:prstGeom prst="rect">
            <a:avLst/>
          </a:prstGeom>
          <a:noFill/>
        </p:spPr>
        <p:txBody>
          <a:bodyPr wrap="square" lIns="0" tIns="0" rIns="0" bIns="0" rtlCol="0" anchor="t"/>
          <a:lstStyle/>
          <a:p>
            <a:pPr marL="177800" indent="-177800">
              <a:spcAft>
                <a:spcPts val="500"/>
              </a:spcAft>
              <a:buSzPct val="100000"/>
              <a:buChar char="•"/>
            </a:pPr>
            <a:r>
              <a:rPr lang="en-US" sz="1600">
                <a:solidFill>
                  <a:srgbClr val="63637E"/>
                </a:solidFill>
                <a:latin typeface="Calibri" panose="020F0502020204030204"/>
                <a:ea typeface="Calibri" panose="020F0502020204030204"/>
                <a:cs typeface="Calibri" panose="020F0502020204030204"/>
              </a:rPr>
              <a:t>Theme ID - 05</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Char char="•"/>
            </a:pPr>
            <a:r>
              <a:rPr lang="en-US" sz="1600">
                <a:solidFill>
                  <a:srgbClr val="63637E"/>
                </a:solidFill>
                <a:latin typeface="Calibri" panose="020F0502020204030204"/>
                <a:ea typeface="Calibri" panose="020F0502020204030204"/>
                <a:cs typeface="Calibri" panose="020F0502020204030204"/>
              </a:rPr>
              <a:t>Team Name - Autonomous Partners</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Char char="•"/>
            </a:pPr>
            <a:r>
              <a:rPr lang="en-US" sz="1600">
                <a:solidFill>
                  <a:srgbClr val="63637E"/>
                </a:solidFill>
                <a:latin typeface="Calibri" panose="020F0502020204030204"/>
                <a:ea typeface="Calibri" panose="020F0502020204030204"/>
                <a:cs typeface="Calibri" panose="020F0502020204030204"/>
              </a:rPr>
              <a:t>College Name – SRM Institute of Science and Technology</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Char char="•"/>
            </a:pPr>
            <a:r>
              <a:rPr lang="en-US" sz="1600">
                <a:solidFill>
                  <a:srgbClr val="63637E"/>
                </a:solidFill>
                <a:latin typeface="Calibri" panose="020F0502020204030204"/>
                <a:ea typeface="Calibri" panose="020F0502020204030204"/>
                <a:cs typeface="Calibri" panose="020F0502020204030204"/>
              </a:rPr>
              <a:t>Member Name &amp; Email 1- Pavithra V G &amp; pv2496@srmist.edu.in</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Char char="•"/>
            </a:pPr>
            <a:r>
              <a:rPr lang="en-US" sz="1600">
                <a:solidFill>
                  <a:srgbClr val="63637E"/>
                </a:solidFill>
                <a:latin typeface="Calibri" panose="020F0502020204030204"/>
                <a:ea typeface="Calibri" panose="020F0502020204030204"/>
                <a:cs typeface="Calibri" panose="020F0502020204030204"/>
              </a:rPr>
              <a:t>Member Name &amp; Email 2- Gawtham Prasath &amp; gs3548@srmist.edu.in</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FontTx/>
              <a:buChar char="•"/>
            </a:pPr>
            <a:r>
              <a:rPr lang="en-US" sz="1600">
                <a:solidFill>
                  <a:srgbClr val="63637E"/>
                </a:solidFill>
                <a:latin typeface="Calibri" panose="020F0502020204030204"/>
                <a:ea typeface="Calibri" panose="020F0502020204030204"/>
                <a:cs typeface="Calibri" panose="020F0502020204030204"/>
              </a:rPr>
              <a:t>Member Name &amp; Email 3- </a:t>
            </a:r>
            <a:r>
              <a:rPr lang="en-US" sz="1600" err="1">
                <a:solidFill>
                  <a:srgbClr val="63637E"/>
                </a:solidFill>
                <a:latin typeface="Calibri" panose="020F0502020204030204"/>
                <a:ea typeface="Calibri" panose="020F0502020204030204"/>
                <a:cs typeface="Calibri" panose="020F0502020204030204"/>
              </a:rPr>
              <a:t>Thenamudhan</a:t>
            </a:r>
            <a:r>
              <a:rPr lang="en-US" sz="1600">
                <a:solidFill>
                  <a:srgbClr val="63637E"/>
                </a:solidFill>
                <a:latin typeface="Calibri" panose="020F0502020204030204"/>
                <a:ea typeface="Calibri" panose="020F0502020204030204"/>
                <a:cs typeface="Calibri" panose="020F0502020204030204"/>
              </a:rPr>
              <a:t> S &amp; ts1255@gmail.com</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FontTx/>
              <a:buChar char="•"/>
            </a:pPr>
            <a:r>
              <a:rPr lang="en-US" sz="1600">
                <a:solidFill>
                  <a:srgbClr val="63637E"/>
                </a:solidFill>
                <a:latin typeface="Calibri" panose="020F0502020204030204"/>
                <a:ea typeface="Calibri" panose="020F0502020204030204"/>
                <a:cs typeface="Calibri" panose="020F0502020204030204"/>
              </a:rPr>
              <a:t>Submission </a:t>
            </a:r>
            <a:r>
              <a:rPr lang="en-US" sz="1600" err="1">
                <a:solidFill>
                  <a:srgbClr val="63637E"/>
                </a:solidFill>
                <a:latin typeface="Calibri" panose="020F0502020204030204"/>
                <a:ea typeface="Calibri" panose="020F0502020204030204"/>
                <a:cs typeface="Calibri" panose="020F0502020204030204"/>
              </a:rPr>
              <a:t>Github</a:t>
            </a:r>
            <a:r>
              <a:rPr lang="en-US" sz="1600">
                <a:solidFill>
                  <a:srgbClr val="63637E"/>
                </a:solidFill>
                <a:latin typeface="Calibri" panose="020F0502020204030204"/>
                <a:ea typeface="Calibri" panose="020F0502020204030204"/>
                <a:cs typeface="Calibri" panose="020F0502020204030204"/>
              </a:rPr>
              <a:t> link - </a:t>
            </a:r>
            <a:endParaRPr lang="en-US" sz="1600">
              <a:solidFill>
                <a:srgbClr val="63637E"/>
              </a:solidFill>
              <a:latin typeface="Calibri" panose="020F0502020204030204"/>
              <a:ea typeface="Calibri" panose="020F0502020204030204"/>
              <a:cs typeface="Calibri" panose="020F0502020204030204"/>
            </a:endParaRPr>
          </a:p>
          <a:p>
            <a:pPr marL="177800" indent="-177800">
              <a:spcAft>
                <a:spcPts val="500"/>
              </a:spcAft>
              <a:buSzPct val="100000"/>
              <a:buChar char="•"/>
            </a:pPr>
            <a:endParaRPr lang="en-US" sz="1600">
              <a:solidFill>
                <a:srgbClr val="63637E"/>
              </a:solidFill>
              <a:latin typeface="Calibri" panose="020F0502020204030204" pitchFamily="34" charset="0"/>
              <a:ea typeface="Calibri" panose="020F0502020204030204" pitchFamily="34" charset="-122"/>
              <a:cs typeface="Calibri" panose="020F0502020204030204" pitchFamily="34" charset="-120"/>
            </a:endParaRPr>
          </a:p>
        </p:txBody>
      </p:sp>
      <p:pic>
        <p:nvPicPr>
          <p:cNvPr id="14" name="Image 0" descr="hero_network.png"/>
          <p:cNvPicPr>
            <a:picLocks noChangeAspect="1"/>
          </p:cNvPicPr>
          <p:nvPr/>
        </p:nvPicPr>
        <p:blipFill>
          <a:blip r:embed="rId1"/>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3"/>
          <p:cNvSpPr>
            <a:spLocks noGrp="1" noRot="1" noMove="1" noResize="1" noEditPoints="1" noAdjustHandles="1" noChangeArrowheads="1" noChangeShapeType="1"/>
          </p:cNvSpPr>
          <p:nvPr/>
        </p:nvSpPr>
        <p:spPr>
          <a:xfrm>
            <a:off x="6439252" y="1658603"/>
            <a:ext cx="5200000" cy="42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700"/>
              </a:spcAft>
              <a:defRPr sz="1500">
                <a:solidFill>
                  <a:srgbClr val="232337"/>
                </a:solidFill>
                <a:latin typeface="Aptos"/>
              </a:defRPr>
            </a:pPr>
            <a:endParaRPr lang="en-US" sz="2000"/>
          </a:p>
        </p:txBody>
      </p:sp>
      <p:sp>
        <p:nvSpPr>
          <p:cNvPr id="9" name="Rounded Rectangle 3"/>
          <p:cNvSpPr>
            <a:spLocks noGrp="1" noRot="1" noMove="1" noResize="1" noEditPoints="1" noAdjustHandles="1" noChangeArrowheads="1" noChangeShapeType="1"/>
          </p:cNvSpPr>
          <p:nvPr/>
        </p:nvSpPr>
        <p:spPr>
          <a:xfrm>
            <a:off x="838200" y="1658603"/>
            <a:ext cx="5200000" cy="42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2" name="Title 1"/>
          <p:cNvSpPr>
            <a:spLocks noGrp="1"/>
          </p:cNvSpPr>
          <p:nvPr>
            <p:ph type="title"/>
          </p:nvPr>
        </p:nvSpPr>
        <p:spPr>
          <a:xfrm>
            <a:off x="838200" y="388257"/>
            <a:ext cx="10515600" cy="1325563"/>
          </a:xfrm>
        </p:spPr>
        <p:txBody>
          <a:bodyPr>
            <a:noAutofit/>
          </a:bodyPr>
          <a:lstStyle/>
          <a:p>
            <a:r>
              <a:rPr lang="en-IN" sz="3200" b="1">
                <a:solidFill>
                  <a:srgbClr val="704EA6"/>
                </a:solidFill>
                <a:latin typeface="+mn-lt"/>
                <a:cs typeface="Arial" panose="020B0604020202020204" pitchFamily="34" charset="-120"/>
              </a:rPr>
              <a:t>Theme – 05</a:t>
            </a:r>
            <a:br>
              <a:rPr lang="en-IN" sz="3200" b="1">
                <a:solidFill>
                  <a:srgbClr val="704EA6"/>
                </a:solidFill>
                <a:latin typeface="+mn-lt"/>
                <a:cs typeface="Arial" panose="020B0604020202020204" pitchFamily="34" charset="-120"/>
              </a:rPr>
            </a:br>
            <a:r>
              <a:rPr lang="en-IN" sz="3200" b="1">
                <a:solidFill>
                  <a:srgbClr val="181837"/>
                </a:solidFill>
                <a:latin typeface="Aptos"/>
              </a:rPr>
              <a:t>Interruptible Real-Time Agents</a:t>
            </a:r>
            <a:br>
              <a:rPr lang="en-IN" sz="3200" b="1">
                <a:solidFill>
                  <a:srgbClr val="181837"/>
                </a:solidFill>
                <a:latin typeface="Aptos"/>
              </a:rPr>
            </a:br>
            <a:endParaRPr lang="en-IN" sz="3200" b="1">
              <a:solidFill>
                <a:srgbClr val="704EA6"/>
              </a:solidFill>
              <a:latin typeface="+mn-lt"/>
              <a:cs typeface="Arial" panose="020B0604020202020204" pitchFamily="34" charset="-120"/>
            </a:endParaRPr>
          </a:p>
        </p:txBody>
      </p:sp>
      <p:sp>
        <p:nvSpPr>
          <p:cNvPr id="6" name="TextBox 5"/>
          <p:cNvSpPr txBox="1"/>
          <p:nvPr/>
        </p:nvSpPr>
        <p:spPr>
          <a:xfrm>
            <a:off x="1194310" y="1976337"/>
            <a:ext cx="3597908" cy="738664"/>
          </a:xfrm>
          <a:prstGeom prst="rect">
            <a:avLst/>
          </a:prstGeom>
          <a:noFill/>
        </p:spPr>
        <p:txBody>
          <a:bodyPr wrap="none" rtlCol="0">
            <a:spAutoFit/>
          </a:bodyPr>
          <a:lstStyle/>
          <a:p>
            <a:r>
              <a:rPr lang="en-IN" sz="2400" b="1">
                <a:solidFill>
                  <a:srgbClr val="6B3FBE"/>
                </a:solidFill>
                <a:latin typeface="Aptos"/>
              </a:rPr>
              <a:t>What the challenge asks</a:t>
            </a:r>
            <a:endParaRPr lang="en-IN" sz="2400" b="1">
              <a:solidFill>
                <a:srgbClr val="6B3FBE"/>
              </a:solidFill>
              <a:latin typeface="Aptos"/>
            </a:endParaRPr>
          </a:p>
          <a:p>
            <a:endParaRPr lang="en-IN"/>
          </a:p>
        </p:txBody>
      </p:sp>
      <p:sp>
        <p:nvSpPr>
          <p:cNvPr id="8" name="TextBox 7"/>
          <p:cNvSpPr txBox="1"/>
          <p:nvPr/>
        </p:nvSpPr>
        <p:spPr>
          <a:xfrm>
            <a:off x="6811405" y="1917571"/>
            <a:ext cx="4455694" cy="856196"/>
          </a:xfrm>
          <a:prstGeom prst="rect">
            <a:avLst/>
          </a:prstGeom>
          <a:noFill/>
        </p:spPr>
        <p:txBody>
          <a:bodyPr wrap="square">
            <a:spAutoFit/>
          </a:bodyPr>
          <a:lstStyle/>
          <a:p>
            <a:pPr algn="l">
              <a:lnSpc>
                <a:spcPct val="105000"/>
              </a:lnSpc>
            </a:pPr>
            <a:r>
              <a:rPr lang="en-IN" sz="2400" b="1">
                <a:solidFill>
                  <a:srgbClr val="1CB8C2"/>
                </a:solidFill>
                <a:latin typeface="Aptos"/>
              </a:rPr>
              <a:t>Our solution - KAIZEN's interpretation</a:t>
            </a:r>
            <a:endParaRPr lang="en-IN" sz="2400" b="1">
              <a:solidFill>
                <a:srgbClr val="1CB8C2"/>
              </a:solidFill>
              <a:latin typeface="Aptos"/>
            </a:endParaRPr>
          </a:p>
        </p:txBody>
      </p:sp>
      <p:sp>
        <p:nvSpPr>
          <p:cNvPr id="12" name="TextBox 11"/>
          <p:cNvSpPr txBox="1"/>
          <p:nvPr/>
        </p:nvSpPr>
        <p:spPr>
          <a:xfrm>
            <a:off x="1194310" y="2542363"/>
            <a:ext cx="4487780" cy="3131627"/>
          </a:xfrm>
          <a:prstGeom prst="rect">
            <a:avLst/>
          </a:prstGeom>
          <a:noFill/>
        </p:spPr>
        <p:txBody>
          <a:bodyPr wrap="square">
            <a:spAutoFit/>
          </a:bodyPr>
          <a:lstStyle/>
          <a:p>
            <a:pPr>
              <a:spcAft>
                <a:spcPts val="700"/>
              </a:spcAft>
              <a:defRPr sz="1500">
                <a:solidFill>
                  <a:srgbClr val="232337"/>
                </a:solidFill>
                <a:latin typeface="Aptos"/>
              </a:defRPr>
            </a:pPr>
            <a:r>
              <a:rPr lang="en-US" sz="2000"/>
              <a:t>• Keep the conversation alive while the agent reasons.</a:t>
            </a:r>
            <a:endParaRPr lang="en-US" sz="2000"/>
          </a:p>
          <a:p>
            <a:pPr>
              <a:spcAft>
                <a:spcPts val="700"/>
              </a:spcAft>
              <a:defRPr sz="1500">
                <a:solidFill>
                  <a:srgbClr val="232337"/>
                </a:solidFill>
                <a:latin typeface="Aptos"/>
              </a:defRPr>
            </a:pPr>
            <a:r>
              <a:rPr lang="en-US" sz="2000"/>
              <a:t>• Recover cleanly from mid-turn interruptions instead of restarting.</a:t>
            </a:r>
            <a:endParaRPr lang="en-US" sz="2000"/>
          </a:p>
          <a:p>
            <a:pPr>
              <a:spcAft>
                <a:spcPts val="700"/>
              </a:spcAft>
              <a:defRPr sz="1500">
                <a:solidFill>
                  <a:srgbClr val="232337"/>
                </a:solidFill>
                <a:latin typeface="Aptos"/>
              </a:defRPr>
            </a:pPr>
            <a:r>
              <a:rPr lang="en-US" sz="2000"/>
              <a:t>• Adapt when the user's goal changes without losing relevant session context.</a:t>
            </a:r>
            <a:endParaRPr lang="en-US" sz="2000"/>
          </a:p>
          <a:p>
            <a:pPr>
              <a:spcAft>
                <a:spcPts val="700"/>
              </a:spcAft>
              <a:defRPr sz="1500">
                <a:solidFill>
                  <a:srgbClr val="232337"/>
                </a:solidFill>
                <a:latin typeface="Aptos"/>
              </a:defRPr>
            </a:pPr>
            <a:r>
              <a:rPr lang="en-US" sz="2000"/>
              <a:t>• Build a reliable real-time agent structure, not just a chat wrapper.</a:t>
            </a:r>
            <a:endParaRPr lang="en-US" sz="2000"/>
          </a:p>
        </p:txBody>
      </p:sp>
      <p:sp>
        <p:nvSpPr>
          <p:cNvPr id="14" name="TextBox 13"/>
          <p:cNvSpPr txBox="1"/>
          <p:nvPr/>
        </p:nvSpPr>
        <p:spPr>
          <a:xfrm>
            <a:off x="6726418" y="2850140"/>
            <a:ext cx="4791814" cy="2823850"/>
          </a:xfrm>
          <a:prstGeom prst="rect">
            <a:avLst/>
          </a:prstGeom>
          <a:noFill/>
        </p:spPr>
        <p:txBody>
          <a:bodyPr wrap="square">
            <a:spAutoFit/>
          </a:bodyPr>
          <a:lstStyle/>
          <a:p>
            <a:pPr>
              <a:spcAft>
                <a:spcPts val="700"/>
              </a:spcAft>
              <a:defRPr sz="1500">
                <a:solidFill>
                  <a:srgbClr val="232337"/>
                </a:solidFill>
                <a:latin typeface="Aptos"/>
              </a:defRPr>
            </a:pPr>
            <a:r>
              <a:rPr lang="en-US" sz="2000"/>
              <a:t>• Full-duplex voice with real-time audio streaming.</a:t>
            </a:r>
            <a:endParaRPr lang="en-US" sz="2000"/>
          </a:p>
          <a:p>
            <a:pPr>
              <a:spcAft>
                <a:spcPts val="700"/>
              </a:spcAft>
              <a:defRPr sz="1500">
                <a:solidFill>
                  <a:srgbClr val="232337"/>
                </a:solidFill>
                <a:latin typeface="Aptos"/>
              </a:defRPr>
            </a:pPr>
            <a:r>
              <a:rPr lang="en-US" sz="2000"/>
              <a:t>• Barge-in handling that flushes speech and marks the turn interrupted.</a:t>
            </a:r>
            <a:endParaRPr lang="en-US" sz="2000"/>
          </a:p>
          <a:p>
            <a:pPr>
              <a:spcAft>
                <a:spcPts val="700"/>
              </a:spcAft>
              <a:defRPr sz="1500">
                <a:solidFill>
                  <a:srgbClr val="232337"/>
                </a:solidFill>
                <a:latin typeface="Aptos"/>
              </a:defRPr>
            </a:pPr>
            <a:r>
              <a:rPr lang="en-US" sz="2000"/>
              <a:t>• State-aware UI with idle / listening / reasoning / speaking / interrupted modes.</a:t>
            </a:r>
            <a:endParaRPr lang="en-US" sz="2000"/>
          </a:p>
          <a:p>
            <a:pPr>
              <a:spcAft>
                <a:spcPts val="700"/>
              </a:spcAft>
              <a:defRPr sz="1500">
                <a:solidFill>
                  <a:srgbClr val="232337"/>
                </a:solidFill>
                <a:latin typeface="Aptos"/>
              </a:defRPr>
            </a:pPr>
            <a:r>
              <a:rPr lang="en-US" sz="2000"/>
              <a:t>• Session-local memory vault + observer + learning loop keep context alive.</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674" y="333211"/>
            <a:ext cx="10515600" cy="1325563"/>
          </a:xfrm>
        </p:spPr>
        <p:txBody>
          <a:bodyPr>
            <a:normAutofit/>
          </a:bodyPr>
          <a:lstStyle/>
          <a:p>
            <a:pPr algn="ctr"/>
            <a:r>
              <a:rPr lang="en-IN" b="1">
                <a:solidFill>
                  <a:srgbClr val="704EA6"/>
                </a:solidFill>
                <a:latin typeface="+mn-lt"/>
                <a:cs typeface="Arial" panose="020B0604020202020204" pitchFamily="34" charset="-120"/>
              </a:rPr>
              <a:t>Existing Solutions &amp; Gaps</a:t>
            </a:r>
            <a:endParaRPr lang="en-IN" b="1">
              <a:solidFill>
                <a:srgbClr val="704EA6"/>
              </a:solidFill>
              <a:latin typeface="+mn-lt"/>
              <a:cs typeface="Arial" panose="020B0604020202020204" pitchFamily="34" charset="-120"/>
            </a:endParaRPr>
          </a:p>
        </p:txBody>
      </p:sp>
      <p:sp>
        <p:nvSpPr>
          <p:cNvPr id="5" name="TextBox 4"/>
          <p:cNvSpPr txBox="1"/>
          <p:nvPr/>
        </p:nvSpPr>
        <p:spPr>
          <a:xfrm>
            <a:off x="520832" y="1586019"/>
            <a:ext cx="10727284" cy="728917"/>
          </a:xfrm>
          <a:prstGeom prst="rect">
            <a:avLst/>
          </a:prstGeom>
          <a:noFill/>
        </p:spPr>
        <p:txBody>
          <a:bodyPr wrap="square">
            <a:spAutoFit/>
          </a:bodyPr>
          <a:lstStyle/>
          <a:p>
            <a:pPr algn="ctr">
              <a:lnSpc>
                <a:spcPct val="105000"/>
              </a:lnSpc>
            </a:pPr>
            <a:r>
              <a:rPr lang="en-US" sz="2000" b="1">
                <a:solidFill>
                  <a:srgbClr val="181837"/>
                </a:solidFill>
                <a:latin typeface="Aptos"/>
              </a:rPr>
              <a:t>Most assistants follow a linear loop: listen → think → speak. </a:t>
            </a:r>
            <a:endParaRPr lang="en-US" sz="2000" b="1">
              <a:solidFill>
                <a:srgbClr val="181837"/>
              </a:solidFill>
              <a:latin typeface="Aptos"/>
            </a:endParaRPr>
          </a:p>
          <a:p>
            <a:pPr algn="ctr">
              <a:lnSpc>
                <a:spcPct val="105000"/>
              </a:lnSpc>
            </a:pPr>
            <a:r>
              <a:rPr lang="en-US" sz="2000" b="1">
                <a:solidFill>
                  <a:srgbClr val="181837"/>
                </a:solidFill>
                <a:latin typeface="Aptos"/>
              </a:rPr>
              <a:t>A user interruption often breaks that loop.</a:t>
            </a:r>
            <a:endParaRPr lang="en-US" sz="2000" b="1">
              <a:solidFill>
                <a:srgbClr val="181837"/>
              </a:solidFill>
              <a:latin typeface="Aptos"/>
            </a:endParaRPr>
          </a:p>
        </p:txBody>
      </p:sp>
      <p:sp>
        <p:nvSpPr>
          <p:cNvPr id="7" name="TextBox 6"/>
          <p:cNvSpPr txBox="1"/>
          <p:nvPr/>
        </p:nvSpPr>
        <p:spPr>
          <a:xfrm>
            <a:off x="1293600" y="2706891"/>
            <a:ext cx="2600000" cy="350000"/>
          </a:xfrm>
          <a:prstGeom prst="rect">
            <a:avLst/>
          </a:prstGeom>
          <a:noFill/>
        </p:spPr>
        <p:txBody>
          <a:bodyPr wrap="none" lIns="0" tIns="0" rIns="0" bIns="0" anchor="t">
            <a:spAutoFit/>
          </a:bodyPr>
          <a:lstStyle/>
          <a:p>
            <a:pPr algn="l">
              <a:lnSpc>
                <a:spcPct val="105000"/>
              </a:lnSpc>
            </a:pPr>
            <a:r>
              <a:rPr sz="1500" b="1">
                <a:solidFill>
                  <a:srgbClr val="6B3FBE"/>
                </a:solidFill>
                <a:latin typeface="Aptos"/>
              </a:rPr>
              <a:t>Typical approach</a:t>
            </a:r>
            <a:endParaRPr sz="1500" b="1">
              <a:solidFill>
                <a:srgbClr val="6B3FBE"/>
              </a:solidFill>
              <a:latin typeface="Aptos"/>
            </a:endParaRPr>
          </a:p>
        </p:txBody>
      </p:sp>
      <p:sp>
        <p:nvSpPr>
          <p:cNvPr id="9" name="Rounded Rectangle 8"/>
          <p:cNvSpPr/>
          <p:nvPr/>
        </p:nvSpPr>
        <p:spPr>
          <a:xfrm>
            <a:off x="1192000" y="3162007"/>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2000" y="3252007"/>
            <a:ext cx="1394613"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Turn-based voice</a:t>
            </a:r>
            <a:endParaRPr sz="1400" b="1">
              <a:solidFill>
                <a:srgbClr val="232337"/>
              </a:solidFill>
              <a:latin typeface="Aptos"/>
            </a:endParaRPr>
          </a:p>
        </p:txBody>
      </p:sp>
      <p:sp>
        <p:nvSpPr>
          <p:cNvPr id="13" name="Rounded Rectangle 14"/>
          <p:cNvSpPr/>
          <p:nvPr/>
        </p:nvSpPr>
        <p:spPr>
          <a:xfrm>
            <a:off x="1192000" y="3862007"/>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1312000" y="3952007"/>
            <a:ext cx="1472454"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Restart on change</a:t>
            </a:r>
            <a:endParaRPr sz="1400" b="1">
              <a:solidFill>
                <a:srgbClr val="232337"/>
              </a:solidFill>
              <a:latin typeface="Aptos"/>
            </a:endParaRPr>
          </a:p>
        </p:txBody>
      </p:sp>
      <p:sp>
        <p:nvSpPr>
          <p:cNvPr id="17" name="Rounded Rectangle 20"/>
          <p:cNvSpPr/>
          <p:nvPr/>
        </p:nvSpPr>
        <p:spPr>
          <a:xfrm>
            <a:off x="1192000" y="4562007"/>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1312000" y="4652007"/>
            <a:ext cx="1276247"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Passive context</a:t>
            </a:r>
            <a:endParaRPr sz="1400" b="1">
              <a:solidFill>
                <a:srgbClr val="232337"/>
              </a:solidFill>
              <a:latin typeface="Aptos"/>
            </a:endParaRPr>
          </a:p>
        </p:txBody>
      </p:sp>
      <p:sp>
        <p:nvSpPr>
          <p:cNvPr id="21" name="Rounded Rectangle 26"/>
          <p:cNvSpPr/>
          <p:nvPr/>
        </p:nvSpPr>
        <p:spPr>
          <a:xfrm>
            <a:off x="1192000" y="5262007"/>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1312000" y="5352007"/>
            <a:ext cx="1463542"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One-shot learning</a:t>
            </a:r>
            <a:endParaRPr sz="1400" b="1">
              <a:solidFill>
                <a:srgbClr val="232337"/>
              </a:solidFill>
              <a:latin typeface="Aptos"/>
            </a:endParaRPr>
          </a:p>
        </p:txBody>
      </p:sp>
      <p:sp>
        <p:nvSpPr>
          <p:cNvPr id="25" name="TextBox 24"/>
          <p:cNvSpPr txBox="1"/>
          <p:nvPr/>
        </p:nvSpPr>
        <p:spPr>
          <a:xfrm>
            <a:off x="4575800" y="2683704"/>
            <a:ext cx="2569520" cy="235064"/>
          </a:xfrm>
          <a:prstGeom prst="rect">
            <a:avLst/>
          </a:prstGeom>
          <a:noFill/>
        </p:spPr>
        <p:txBody>
          <a:bodyPr wrap="square" lIns="0" tIns="0" rIns="0" bIns="0" anchor="t">
            <a:spAutoFit/>
          </a:bodyPr>
          <a:lstStyle/>
          <a:p>
            <a:pPr algn="l">
              <a:lnSpc>
                <a:spcPct val="105000"/>
              </a:lnSpc>
            </a:pPr>
            <a:r>
              <a:rPr sz="1500" b="1">
                <a:solidFill>
                  <a:srgbClr val="6B3FBE"/>
                </a:solidFill>
                <a:latin typeface="Aptos"/>
              </a:rPr>
              <a:t>What goes wrong</a:t>
            </a:r>
            <a:endParaRPr sz="1500" b="1">
              <a:solidFill>
                <a:srgbClr val="6B3FBE"/>
              </a:solidFill>
              <a:latin typeface="Aptos"/>
            </a:endParaRPr>
          </a:p>
        </p:txBody>
      </p:sp>
      <p:sp>
        <p:nvSpPr>
          <p:cNvPr id="27" name="Rounded Rectangle 10"/>
          <p:cNvSpPr/>
          <p:nvPr/>
        </p:nvSpPr>
        <p:spPr>
          <a:xfrm>
            <a:off x="4525000" y="3143064"/>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45000" y="3233064"/>
            <a:ext cx="2315306"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Waits for a turn to finish before adapting</a:t>
            </a:r>
            <a:endParaRPr sz="1400" b="1">
              <a:solidFill>
                <a:srgbClr val="232337"/>
              </a:solidFill>
              <a:latin typeface="Aptos"/>
            </a:endParaRPr>
          </a:p>
        </p:txBody>
      </p:sp>
      <p:sp>
        <p:nvSpPr>
          <p:cNvPr id="31" name="Rounded Rectangle 16"/>
          <p:cNvSpPr/>
          <p:nvPr/>
        </p:nvSpPr>
        <p:spPr>
          <a:xfrm>
            <a:off x="4525000" y="3843064"/>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4645000" y="3933063"/>
            <a:ext cx="2315306"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Drops progress when the goal shifts</a:t>
            </a:r>
            <a:endParaRPr sz="1400" b="1">
              <a:solidFill>
                <a:srgbClr val="232337"/>
              </a:solidFill>
              <a:latin typeface="Aptos"/>
            </a:endParaRPr>
          </a:p>
        </p:txBody>
      </p:sp>
      <p:sp>
        <p:nvSpPr>
          <p:cNvPr id="35" name="Rounded Rectangle 22"/>
          <p:cNvSpPr/>
          <p:nvPr/>
        </p:nvSpPr>
        <p:spPr>
          <a:xfrm>
            <a:off x="4525000" y="4543064"/>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4607778" y="4652007"/>
            <a:ext cx="2553391"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Sees only the current utterance</a:t>
            </a:r>
            <a:endParaRPr sz="1400" b="1">
              <a:solidFill>
                <a:srgbClr val="232337"/>
              </a:solidFill>
              <a:latin typeface="Aptos"/>
            </a:endParaRPr>
          </a:p>
        </p:txBody>
      </p:sp>
      <p:sp>
        <p:nvSpPr>
          <p:cNvPr id="39" name="Rounded Rectangle 28"/>
          <p:cNvSpPr/>
          <p:nvPr/>
        </p:nvSpPr>
        <p:spPr>
          <a:xfrm>
            <a:off x="4525000" y="5243064"/>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4645000" y="5333064"/>
            <a:ext cx="2315306"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Answers disappear after the task</a:t>
            </a:r>
            <a:endParaRPr sz="1400" b="1">
              <a:solidFill>
                <a:srgbClr val="232337"/>
              </a:solidFill>
              <a:latin typeface="Aptos"/>
            </a:endParaRPr>
          </a:p>
        </p:txBody>
      </p:sp>
      <p:sp>
        <p:nvSpPr>
          <p:cNvPr id="43" name="TextBox 42"/>
          <p:cNvSpPr txBox="1"/>
          <p:nvPr/>
        </p:nvSpPr>
        <p:spPr>
          <a:xfrm>
            <a:off x="8421920" y="2680480"/>
            <a:ext cx="1643720" cy="235064"/>
          </a:xfrm>
          <a:prstGeom prst="rect">
            <a:avLst/>
          </a:prstGeom>
          <a:noFill/>
        </p:spPr>
        <p:txBody>
          <a:bodyPr wrap="none" lIns="0" tIns="0" rIns="0" bIns="0" anchor="t">
            <a:spAutoFit/>
          </a:bodyPr>
          <a:lstStyle/>
          <a:p>
            <a:pPr algn="l">
              <a:lnSpc>
                <a:spcPct val="105000"/>
              </a:lnSpc>
            </a:pPr>
            <a:r>
              <a:rPr sz="1500" b="1">
                <a:solidFill>
                  <a:srgbClr val="6B3FBE"/>
                </a:solidFill>
                <a:latin typeface="Aptos"/>
              </a:rPr>
              <a:t>KAIZEN</a:t>
            </a:r>
            <a:r>
              <a:rPr lang="en-US" sz="1500" b="1">
                <a:solidFill>
                  <a:srgbClr val="6B3FBE"/>
                </a:solidFill>
                <a:latin typeface="Aptos"/>
              </a:rPr>
              <a:t>’s</a:t>
            </a:r>
            <a:r>
              <a:rPr sz="1500" b="1">
                <a:solidFill>
                  <a:srgbClr val="6B3FBE"/>
                </a:solidFill>
                <a:latin typeface="Aptos"/>
              </a:rPr>
              <a:t> response</a:t>
            </a:r>
            <a:endParaRPr sz="1500" b="1">
              <a:solidFill>
                <a:srgbClr val="6B3FBE"/>
              </a:solidFill>
              <a:latin typeface="Aptos"/>
            </a:endParaRPr>
          </a:p>
        </p:txBody>
      </p:sp>
      <p:sp>
        <p:nvSpPr>
          <p:cNvPr id="45" name="Rounded Rectangle 12"/>
          <p:cNvSpPr/>
          <p:nvPr/>
        </p:nvSpPr>
        <p:spPr>
          <a:xfrm>
            <a:off x="8300000" y="3150000"/>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20000" y="3239999"/>
            <a:ext cx="2343177"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Streams input/output and supports barge-in</a:t>
            </a:r>
            <a:endParaRPr sz="1400" b="1">
              <a:solidFill>
                <a:srgbClr val="232337"/>
              </a:solidFill>
              <a:latin typeface="Aptos"/>
            </a:endParaRPr>
          </a:p>
        </p:txBody>
      </p:sp>
      <p:sp>
        <p:nvSpPr>
          <p:cNvPr id="49" name="Rounded Rectangle 18"/>
          <p:cNvSpPr/>
          <p:nvPr/>
        </p:nvSpPr>
        <p:spPr>
          <a:xfrm>
            <a:off x="8300000" y="3850000"/>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1" name="TextBox 50"/>
          <p:cNvSpPr txBox="1"/>
          <p:nvPr/>
        </p:nvSpPr>
        <p:spPr>
          <a:xfrm>
            <a:off x="8420001" y="3940000"/>
            <a:ext cx="2460000"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Preserves session state and routes the new intent</a:t>
            </a:r>
            <a:endParaRPr sz="1400" b="1">
              <a:solidFill>
                <a:srgbClr val="232337"/>
              </a:solidFill>
              <a:latin typeface="Aptos"/>
            </a:endParaRPr>
          </a:p>
        </p:txBody>
      </p:sp>
      <p:sp>
        <p:nvSpPr>
          <p:cNvPr id="53" name="Rounded Rectangle 24"/>
          <p:cNvSpPr/>
          <p:nvPr/>
        </p:nvSpPr>
        <p:spPr>
          <a:xfrm>
            <a:off x="8300000" y="4550000"/>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5" name="TextBox 54"/>
          <p:cNvSpPr txBox="1"/>
          <p:nvPr/>
        </p:nvSpPr>
        <p:spPr>
          <a:xfrm>
            <a:off x="8420000" y="4640000"/>
            <a:ext cx="2343177"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Observer + local Vault add workflow context</a:t>
            </a:r>
            <a:endParaRPr sz="1400" b="1">
              <a:solidFill>
                <a:srgbClr val="232337"/>
              </a:solidFill>
              <a:latin typeface="Aptos"/>
            </a:endParaRPr>
          </a:p>
        </p:txBody>
      </p:sp>
      <p:sp>
        <p:nvSpPr>
          <p:cNvPr id="57" name="Rounded Rectangle 30"/>
          <p:cNvSpPr/>
          <p:nvPr/>
        </p:nvSpPr>
        <p:spPr>
          <a:xfrm>
            <a:off x="8300000" y="5250000"/>
            <a:ext cx="2700000" cy="60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9" name="TextBox 58"/>
          <p:cNvSpPr txBox="1"/>
          <p:nvPr/>
        </p:nvSpPr>
        <p:spPr>
          <a:xfrm>
            <a:off x="8420000" y="5340000"/>
            <a:ext cx="2460001"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Voyager compiles solved workflows into reusable skills</a:t>
            </a:r>
            <a:endParaRPr sz="1400" b="1">
              <a:solidFill>
                <a:srgbClr val="232337"/>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09917" y="266513"/>
            <a:ext cx="10515600" cy="1325563"/>
          </a:xfrm>
        </p:spPr>
        <p:txBody>
          <a:bodyPr/>
          <a:lstStyle/>
          <a:p>
            <a:r>
              <a:rPr lang="en-IN" b="1">
                <a:solidFill>
                  <a:srgbClr val="704EA6"/>
                </a:solidFill>
                <a:latin typeface="+mn-lt"/>
              </a:rPr>
              <a:t>Our Solutions &amp; Architecture Diagram</a:t>
            </a:r>
            <a:endParaRPr lang="en-IN" b="1">
              <a:solidFill>
                <a:srgbClr val="704EA6"/>
              </a:solidFill>
              <a:latin typeface="+mn-lt"/>
            </a:endParaRPr>
          </a:p>
        </p:txBody>
      </p:sp>
      <p:pic>
        <p:nvPicPr>
          <p:cNvPr id="4" name="Picture 3" descr="The diagram illustrates a complex system for managing multi-turn interactions, with components for input processing, various execution models, and output handling, ensuring coherent communication and state management in a conversational AI or dialogue system.&#10;&#10;AI-generated content may be incorrect."/>
          <p:cNvPicPr>
            <a:picLocks noChangeAspect="1"/>
          </p:cNvPicPr>
          <p:nvPr/>
        </p:nvPicPr>
        <p:blipFill>
          <a:blip r:embed="rId1"/>
          <a:stretch>
            <a:fillRect/>
          </a:stretch>
        </p:blipFill>
        <p:spPr>
          <a:xfrm>
            <a:off x="1938528" y="1678686"/>
            <a:ext cx="8186057" cy="411861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solidFill>
                  <a:srgbClr val="704EA6"/>
                </a:solidFill>
                <a:latin typeface="+mn-lt"/>
              </a:rPr>
              <a:t>Demo &amp; Product Walkthrough</a:t>
            </a:r>
            <a:endParaRPr lang="en-IN" b="1">
              <a:solidFill>
                <a:srgbClr val="704EA6"/>
              </a:solidFill>
              <a:latin typeface="+mn-lt"/>
            </a:endParaRPr>
          </a:p>
        </p:txBody>
      </p:sp>
      <p:sp>
        <p:nvSpPr>
          <p:cNvPr id="3" name="Text Box 2"/>
          <p:cNvSpPr txBox="1"/>
          <p:nvPr/>
        </p:nvSpPr>
        <p:spPr>
          <a:xfrm>
            <a:off x="838200" y="2254250"/>
            <a:ext cx="5674360" cy="645160"/>
          </a:xfrm>
          <a:prstGeom prst="rect">
            <a:avLst/>
          </a:prstGeom>
          <a:noFill/>
        </p:spPr>
        <p:txBody>
          <a:bodyPr wrap="square" rtlCol="0">
            <a:spAutoFit/>
          </a:bodyPr>
          <a:p>
            <a:r>
              <a:rPr lang="en-US" b="1" i="1"/>
              <a:t>YOUTUBE LINK FOR DEMO WALKTHROUGH :</a:t>
            </a:r>
            <a:endParaRPr lang="en-US" b="1" i="1"/>
          </a:p>
          <a:p>
            <a:r>
              <a:rPr lang="en-US" altLang="en-US" b="1" i="1"/>
              <a:t>https://youtu.be/15YEf9lTi2c?si=FnWbJ3V_XjJ6Mybw</a:t>
            </a:r>
            <a:endParaRPr lang="en-US" altLang="en-US" b="1"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201" y="318128"/>
            <a:ext cx="10515600" cy="1325563"/>
          </a:xfrm>
        </p:spPr>
        <p:txBody>
          <a:bodyPr/>
          <a:lstStyle/>
          <a:p>
            <a:r>
              <a:rPr lang="en-US" sz="4400" b="1">
                <a:solidFill>
                  <a:srgbClr val="704EA6"/>
                </a:solidFill>
                <a:latin typeface="Calibri" panose="020F0502020204030204" pitchFamily="34" charset="0"/>
                <a:ea typeface="Calibri" panose="020F0502020204030204" pitchFamily="34" charset="-122"/>
                <a:cs typeface="Calibri" panose="020F0502020204030204" pitchFamily="34" charset="-120"/>
              </a:rPr>
              <a:t>Tools and tech stack used</a:t>
            </a:r>
            <a:endParaRPr lang="en-IN" b="1">
              <a:solidFill>
                <a:srgbClr val="704EA6"/>
              </a:solidFill>
            </a:endParaRPr>
          </a:p>
        </p:txBody>
      </p:sp>
      <p:sp>
        <p:nvSpPr>
          <p:cNvPr id="5" name="Rounded Rectangle 3"/>
          <p:cNvSpPr/>
          <p:nvPr/>
        </p:nvSpPr>
        <p:spPr>
          <a:xfrm>
            <a:off x="1074589" y="16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24589" y="17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Desktop</a:t>
            </a:r>
            <a:endParaRPr sz="1200" b="1">
              <a:solidFill>
                <a:srgbClr val="6B3FBE"/>
              </a:solidFill>
              <a:latin typeface="Aptos"/>
            </a:endParaRPr>
          </a:p>
        </p:txBody>
      </p:sp>
      <p:sp>
        <p:nvSpPr>
          <p:cNvPr id="9" name="TextBox 8"/>
          <p:cNvSpPr txBox="1"/>
          <p:nvPr/>
        </p:nvSpPr>
        <p:spPr>
          <a:xfrm>
            <a:off x="2324589" y="16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Electron 35</a:t>
            </a:r>
            <a:endParaRPr sz="1500" b="1">
              <a:solidFill>
                <a:srgbClr val="181837"/>
              </a:solidFill>
              <a:latin typeface="Aptos"/>
            </a:endParaRPr>
          </a:p>
        </p:txBody>
      </p:sp>
      <p:sp>
        <p:nvSpPr>
          <p:cNvPr id="11" name="TextBox 10"/>
          <p:cNvSpPr txBox="1"/>
          <p:nvPr/>
        </p:nvSpPr>
        <p:spPr>
          <a:xfrm>
            <a:off x="2324589" y="1979003"/>
            <a:ext cx="1996059"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Native Windows app shell</a:t>
            </a:r>
            <a:endParaRPr sz="1400" b="0">
              <a:solidFill>
                <a:srgbClr val="69697D"/>
              </a:solidFill>
              <a:latin typeface="Aptos"/>
            </a:endParaRPr>
          </a:p>
        </p:txBody>
      </p:sp>
      <p:sp>
        <p:nvSpPr>
          <p:cNvPr id="13" name="Rounded Rectangle 7"/>
          <p:cNvSpPr/>
          <p:nvPr/>
        </p:nvSpPr>
        <p:spPr>
          <a:xfrm>
            <a:off x="6424589" y="16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4589" y="17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Frontend</a:t>
            </a:r>
            <a:endParaRPr sz="1200" b="1">
              <a:solidFill>
                <a:srgbClr val="6B3FBE"/>
              </a:solidFill>
              <a:latin typeface="Aptos"/>
            </a:endParaRPr>
          </a:p>
        </p:txBody>
      </p:sp>
      <p:sp>
        <p:nvSpPr>
          <p:cNvPr id="17" name="TextBox 16"/>
          <p:cNvSpPr txBox="1"/>
          <p:nvPr/>
        </p:nvSpPr>
        <p:spPr>
          <a:xfrm>
            <a:off x="7674589" y="16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React 19 + Vite 6</a:t>
            </a:r>
            <a:endParaRPr sz="1500" b="1">
              <a:solidFill>
                <a:srgbClr val="181837"/>
              </a:solidFill>
              <a:latin typeface="Aptos"/>
            </a:endParaRPr>
          </a:p>
        </p:txBody>
      </p:sp>
      <p:sp>
        <p:nvSpPr>
          <p:cNvPr id="19" name="TextBox 18"/>
          <p:cNvSpPr txBox="1"/>
          <p:nvPr/>
        </p:nvSpPr>
        <p:spPr>
          <a:xfrm>
            <a:off x="7674589" y="1979003"/>
            <a:ext cx="2509598"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TypeScript UI + real-time cockpit</a:t>
            </a:r>
            <a:endParaRPr sz="1400" b="0">
              <a:solidFill>
                <a:srgbClr val="69697D"/>
              </a:solidFill>
              <a:latin typeface="Aptos"/>
            </a:endParaRPr>
          </a:p>
        </p:txBody>
      </p:sp>
      <p:sp>
        <p:nvSpPr>
          <p:cNvPr id="21" name="Rounded Rectangle 11"/>
          <p:cNvSpPr/>
          <p:nvPr/>
        </p:nvSpPr>
        <p:spPr>
          <a:xfrm>
            <a:off x="1074589" y="25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24589" y="26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Styling</a:t>
            </a:r>
            <a:endParaRPr sz="1200" b="1">
              <a:solidFill>
                <a:srgbClr val="6B3FBE"/>
              </a:solidFill>
              <a:latin typeface="Aptos"/>
            </a:endParaRPr>
          </a:p>
        </p:txBody>
      </p:sp>
      <p:sp>
        <p:nvSpPr>
          <p:cNvPr id="25" name="TextBox 24"/>
          <p:cNvSpPr txBox="1"/>
          <p:nvPr/>
        </p:nvSpPr>
        <p:spPr>
          <a:xfrm>
            <a:off x="2324589" y="25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Tailwind CSS 4</a:t>
            </a:r>
            <a:endParaRPr sz="1500" b="1">
              <a:solidFill>
                <a:srgbClr val="181837"/>
              </a:solidFill>
              <a:latin typeface="Aptos"/>
            </a:endParaRPr>
          </a:p>
        </p:txBody>
      </p:sp>
      <p:sp>
        <p:nvSpPr>
          <p:cNvPr id="27" name="TextBox 26"/>
          <p:cNvSpPr txBox="1"/>
          <p:nvPr/>
        </p:nvSpPr>
        <p:spPr>
          <a:xfrm>
            <a:off x="2324589" y="2879003"/>
            <a:ext cx="2331729"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Dense systems-style interface</a:t>
            </a:r>
            <a:endParaRPr sz="1400" b="0">
              <a:solidFill>
                <a:srgbClr val="69697D"/>
              </a:solidFill>
              <a:latin typeface="Aptos"/>
            </a:endParaRPr>
          </a:p>
        </p:txBody>
      </p:sp>
      <p:sp>
        <p:nvSpPr>
          <p:cNvPr id="29" name="Rounded Rectangle 15"/>
          <p:cNvSpPr/>
          <p:nvPr/>
        </p:nvSpPr>
        <p:spPr>
          <a:xfrm>
            <a:off x="6424589" y="25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74589" y="26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AI</a:t>
            </a:r>
            <a:endParaRPr sz="1200" b="1">
              <a:solidFill>
                <a:srgbClr val="6B3FBE"/>
              </a:solidFill>
              <a:latin typeface="Aptos"/>
            </a:endParaRPr>
          </a:p>
        </p:txBody>
      </p:sp>
      <p:sp>
        <p:nvSpPr>
          <p:cNvPr id="33" name="TextBox 32"/>
          <p:cNvSpPr txBox="1"/>
          <p:nvPr/>
        </p:nvSpPr>
        <p:spPr>
          <a:xfrm>
            <a:off x="7674589" y="25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Google GenAI SDK</a:t>
            </a:r>
            <a:endParaRPr sz="1500" b="1">
              <a:solidFill>
                <a:srgbClr val="181837"/>
              </a:solidFill>
              <a:latin typeface="Aptos"/>
            </a:endParaRPr>
          </a:p>
        </p:txBody>
      </p:sp>
      <p:sp>
        <p:nvSpPr>
          <p:cNvPr id="35" name="TextBox 34"/>
          <p:cNvSpPr txBox="1"/>
          <p:nvPr/>
        </p:nvSpPr>
        <p:spPr>
          <a:xfrm>
            <a:off x="7674589" y="2879003"/>
            <a:ext cx="2220993"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Gemini Live + text generation</a:t>
            </a:r>
            <a:endParaRPr sz="1400" b="0">
              <a:solidFill>
                <a:srgbClr val="69697D"/>
              </a:solidFill>
              <a:latin typeface="Aptos"/>
            </a:endParaRPr>
          </a:p>
        </p:txBody>
      </p:sp>
      <p:sp>
        <p:nvSpPr>
          <p:cNvPr id="37" name="Rounded Rectangle 19"/>
          <p:cNvSpPr/>
          <p:nvPr/>
        </p:nvSpPr>
        <p:spPr>
          <a:xfrm>
            <a:off x="1074589" y="34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24589" y="35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Realtime</a:t>
            </a:r>
            <a:endParaRPr sz="1200" b="1">
              <a:solidFill>
                <a:srgbClr val="6B3FBE"/>
              </a:solidFill>
              <a:latin typeface="Aptos"/>
            </a:endParaRPr>
          </a:p>
        </p:txBody>
      </p:sp>
      <p:sp>
        <p:nvSpPr>
          <p:cNvPr id="41" name="TextBox 40"/>
          <p:cNvSpPr txBox="1"/>
          <p:nvPr/>
        </p:nvSpPr>
        <p:spPr>
          <a:xfrm>
            <a:off x="2324589" y="34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WebSocket / PCM</a:t>
            </a:r>
            <a:endParaRPr sz="1500" b="1">
              <a:solidFill>
                <a:srgbClr val="181837"/>
              </a:solidFill>
              <a:latin typeface="Aptos"/>
            </a:endParaRPr>
          </a:p>
        </p:txBody>
      </p:sp>
      <p:sp>
        <p:nvSpPr>
          <p:cNvPr id="43" name="TextBox 42"/>
          <p:cNvSpPr txBox="1"/>
          <p:nvPr/>
        </p:nvSpPr>
        <p:spPr>
          <a:xfrm>
            <a:off x="2324589" y="3779003"/>
            <a:ext cx="2603790"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Bidirectional 16 kHz audio stream</a:t>
            </a:r>
            <a:endParaRPr sz="1400" b="0">
              <a:solidFill>
                <a:srgbClr val="69697D"/>
              </a:solidFill>
              <a:latin typeface="Aptos"/>
            </a:endParaRPr>
          </a:p>
        </p:txBody>
      </p:sp>
      <p:sp>
        <p:nvSpPr>
          <p:cNvPr id="45" name="Rounded Rectangle 23"/>
          <p:cNvSpPr/>
          <p:nvPr/>
        </p:nvSpPr>
        <p:spPr>
          <a:xfrm>
            <a:off x="6424589" y="34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74589" y="35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Reasoning</a:t>
            </a:r>
            <a:endParaRPr sz="1200" b="1">
              <a:solidFill>
                <a:srgbClr val="6B3FBE"/>
              </a:solidFill>
              <a:latin typeface="Aptos"/>
            </a:endParaRPr>
          </a:p>
        </p:txBody>
      </p:sp>
      <p:sp>
        <p:nvSpPr>
          <p:cNvPr id="49" name="TextBox 48"/>
          <p:cNvSpPr txBox="1"/>
          <p:nvPr/>
        </p:nvSpPr>
        <p:spPr>
          <a:xfrm>
            <a:off x="7674589" y="34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Socratic + multi-agent</a:t>
            </a:r>
            <a:endParaRPr sz="1500" b="1">
              <a:solidFill>
                <a:srgbClr val="181837"/>
              </a:solidFill>
              <a:latin typeface="Aptos"/>
            </a:endParaRPr>
          </a:p>
        </p:txBody>
      </p:sp>
      <p:sp>
        <p:nvSpPr>
          <p:cNvPr id="51" name="TextBox 50"/>
          <p:cNvSpPr txBox="1"/>
          <p:nvPr/>
        </p:nvSpPr>
        <p:spPr>
          <a:xfrm>
            <a:off x="7674589" y="3779003"/>
            <a:ext cx="2328201"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Argument graph + deliberation</a:t>
            </a:r>
            <a:endParaRPr sz="1400" b="0">
              <a:solidFill>
                <a:srgbClr val="69697D"/>
              </a:solidFill>
              <a:latin typeface="Aptos"/>
            </a:endParaRPr>
          </a:p>
        </p:txBody>
      </p:sp>
      <p:sp>
        <p:nvSpPr>
          <p:cNvPr id="53" name="Rounded Rectangle 27"/>
          <p:cNvSpPr/>
          <p:nvPr/>
        </p:nvSpPr>
        <p:spPr>
          <a:xfrm>
            <a:off x="1074589" y="43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24589" y="44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Context</a:t>
            </a:r>
            <a:endParaRPr sz="1200" b="1">
              <a:solidFill>
                <a:srgbClr val="6B3FBE"/>
              </a:solidFill>
              <a:latin typeface="Aptos"/>
            </a:endParaRPr>
          </a:p>
        </p:txBody>
      </p:sp>
      <p:sp>
        <p:nvSpPr>
          <p:cNvPr id="57" name="TextBox 56"/>
          <p:cNvSpPr txBox="1"/>
          <p:nvPr/>
        </p:nvSpPr>
        <p:spPr>
          <a:xfrm>
            <a:off x="2324589" y="43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Screenpipe observer</a:t>
            </a:r>
            <a:endParaRPr sz="1500" b="1">
              <a:solidFill>
                <a:srgbClr val="181837"/>
              </a:solidFill>
              <a:latin typeface="Aptos"/>
            </a:endParaRPr>
          </a:p>
        </p:txBody>
      </p:sp>
      <p:sp>
        <p:nvSpPr>
          <p:cNvPr id="59" name="TextBox 58"/>
          <p:cNvSpPr txBox="1"/>
          <p:nvPr/>
        </p:nvSpPr>
        <p:spPr>
          <a:xfrm>
            <a:off x="2324589" y="4679003"/>
            <a:ext cx="2701381"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OCR/activity-informed intervention</a:t>
            </a:r>
            <a:endParaRPr sz="1400" b="0">
              <a:solidFill>
                <a:srgbClr val="69697D"/>
              </a:solidFill>
              <a:latin typeface="Aptos"/>
            </a:endParaRPr>
          </a:p>
        </p:txBody>
      </p:sp>
      <p:sp>
        <p:nvSpPr>
          <p:cNvPr id="61" name="Rounded Rectangle 31"/>
          <p:cNvSpPr/>
          <p:nvPr/>
        </p:nvSpPr>
        <p:spPr>
          <a:xfrm>
            <a:off x="6424589" y="43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74589" y="44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Memory</a:t>
            </a:r>
            <a:endParaRPr sz="1200" b="1">
              <a:solidFill>
                <a:srgbClr val="6B3FBE"/>
              </a:solidFill>
              <a:latin typeface="Aptos"/>
            </a:endParaRPr>
          </a:p>
        </p:txBody>
      </p:sp>
      <p:sp>
        <p:nvSpPr>
          <p:cNvPr id="65" name="TextBox 64"/>
          <p:cNvSpPr txBox="1"/>
          <p:nvPr/>
        </p:nvSpPr>
        <p:spPr>
          <a:xfrm>
            <a:off x="7674589" y="43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Local Vault</a:t>
            </a:r>
            <a:endParaRPr sz="1500" b="1">
              <a:solidFill>
                <a:srgbClr val="181837"/>
              </a:solidFill>
              <a:latin typeface="Aptos"/>
            </a:endParaRPr>
          </a:p>
        </p:txBody>
      </p:sp>
      <p:sp>
        <p:nvSpPr>
          <p:cNvPr id="67" name="TextBox 66"/>
          <p:cNvSpPr txBox="1"/>
          <p:nvPr/>
        </p:nvSpPr>
        <p:spPr>
          <a:xfrm>
            <a:off x="7674589" y="4679003"/>
            <a:ext cx="2719334"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Session memory + skill persistence</a:t>
            </a:r>
            <a:endParaRPr sz="1400" b="0">
              <a:solidFill>
                <a:srgbClr val="69697D"/>
              </a:solidFill>
              <a:latin typeface="Aptos"/>
            </a:endParaRPr>
          </a:p>
        </p:txBody>
      </p:sp>
      <p:sp>
        <p:nvSpPr>
          <p:cNvPr id="69" name="Rounded Rectangle 35"/>
          <p:cNvSpPr/>
          <p:nvPr/>
        </p:nvSpPr>
        <p:spPr>
          <a:xfrm>
            <a:off x="1074589" y="5219003"/>
            <a:ext cx="4650000" cy="76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24589" y="5314003"/>
            <a:ext cx="1150000" cy="260000"/>
          </a:xfrm>
          <a:prstGeom prst="rect">
            <a:avLst/>
          </a:prstGeom>
          <a:noFill/>
        </p:spPr>
        <p:txBody>
          <a:bodyPr wrap="none" lIns="0" tIns="0" rIns="0" bIns="0" anchor="t">
            <a:spAutoFit/>
          </a:bodyPr>
          <a:lstStyle/>
          <a:p>
            <a:pPr algn="l">
              <a:lnSpc>
                <a:spcPct val="105000"/>
              </a:lnSpc>
            </a:pPr>
            <a:r>
              <a:rPr sz="1200" b="1">
                <a:solidFill>
                  <a:srgbClr val="6B3FBE"/>
                </a:solidFill>
                <a:latin typeface="Aptos"/>
              </a:rPr>
              <a:t>Integration</a:t>
            </a:r>
            <a:endParaRPr sz="1200" b="1">
              <a:solidFill>
                <a:srgbClr val="6B3FBE"/>
              </a:solidFill>
              <a:latin typeface="Aptos"/>
            </a:endParaRPr>
          </a:p>
        </p:txBody>
      </p:sp>
      <p:sp>
        <p:nvSpPr>
          <p:cNvPr id="73" name="TextBox 72"/>
          <p:cNvSpPr txBox="1"/>
          <p:nvPr/>
        </p:nvSpPr>
        <p:spPr>
          <a:xfrm>
            <a:off x="2324589" y="5299003"/>
            <a:ext cx="3200000" cy="27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Google Workspace</a:t>
            </a:r>
            <a:endParaRPr sz="1500" b="1">
              <a:solidFill>
                <a:srgbClr val="181837"/>
              </a:solidFill>
              <a:latin typeface="Aptos"/>
            </a:endParaRPr>
          </a:p>
        </p:txBody>
      </p:sp>
      <p:sp>
        <p:nvSpPr>
          <p:cNvPr id="75" name="TextBox 74"/>
          <p:cNvSpPr txBox="1"/>
          <p:nvPr/>
        </p:nvSpPr>
        <p:spPr>
          <a:xfrm>
            <a:off x="2324589" y="5579003"/>
            <a:ext cx="2359172" cy="219419"/>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Gmail, Drive &amp; Tasks via OAuth</a:t>
            </a:r>
            <a:endParaRPr sz="1400" b="0">
              <a:solidFill>
                <a:srgbClr val="69697D"/>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7386"/>
            <a:ext cx="10515600" cy="1325563"/>
          </a:xfrm>
        </p:spPr>
        <p:txBody>
          <a:bodyPr/>
          <a:lstStyle/>
          <a:p>
            <a:r>
              <a:rPr lang="en-US" sz="4400" b="1">
                <a:solidFill>
                  <a:srgbClr val="704EA6"/>
                </a:solidFill>
                <a:latin typeface="Calibri" panose="020F0502020204030204" pitchFamily="34" charset="0"/>
                <a:ea typeface="Calibri" panose="020F0502020204030204" pitchFamily="34" charset="-122"/>
                <a:cs typeface="Calibri" panose="020F0502020204030204" pitchFamily="34" charset="-120"/>
              </a:rPr>
              <a:t>Impact &amp; Use case</a:t>
            </a:r>
            <a:endParaRPr lang="en-IN" b="1">
              <a:solidFill>
                <a:srgbClr val="704EA6"/>
              </a:solidFill>
            </a:endParaRPr>
          </a:p>
        </p:txBody>
      </p:sp>
      <p:sp>
        <p:nvSpPr>
          <p:cNvPr id="5" name="TextBox 4"/>
          <p:cNvSpPr txBox="1"/>
          <p:nvPr/>
        </p:nvSpPr>
        <p:spPr>
          <a:xfrm>
            <a:off x="838200" y="1315750"/>
            <a:ext cx="2165684" cy="374398"/>
          </a:xfrm>
          <a:prstGeom prst="rect">
            <a:avLst/>
          </a:prstGeom>
          <a:noFill/>
        </p:spPr>
        <p:txBody>
          <a:bodyPr wrap="square">
            <a:spAutoFit/>
          </a:bodyPr>
          <a:lstStyle/>
          <a:p>
            <a:pPr algn="l">
              <a:lnSpc>
                <a:spcPct val="105000"/>
              </a:lnSpc>
            </a:pPr>
            <a:r>
              <a:rPr lang="en-IN" b="1">
                <a:solidFill>
                  <a:srgbClr val="F05332"/>
                </a:solidFill>
                <a:latin typeface="Aptos"/>
              </a:rPr>
              <a:t>WHY IT MATTERS</a:t>
            </a:r>
            <a:endParaRPr lang="en-IN" b="1">
              <a:solidFill>
                <a:srgbClr val="F05332"/>
              </a:solidFill>
              <a:latin typeface="Aptos"/>
            </a:endParaRPr>
          </a:p>
        </p:txBody>
      </p:sp>
      <p:sp>
        <p:nvSpPr>
          <p:cNvPr id="7" name="Rounded Rectangle 3"/>
          <p:cNvSpPr/>
          <p:nvPr/>
        </p:nvSpPr>
        <p:spPr>
          <a:xfrm>
            <a:off x="787884" y="1896500"/>
            <a:ext cx="4700000" cy="395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284" y="2723244"/>
            <a:ext cx="4216116" cy="2823850"/>
          </a:xfrm>
          <a:prstGeom prst="rect">
            <a:avLst/>
          </a:prstGeom>
          <a:noFill/>
        </p:spPr>
        <p:txBody>
          <a:bodyPr wrap="square" lIns="0" rIns="0">
            <a:spAutoFit/>
          </a:bodyPr>
          <a:lstStyle/>
          <a:p>
            <a:pPr>
              <a:spcAft>
                <a:spcPts val="700"/>
              </a:spcAft>
              <a:defRPr sz="1500">
                <a:solidFill>
                  <a:srgbClr val="232337"/>
                </a:solidFill>
                <a:latin typeface="Aptos"/>
              </a:defRPr>
            </a:pPr>
            <a:r>
              <a:rPr sz="2000"/>
              <a:t>• Coding copilot that notices repeated errors or stagnation.</a:t>
            </a:r>
            <a:endParaRPr sz="2000"/>
          </a:p>
          <a:p>
            <a:pPr>
              <a:spcAft>
                <a:spcPts val="700"/>
              </a:spcAft>
              <a:defRPr sz="1500">
                <a:solidFill>
                  <a:srgbClr val="232337"/>
                </a:solidFill>
                <a:latin typeface="Aptos"/>
              </a:defRPr>
            </a:pPr>
            <a:r>
              <a:rPr sz="2000"/>
              <a:t>• Study partner that turns documents into guided Socratic learning.</a:t>
            </a:r>
            <a:endParaRPr sz="2000"/>
          </a:p>
          <a:p>
            <a:pPr>
              <a:spcAft>
                <a:spcPts val="700"/>
              </a:spcAft>
              <a:defRPr sz="1500">
                <a:solidFill>
                  <a:srgbClr val="232337"/>
                </a:solidFill>
                <a:latin typeface="Aptos"/>
              </a:defRPr>
            </a:pPr>
            <a:r>
              <a:rPr sz="2000"/>
              <a:t>• Research companion that keeps context while goals evolve.</a:t>
            </a:r>
            <a:endParaRPr sz="2000"/>
          </a:p>
          <a:p>
            <a:pPr>
              <a:spcAft>
                <a:spcPts val="700"/>
              </a:spcAft>
              <a:defRPr sz="1500">
                <a:solidFill>
                  <a:srgbClr val="232337"/>
                </a:solidFill>
                <a:latin typeface="Aptos"/>
              </a:defRPr>
            </a:pPr>
            <a:r>
              <a:rPr sz="2000"/>
              <a:t>• Desktop assistant that connects conversation to local workflows.</a:t>
            </a:r>
            <a:endParaRPr sz="2000"/>
          </a:p>
        </p:txBody>
      </p:sp>
      <p:sp>
        <p:nvSpPr>
          <p:cNvPr id="15" name="Rounded Rectangle 7"/>
          <p:cNvSpPr/>
          <p:nvPr/>
        </p:nvSpPr>
        <p:spPr>
          <a:xfrm>
            <a:off x="6754116" y="1925850"/>
            <a:ext cx="4650000" cy="395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91874" y="2274967"/>
            <a:ext cx="1286300" cy="313419"/>
          </a:xfrm>
          <a:prstGeom prst="rect">
            <a:avLst/>
          </a:prstGeom>
          <a:noFill/>
        </p:spPr>
        <p:txBody>
          <a:bodyPr wrap="square" lIns="0" tIns="0" rIns="0" bIns="0" anchor="t">
            <a:spAutoFit/>
          </a:bodyPr>
          <a:lstStyle/>
          <a:p>
            <a:pPr algn="l">
              <a:lnSpc>
                <a:spcPct val="105000"/>
              </a:lnSpc>
            </a:pPr>
            <a:r>
              <a:rPr sz="2000" b="1">
                <a:solidFill>
                  <a:srgbClr val="1CB8C2"/>
                </a:solidFill>
                <a:latin typeface="Aptos"/>
              </a:rPr>
              <a:t>User value</a:t>
            </a:r>
            <a:endParaRPr sz="2000" b="1">
              <a:solidFill>
                <a:srgbClr val="1CB8C2"/>
              </a:solidFill>
              <a:latin typeface="Aptos"/>
            </a:endParaRPr>
          </a:p>
        </p:txBody>
      </p:sp>
      <p:sp>
        <p:nvSpPr>
          <p:cNvPr id="21" name="TextBox 20"/>
          <p:cNvSpPr txBox="1"/>
          <p:nvPr/>
        </p:nvSpPr>
        <p:spPr>
          <a:xfrm>
            <a:off x="7014116" y="2702312"/>
            <a:ext cx="4390000" cy="2823850"/>
          </a:xfrm>
          <a:prstGeom prst="rect">
            <a:avLst/>
          </a:prstGeom>
          <a:noFill/>
        </p:spPr>
        <p:txBody>
          <a:bodyPr wrap="square" lIns="0" rIns="0">
            <a:spAutoFit/>
          </a:bodyPr>
          <a:lstStyle/>
          <a:p>
            <a:pPr>
              <a:spcAft>
                <a:spcPts val="700"/>
              </a:spcAft>
              <a:defRPr sz="1500">
                <a:solidFill>
                  <a:srgbClr val="232337"/>
                </a:solidFill>
                <a:latin typeface="Aptos"/>
              </a:defRPr>
            </a:pPr>
            <a:r>
              <a:rPr sz="2000"/>
              <a:t>• Less conversational friction during natural speech.</a:t>
            </a:r>
            <a:endParaRPr sz="2000"/>
          </a:p>
          <a:p>
            <a:pPr>
              <a:spcAft>
                <a:spcPts val="700"/>
              </a:spcAft>
              <a:defRPr sz="1500">
                <a:solidFill>
                  <a:srgbClr val="232337"/>
                </a:solidFill>
                <a:latin typeface="Aptos"/>
              </a:defRPr>
            </a:pPr>
            <a:r>
              <a:rPr sz="2000"/>
              <a:t>• No hard reset when an interruption changes the goal.</a:t>
            </a:r>
            <a:endParaRPr sz="2000"/>
          </a:p>
          <a:p>
            <a:pPr>
              <a:spcAft>
                <a:spcPts val="700"/>
              </a:spcAft>
              <a:defRPr sz="1500">
                <a:solidFill>
                  <a:srgbClr val="232337"/>
                </a:solidFill>
                <a:latin typeface="Aptos"/>
              </a:defRPr>
            </a:pPr>
            <a:r>
              <a:rPr sz="2000"/>
              <a:t>• Context is retained within the session and local Vault.</a:t>
            </a:r>
            <a:endParaRPr sz="2000"/>
          </a:p>
          <a:p>
            <a:pPr>
              <a:spcAft>
                <a:spcPts val="700"/>
              </a:spcAft>
              <a:defRPr sz="1500">
                <a:solidFill>
                  <a:srgbClr val="232337"/>
                </a:solidFill>
                <a:latin typeface="Aptos"/>
              </a:defRPr>
            </a:pPr>
            <a:r>
              <a:rPr sz="2000"/>
              <a:t>• Resolved tasks can become reusable skills instead of one-off answers.</a:t>
            </a:r>
            <a:endParaRPr sz="2000"/>
          </a:p>
        </p:txBody>
      </p:sp>
      <p:sp>
        <p:nvSpPr>
          <p:cNvPr id="23" name="Rounded Rectangle 11"/>
          <p:cNvSpPr/>
          <p:nvPr/>
        </p:nvSpPr>
        <p:spPr>
          <a:xfrm>
            <a:off x="838655" y="6033949"/>
            <a:ext cx="9760000" cy="600000"/>
          </a:xfrm>
          <a:prstGeom prst="roundRect">
            <a:avLst/>
          </a:prstGeom>
          <a:solidFill>
            <a:srgbClr val="F7F7FC"/>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0000" y="6205850"/>
            <a:ext cx="9260000" cy="270000"/>
          </a:xfrm>
          <a:prstGeom prst="rect">
            <a:avLst/>
          </a:prstGeom>
          <a:noFill/>
        </p:spPr>
        <p:txBody>
          <a:bodyPr wrap="none" lIns="0" tIns="0" rIns="0" bIns="0" anchor="t">
            <a:spAutoFit/>
          </a:bodyPr>
          <a:lstStyle/>
          <a:p>
            <a:pPr algn="ctr">
              <a:lnSpc>
                <a:spcPct val="105000"/>
              </a:lnSpc>
            </a:pPr>
            <a:r>
              <a:rPr sz="1400" b="1">
                <a:solidFill>
                  <a:srgbClr val="181837"/>
                </a:solidFill>
                <a:latin typeface="Aptos"/>
              </a:rPr>
              <a:t>Design principle: the agent should yield instantly, remember what matters, and continue from the user's new intent.</a:t>
            </a:r>
            <a:endParaRPr sz="1400" b="1">
              <a:solidFill>
                <a:srgbClr val="181837"/>
              </a:solidFill>
              <a:latin typeface="Aptos"/>
            </a:endParaRPr>
          </a:p>
        </p:txBody>
      </p:sp>
      <p:sp>
        <p:nvSpPr>
          <p:cNvPr id="9" name="TextBox 8"/>
          <p:cNvSpPr txBox="1"/>
          <p:nvPr/>
        </p:nvSpPr>
        <p:spPr>
          <a:xfrm>
            <a:off x="1321304" y="2280000"/>
            <a:ext cx="2488053" cy="313419"/>
          </a:xfrm>
          <a:prstGeom prst="rect">
            <a:avLst/>
          </a:prstGeom>
          <a:noFill/>
        </p:spPr>
        <p:txBody>
          <a:bodyPr wrap="none" lIns="0" tIns="0" rIns="0" bIns="0" anchor="t">
            <a:spAutoFit/>
          </a:bodyPr>
          <a:lstStyle/>
          <a:p>
            <a:pPr algn="l">
              <a:lnSpc>
                <a:spcPct val="105000"/>
              </a:lnSpc>
            </a:pPr>
            <a:r>
              <a:rPr sz="2000" b="1">
                <a:solidFill>
                  <a:srgbClr val="6B3FBE"/>
                </a:solidFill>
                <a:latin typeface="Aptos"/>
              </a:rPr>
              <a:t>Real-world use cases</a:t>
            </a:r>
            <a:endParaRPr sz="2000" b="1">
              <a:solidFill>
                <a:srgbClr val="6B3FBE"/>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896" y="254690"/>
            <a:ext cx="10515600" cy="1325563"/>
          </a:xfrm>
        </p:spPr>
        <p:txBody>
          <a:bodyPr/>
          <a:lstStyle/>
          <a:p>
            <a:pPr>
              <a:spcAft>
                <a:spcPts val="500"/>
              </a:spcAft>
              <a:buSzPct val="100000"/>
            </a:pPr>
            <a:r>
              <a:rPr lang="en-US" sz="4400" b="1">
                <a:solidFill>
                  <a:srgbClr val="704EA6"/>
                </a:solidFill>
                <a:latin typeface="Calibri" panose="020F0502020204030204" pitchFamily="34" charset="0"/>
                <a:ea typeface="Calibri" panose="020F0502020204030204" pitchFamily="34" charset="-122"/>
                <a:cs typeface="Calibri" panose="020F0502020204030204" pitchFamily="34" charset="-120"/>
              </a:rPr>
              <a:t>Innovation highlights, results and limitations</a:t>
            </a:r>
            <a:endParaRPr lang="en-US" sz="4400" b="1">
              <a:solidFill>
                <a:srgbClr val="704EA6"/>
              </a:solidFill>
            </a:endParaRPr>
          </a:p>
        </p:txBody>
      </p:sp>
      <p:sp>
        <p:nvSpPr>
          <p:cNvPr id="5" name="Rounded Rectangle 3"/>
          <p:cNvSpPr/>
          <p:nvPr/>
        </p:nvSpPr>
        <p:spPr>
          <a:xfrm>
            <a:off x="765246" y="1521536"/>
            <a:ext cx="1000000" cy="620000"/>
          </a:xfrm>
          <a:prstGeom prst="roundRect">
            <a:avLst/>
          </a:prstGeom>
          <a:solidFill>
            <a:srgbClr val="6B3FBE"/>
          </a:solidFill>
          <a:ln w="12700">
            <a:solidFill>
              <a:srgbClr val="6B3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5246" y="1661536"/>
            <a:ext cx="1000000" cy="250000"/>
          </a:xfrm>
          <a:prstGeom prst="rect">
            <a:avLst/>
          </a:prstGeom>
          <a:noFill/>
        </p:spPr>
        <p:txBody>
          <a:bodyPr wrap="none" lIns="0" tIns="0" rIns="0" bIns="0" anchor="t">
            <a:spAutoFit/>
          </a:bodyPr>
          <a:lstStyle/>
          <a:p>
            <a:pPr algn="ctr">
              <a:lnSpc>
                <a:spcPct val="105000"/>
              </a:lnSpc>
            </a:pPr>
            <a:r>
              <a:rPr sz="1500" b="1">
                <a:solidFill>
                  <a:srgbClr val="FFFFFF"/>
                </a:solidFill>
                <a:latin typeface="Aptos"/>
              </a:rPr>
              <a:t>01</a:t>
            </a:r>
            <a:endParaRPr sz="1500" b="1">
              <a:solidFill>
                <a:srgbClr val="FFFFFF"/>
              </a:solidFill>
              <a:latin typeface="Aptos"/>
            </a:endParaRPr>
          </a:p>
        </p:txBody>
      </p:sp>
      <p:sp>
        <p:nvSpPr>
          <p:cNvPr id="9" name="TextBox 8"/>
          <p:cNvSpPr txBox="1"/>
          <p:nvPr/>
        </p:nvSpPr>
        <p:spPr>
          <a:xfrm>
            <a:off x="1915246" y="1581536"/>
            <a:ext cx="2650000" cy="28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Interruptibility</a:t>
            </a:r>
            <a:endParaRPr sz="1500" b="1">
              <a:solidFill>
                <a:srgbClr val="181837"/>
              </a:solidFill>
              <a:latin typeface="Aptos"/>
            </a:endParaRPr>
          </a:p>
        </p:txBody>
      </p:sp>
      <p:sp>
        <p:nvSpPr>
          <p:cNvPr id="11" name="TextBox 10"/>
          <p:cNvSpPr txBox="1"/>
          <p:nvPr/>
        </p:nvSpPr>
        <p:spPr>
          <a:xfrm>
            <a:off x="4665246" y="1566536"/>
            <a:ext cx="7125701" cy="509307"/>
          </a:xfrm>
          <a:prstGeom prst="rect">
            <a:avLst/>
          </a:prstGeom>
          <a:noFill/>
        </p:spPr>
        <p:txBody>
          <a:bodyPr wrap="square" lIns="0" tIns="0" rIns="0" bIns="0" anchor="t">
            <a:spAutoFit/>
          </a:bodyPr>
          <a:lstStyle/>
          <a:p>
            <a:pPr algn="l">
              <a:lnSpc>
                <a:spcPct val="105000"/>
              </a:lnSpc>
            </a:pPr>
            <a:r>
              <a:rPr sz="1600" b="0">
                <a:solidFill>
                  <a:srgbClr val="232337"/>
                </a:solidFill>
                <a:latin typeface="Aptos"/>
              </a:rPr>
              <a:t>Gemini Live session forwards audio in both directions and exposes an interrupted event to the UI.</a:t>
            </a:r>
            <a:endParaRPr sz="1600" b="0">
              <a:solidFill>
                <a:srgbClr val="232337"/>
              </a:solidFill>
              <a:latin typeface="Aptos"/>
            </a:endParaRPr>
          </a:p>
        </p:txBody>
      </p:sp>
      <p:sp>
        <p:nvSpPr>
          <p:cNvPr id="13" name="Rounded Rectangle 7"/>
          <p:cNvSpPr/>
          <p:nvPr/>
        </p:nvSpPr>
        <p:spPr>
          <a:xfrm>
            <a:off x="765246" y="2331536"/>
            <a:ext cx="1000000" cy="620000"/>
          </a:xfrm>
          <a:prstGeom prst="roundRect">
            <a:avLst/>
          </a:prstGeom>
          <a:solidFill>
            <a:srgbClr val="1CB8C2"/>
          </a:solidFill>
          <a:ln w="12700">
            <a:solidFill>
              <a:srgbClr val="1CB8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246" y="2471536"/>
            <a:ext cx="1000000" cy="250000"/>
          </a:xfrm>
          <a:prstGeom prst="rect">
            <a:avLst/>
          </a:prstGeom>
          <a:noFill/>
        </p:spPr>
        <p:txBody>
          <a:bodyPr wrap="none" lIns="0" tIns="0" rIns="0" bIns="0" anchor="t">
            <a:spAutoFit/>
          </a:bodyPr>
          <a:lstStyle/>
          <a:p>
            <a:pPr algn="ctr">
              <a:lnSpc>
                <a:spcPct val="105000"/>
              </a:lnSpc>
            </a:pPr>
            <a:r>
              <a:rPr sz="1500" b="1">
                <a:solidFill>
                  <a:srgbClr val="FFFFFF"/>
                </a:solidFill>
                <a:latin typeface="Aptos"/>
              </a:rPr>
              <a:t>02</a:t>
            </a:r>
            <a:endParaRPr sz="1500" b="1">
              <a:solidFill>
                <a:srgbClr val="FFFFFF"/>
              </a:solidFill>
              <a:latin typeface="Aptos"/>
            </a:endParaRPr>
          </a:p>
        </p:txBody>
      </p:sp>
      <p:sp>
        <p:nvSpPr>
          <p:cNvPr id="17" name="TextBox 16"/>
          <p:cNvSpPr txBox="1"/>
          <p:nvPr/>
        </p:nvSpPr>
        <p:spPr>
          <a:xfrm>
            <a:off x="1915246" y="2391536"/>
            <a:ext cx="2650000" cy="28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Resilience</a:t>
            </a:r>
            <a:endParaRPr sz="1500" b="1">
              <a:solidFill>
                <a:srgbClr val="181837"/>
              </a:solidFill>
              <a:latin typeface="Aptos"/>
            </a:endParaRPr>
          </a:p>
        </p:txBody>
      </p:sp>
      <p:sp>
        <p:nvSpPr>
          <p:cNvPr id="19" name="TextBox 18"/>
          <p:cNvSpPr txBox="1"/>
          <p:nvPr/>
        </p:nvSpPr>
        <p:spPr>
          <a:xfrm>
            <a:off x="4665246" y="2376536"/>
            <a:ext cx="7236083" cy="250774"/>
          </a:xfrm>
          <a:prstGeom prst="rect">
            <a:avLst/>
          </a:prstGeom>
          <a:noFill/>
        </p:spPr>
        <p:txBody>
          <a:bodyPr wrap="none" lIns="0" tIns="0" rIns="0" bIns="0" anchor="t">
            <a:spAutoFit/>
          </a:bodyPr>
          <a:lstStyle/>
          <a:p>
            <a:pPr algn="l">
              <a:lnSpc>
                <a:spcPct val="105000"/>
              </a:lnSpc>
            </a:pPr>
            <a:r>
              <a:rPr sz="1600" b="0">
                <a:latin typeface="Aptos"/>
              </a:rPr>
              <a:t>Fallback model cascade and offline responses reduce abrupt conversation failure.</a:t>
            </a:r>
            <a:endParaRPr sz="1600" b="0">
              <a:latin typeface="Aptos"/>
            </a:endParaRPr>
          </a:p>
        </p:txBody>
      </p:sp>
      <p:sp>
        <p:nvSpPr>
          <p:cNvPr id="21" name="Rounded Rectangle 11"/>
          <p:cNvSpPr/>
          <p:nvPr/>
        </p:nvSpPr>
        <p:spPr>
          <a:xfrm>
            <a:off x="765246" y="3141536"/>
            <a:ext cx="1000000" cy="620000"/>
          </a:xfrm>
          <a:prstGeom prst="roundRect">
            <a:avLst/>
          </a:prstGeom>
          <a:solidFill>
            <a:srgbClr val="6B3FBE"/>
          </a:solidFill>
          <a:ln w="12700">
            <a:solidFill>
              <a:srgbClr val="6B3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246" y="3281536"/>
            <a:ext cx="1000000" cy="250000"/>
          </a:xfrm>
          <a:prstGeom prst="rect">
            <a:avLst/>
          </a:prstGeom>
          <a:noFill/>
        </p:spPr>
        <p:txBody>
          <a:bodyPr wrap="none" lIns="0" tIns="0" rIns="0" bIns="0" anchor="t">
            <a:spAutoFit/>
          </a:bodyPr>
          <a:lstStyle/>
          <a:p>
            <a:pPr algn="ctr">
              <a:lnSpc>
                <a:spcPct val="105000"/>
              </a:lnSpc>
            </a:pPr>
            <a:r>
              <a:rPr sz="1500" b="1">
                <a:solidFill>
                  <a:srgbClr val="FFFFFF"/>
                </a:solidFill>
                <a:latin typeface="Aptos"/>
              </a:rPr>
              <a:t>03</a:t>
            </a:r>
            <a:endParaRPr sz="1500" b="1">
              <a:solidFill>
                <a:srgbClr val="FFFFFF"/>
              </a:solidFill>
              <a:latin typeface="Aptos"/>
            </a:endParaRPr>
          </a:p>
        </p:txBody>
      </p:sp>
      <p:sp>
        <p:nvSpPr>
          <p:cNvPr id="25" name="TextBox 24"/>
          <p:cNvSpPr txBox="1"/>
          <p:nvPr/>
        </p:nvSpPr>
        <p:spPr>
          <a:xfrm>
            <a:off x="1915246" y="3201536"/>
            <a:ext cx="2650000" cy="28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Context awareness</a:t>
            </a:r>
            <a:endParaRPr sz="1500" b="1">
              <a:solidFill>
                <a:srgbClr val="181837"/>
              </a:solidFill>
              <a:latin typeface="Aptos"/>
            </a:endParaRPr>
          </a:p>
        </p:txBody>
      </p:sp>
      <p:sp>
        <p:nvSpPr>
          <p:cNvPr id="27" name="TextBox 26"/>
          <p:cNvSpPr txBox="1"/>
          <p:nvPr/>
        </p:nvSpPr>
        <p:spPr>
          <a:xfrm>
            <a:off x="4665246" y="3186536"/>
            <a:ext cx="7236083" cy="509307"/>
          </a:xfrm>
          <a:prstGeom prst="rect">
            <a:avLst/>
          </a:prstGeom>
          <a:noFill/>
        </p:spPr>
        <p:txBody>
          <a:bodyPr wrap="square" lIns="0" tIns="0" rIns="0" bIns="0" anchor="t">
            <a:spAutoFit/>
          </a:bodyPr>
          <a:lstStyle/>
          <a:p>
            <a:pPr algn="l">
              <a:lnSpc>
                <a:spcPct val="105000"/>
              </a:lnSpc>
            </a:pPr>
            <a:r>
              <a:rPr sz="1600" b="0" err="1">
                <a:solidFill>
                  <a:srgbClr val="232337"/>
                </a:solidFill>
                <a:latin typeface="Aptos"/>
              </a:rPr>
              <a:t>Screenpipe</a:t>
            </a:r>
            <a:r>
              <a:rPr sz="1600" b="0">
                <a:solidFill>
                  <a:srgbClr val="232337"/>
                </a:solidFill>
                <a:latin typeface="Aptos"/>
              </a:rPr>
              <a:t> supervisor can trigger proactive intervention from stagnation/error signals.</a:t>
            </a:r>
            <a:endParaRPr sz="1600" b="0">
              <a:solidFill>
                <a:srgbClr val="232337"/>
              </a:solidFill>
              <a:latin typeface="Aptos"/>
            </a:endParaRPr>
          </a:p>
        </p:txBody>
      </p:sp>
      <p:sp>
        <p:nvSpPr>
          <p:cNvPr id="29" name="Rounded Rectangle 15"/>
          <p:cNvSpPr/>
          <p:nvPr/>
        </p:nvSpPr>
        <p:spPr>
          <a:xfrm>
            <a:off x="765246" y="3951536"/>
            <a:ext cx="1000000" cy="620000"/>
          </a:xfrm>
          <a:prstGeom prst="roundRect">
            <a:avLst/>
          </a:prstGeom>
          <a:solidFill>
            <a:srgbClr val="1CB8C2"/>
          </a:solidFill>
          <a:ln w="12700">
            <a:solidFill>
              <a:srgbClr val="1CB8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5246" y="4091536"/>
            <a:ext cx="1000000" cy="250000"/>
          </a:xfrm>
          <a:prstGeom prst="rect">
            <a:avLst/>
          </a:prstGeom>
          <a:noFill/>
        </p:spPr>
        <p:txBody>
          <a:bodyPr wrap="none" lIns="0" tIns="0" rIns="0" bIns="0" anchor="t">
            <a:spAutoFit/>
          </a:bodyPr>
          <a:lstStyle/>
          <a:p>
            <a:pPr algn="ctr">
              <a:lnSpc>
                <a:spcPct val="105000"/>
              </a:lnSpc>
            </a:pPr>
            <a:r>
              <a:rPr sz="1500" b="1">
                <a:solidFill>
                  <a:srgbClr val="FFFFFF"/>
                </a:solidFill>
                <a:latin typeface="Aptos"/>
              </a:rPr>
              <a:t>04</a:t>
            </a:r>
            <a:endParaRPr sz="1500" b="1">
              <a:solidFill>
                <a:srgbClr val="FFFFFF"/>
              </a:solidFill>
              <a:latin typeface="Aptos"/>
            </a:endParaRPr>
          </a:p>
        </p:txBody>
      </p:sp>
      <p:sp>
        <p:nvSpPr>
          <p:cNvPr id="33" name="TextBox 32"/>
          <p:cNvSpPr txBox="1"/>
          <p:nvPr/>
        </p:nvSpPr>
        <p:spPr>
          <a:xfrm>
            <a:off x="1915246" y="4011536"/>
            <a:ext cx="2650000" cy="28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Reasoning depth</a:t>
            </a:r>
            <a:endParaRPr sz="1500" b="1">
              <a:solidFill>
                <a:srgbClr val="181837"/>
              </a:solidFill>
              <a:latin typeface="Aptos"/>
            </a:endParaRPr>
          </a:p>
        </p:txBody>
      </p:sp>
      <p:sp>
        <p:nvSpPr>
          <p:cNvPr id="35" name="TextBox 34"/>
          <p:cNvSpPr txBox="1"/>
          <p:nvPr/>
        </p:nvSpPr>
        <p:spPr>
          <a:xfrm>
            <a:off x="4665246" y="4016284"/>
            <a:ext cx="6028421" cy="509307"/>
          </a:xfrm>
          <a:prstGeom prst="rect">
            <a:avLst/>
          </a:prstGeom>
          <a:noFill/>
        </p:spPr>
        <p:txBody>
          <a:bodyPr wrap="square" lIns="0" tIns="0" rIns="0" bIns="0" anchor="t">
            <a:spAutoFit/>
          </a:bodyPr>
          <a:lstStyle/>
          <a:p>
            <a:pPr algn="l">
              <a:lnSpc>
                <a:spcPct val="105000"/>
              </a:lnSpc>
            </a:pPr>
            <a:r>
              <a:rPr sz="1600" b="0">
                <a:solidFill>
                  <a:srgbClr val="232337"/>
                </a:solidFill>
                <a:latin typeface="Aptos"/>
              </a:rPr>
              <a:t>Socratic graph + Teacher–Critic–Student deliberation separate analysis from the spoken answer.</a:t>
            </a:r>
            <a:endParaRPr sz="1600" b="0">
              <a:solidFill>
                <a:srgbClr val="232337"/>
              </a:solidFill>
              <a:latin typeface="Aptos"/>
            </a:endParaRPr>
          </a:p>
        </p:txBody>
      </p:sp>
      <p:sp>
        <p:nvSpPr>
          <p:cNvPr id="37" name="Rounded Rectangle 19"/>
          <p:cNvSpPr/>
          <p:nvPr/>
        </p:nvSpPr>
        <p:spPr>
          <a:xfrm>
            <a:off x="765246" y="4761536"/>
            <a:ext cx="1000000" cy="620000"/>
          </a:xfrm>
          <a:prstGeom prst="roundRect">
            <a:avLst/>
          </a:prstGeom>
          <a:solidFill>
            <a:srgbClr val="6B3FBE"/>
          </a:solidFill>
          <a:ln w="12700">
            <a:solidFill>
              <a:srgbClr val="6B3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5246" y="4901536"/>
            <a:ext cx="1000000" cy="250000"/>
          </a:xfrm>
          <a:prstGeom prst="rect">
            <a:avLst/>
          </a:prstGeom>
          <a:noFill/>
        </p:spPr>
        <p:txBody>
          <a:bodyPr wrap="none" lIns="0" tIns="0" rIns="0" bIns="0" anchor="t">
            <a:spAutoFit/>
          </a:bodyPr>
          <a:lstStyle/>
          <a:p>
            <a:pPr algn="ctr">
              <a:lnSpc>
                <a:spcPct val="105000"/>
              </a:lnSpc>
            </a:pPr>
            <a:r>
              <a:rPr sz="1500" b="1">
                <a:solidFill>
                  <a:srgbClr val="FFFFFF"/>
                </a:solidFill>
                <a:latin typeface="Aptos"/>
              </a:rPr>
              <a:t>05</a:t>
            </a:r>
            <a:endParaRPr sz="1500" b="1">
              <a:solidFill>
                <a:srgbClr val="FFFFFF"/>
              </a:solidFill>
              <a:latin typeface="Aptos"/>
            </a:endParaRPr>
          </a:p>
        </p:txBody>
      </p:sp>
      <p:sp>
        <p:nvSpPr>
          <p:cNvPr id="41" name="TextBox 40"/>
          <p:cNvSpPr txBox="1"/>
          <p:nvPr/>
        </p:nvSpPr>
        <p:spPr>
          <a:xfrm>
            <a:off x="1915246" y="4821536"/>
            <a:ext cx="2650000" cy="280000"/>
          </a:xfrm>
          <a:prstGeom prst="rect">
            <a:avLst/>
          </a:prstGeom>
          <a:noFill/>
        </p:spPr>
        <p:txBody>
          <a:bodyPr wrap="none" lIns="0" tIns="0" rIns="0" bIns="0" anchor="t">
            <a:spAutoFit/>
          </a:bodyPr>
          <a:lstStyle/>
          <a:p>
            <a:pPr algn="l">
              <a:lnSpc>
                <a:spcPct val="105000"/>
              </a:lnSpc>
            </a:pPr>
            <a:r>
              <a:rPr sz="1500" b="1">
                <a:solidFill>
                  <a:srgbClr val="181837"/>
                </a:solidFill>
                <a:latin typeface="Aptos"/>
              </a:rPr>
              <a:t>Lifelong learning</a:t>
            </a:r>
            <a:endParaRPr sz="1500" b="1">
              <a:solidFill>
                <a:srgbClr val="181837"/>
              </a:solidFill>
              <a:latin typeface="Aptos"/>
            </a:endParaRPr>
          </a:p>
        </p:txBody>
      </p:sp>
      <p:sp>
        <p:nvSpPr>
          <p:cNvPr id="43" name="TextBox 42"/>
          <p:cNvSpPr txBox="1"/>
          <p:nvPr/>
        </p:nvSpPr>
        <p:spPr>
          <a:xfrm>
            <a:off x="4665246" y="4806536"/>
            <a:ext cx="6176434" cy="250774"/>
          </a:xfrm>
          <a:prstGeom prst="rect">
            <a:avLst/>
          </a:prstGeom>
          <a:noFill/>
        </p:spPr>
        <p:txBody>
          <a:bodyPr wrap="none" lIns="0" tIns="0" rIns="0" bIns="0" anchor="t">
            <a:spAutoFit/>
          </a:bodyPr>
          <a:lstStyle/>
          <a:p>
            <a:pPr algn="l">
              <a:lnSpc>
                <a:spcPct val="105000"/>
              </a:lnSpc>
            </a:pPr>
            <a:r>
              <a:rPr sz="1600" b="0">
                <a:solidFill>
                  <a:srgbClr val="232337"/>
                </a:solidFill>
                <a:latin typeface="Aptos"/>
              </a:rPr>
              <a:t>Voyager turns solved engineering workflows into versioned Vault skills.</a:t>
            </a:r>
            <a:endParaRPr sz="1600" b="0">
              <a:solidFill>
                <a:srgbClr val="232337"/>
              </a:solidFill>
              <a:latin typeface="Aptos"/>
            </a:endParaRPr>
          </a:p>
        </p:txBody>
      </p:sp>
      <p:sp>
        <p:nvSpPr>
          <p:cNvPr id="45" name="Rounded Rectangle 23"/>
          <p:cNvSpPr/>
          <p:nvPr/>
        </p:nvSpPr>
        <p:spPr>
          <a:xfrm>
            <a:off x="1096000" y="5625763"/>
            <a:ext cx="10000000" cy="820000"/>
          </a:xfrm>
          <a:prstGeom prst="roundRect">
            <a:avLst/>
          </a:prstGeom>
          <a:solidFill>
            <a:srgbClr val="F7F7FC"/>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15246" y="5948641"/>
            <a:ext cx="1000000" cy="250000"/>
          </a:xfrm>
          <a:prstGeom prst="rect">
            <a:avLst/>
          </a:prstGeom>
          <a:noFill/>
        </p:spPr>
        <p:txBody>
          <a:bodyPr wrap="none" lIns="0" tIns="0" rIns="0" bIns="0" anchor="t">
            <a:spAutoFit/>
          </a:bodyPr>
          <a:lstStyle/>
          <a:p>
            <a:pPr algn="l">
              <a:lnSpc>
                <a:spcPct val="105000"/>
              </a:lnSpc>
            </a:pPr>
            <a:r>
              <a:rPr sz="1300" b="1">
                <a:solidFill>
                  <a:srgbClr val="F05332"/>
                </a:solidFill>
                <a:latin typeface="Aptos"/>
              </a:rPr>
              <a:t>LIMITS</a:t>
            </a:r>
            <a:endParaRPr sz="1300" b="1">
              <a:solidFill>
                <a:srgbClr val="F05332"/>
              </a:solidFill>
              <a:latin typeface="Aptos"/>
            </a:endParaRPr>
          </a:p>
        </p:txBody>
      </p:sp>
      <p:sp>
        <p:nvSpPr>
          <p:cNvPr id="49" name="TextBox 48"/>
          <p:cNvSpPr txBox="1"/>
          <p:nvPr/>
        </p:nvSpPr>
        <p:spPr>
          <a:xfrm>
            <a:off x="2415246" y="5828847"/>
            <a:ext cx="7980038" cy="413831"/>
          </a:xfrm>
          <a:prstGeom prst="rect">
            <a:avLst/>
          </a:prstGeom>
          <a:noFill/>
        </p:spPr>
        <p:txBody>
          <a:bodyPr wrap="square" lIns="0" tIns="0" rIns="0" bIns="0" anchor="t">
            <a:spAutoFit/>
          </a:bodyPr>
          <a:lstStyle/>
          <a:p>
            <a:pPr algn="l">
              <a:lnSpc>
                <a:spcPct val="105000"/>
              </a:lnSpc>
            </a:pPr>
            <a:r>
              <a:rPr sz="1300" b="1">
                <a:solidFill>
                  <a:srgbClr val="232337"/>
                </a:solidFill>
                <a:latin typeface="Aptos"/>
              </a:rPr>
              <a:t>Current prototype is local-first but still depends on Gemini connectivity for full cloud reasoning; observer signals and workflow actions are prototype integrations rather than a production automation layer.</a:t>
            </a:r>
            <a:endParaRPr sz="1300" b="1">
              <a:solidFill>
                <a:srgbClr val="232337"/>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500"/>
              </a:spcAft>
              <a:buSzPct val="100000"/>
            </a:pPr>
            <a:r>
              <a:rPr lang="en-US" sz="4400" b="1">
                <a:solidFill>
                  <a:srgbClr val="704EA6"/>
                </a:solidFill>
                <a:latin typeface="Calibri" panose="020F0502020204030204" pitchFamily="34" charset="0"/>
                <a:ea typeface="Calibri" panose="020F0502020204030204" pitchFamily="34" charset="-122"/>
                <a:cs typeface="Calibri" panose="020F0502020204030204" pitchFamily="34" charset="-120"/>
              </a:rPr>
              <a:t>What’s next</a:t>
            </a:r>
            <a:endParaRPr lang="en-US" sz="4400" b="1">
              <a:solidFill>
                <a:srgbClr val="704EA6"/>
              </a:solidFill>
            </a:endParaRPr>
          </a:p>
        </p:txBody>
      </p:sp>
      <p:sp>
        <p:nvSpPr>
          <p:cNvPr id="4" name="Rounded Rectangle 4"/>
          <p:cNvSpPr/>
          <p:nvPr/>
        </p:nvSpPr>
        <p:spPr>
          <a:xfrm>
            <a:off x="1421000" y="1690688"/>
            <a:ext cx="2950000" cy="335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1000" y="1910688"/>
            <a:ext cx="560000" cy="560000"/>
          </a:xfrm>
          <a:prstGeom prst="ellipse">
            <a:avLst/>
          </a:prstGeom>
          <a:solidFill>
            <a:srgbClr val="6B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1000" y="2100688"/>
            <a:ext cx="560000" cy="180000"/>
          </a:xfrm>
          <a:prstGeom prst="rect">
            <a:avLst/>
          </a:prstGeom>
          <a:noFill/>
        </p:spPr>
        <p:txBody>
          <a:bodyPr wrap="square" lIns="0" tIns="0" rIns="0" bIns="0">
            <a:spAutoFit/>
          </a:bodyPr>
          <a:lstStyle/>
          <a:p>
            <a:pPr algn="ctr"/>
            <a:r>
              <a:rPr sz="1100" b="1" dirty="0">
                <a:solidFill>
                  <a:srgbClr val="FFFFFF"/>
                </a:solidFill>
                <a:latin typeface="Aptos"/>
              </a:rPr>
              <a:t>01</a:t>
            </a:r>
            <a:endParaRPr sz="1100" b="1" dirty="0">
              <a:solidFill>
                <a:srgbClr val="FFFFFF"/>
              </a:solidFill>
              <a:latin typeface="Aptos"/>
            </a:endParaRPr>
          </a:p>
        </p:txBody>
      </p:sp>
      <p:sp>
        <p:nvSpPr>
          <p:cNvPr id="10" name="TextBox 9"/>
          <p:cNvSpPr txBox="1"/>
          <p:nvPr/>
        </p:nvSpPr>
        <p:spPr>
          <a:xfrm>
            <a:off x="1601000" y="2740688"/>
            <a:ext cx="2590000" cy="650000"/>
          </a:xfrm>
          <a:prstGeom prst="rect">
            <a:avLst/>
          </a:prstGeom>
          <a:noFill/>
        </p:spPr>
        <p:txBody>
          <a:bodyPr wrap="square" lIns="0" tIns="0" rIns="0" bIns="0">
            <a:spAutoFit/>
          </a:bodyPr>
          <a:lstStyle/>
          <a:p>
            <a:pPr algn="l"/>
            <a:r>
              <a:rPr sz="1800" b="1">
                <a:solidFill>
                  <a:srgbClr val="181837"/>
                </a:solidFill>
                <a:latin typeface="Aptos"/>
              </a:rPr>
              <a:t>WORKSPACE
CONNECTION</a:t>
            </a:r>
            <a:endParaRPr sz="1800" b="1">
              <a:solidFill>
                <a:srgbClr val="181837"/>
              </a:solidFill>
              <a:latin typeface="Aptos"/>
            </a:endParaRPr>
          </a:p>
        </p:txBody>
      </p:sp>
      <p:sp>
        <p:nvSpPr>
          <p:cNvPr id="12" name="Rectangle 11"/>
          <p:cNvSpPr/>
          <p:nvPr/>
        </p:nvSpPr>
        <p:spPr>
          <a:xfrm>
            <a:off x="1601000" y="3510688"/>
            <a:ext cx="700000" cy="60000"/>
          </a:xfrm>
          <a:prstGeom prst="rect">
            <a:avLst/>
          </a:prstGeom>
          <a:solidFill>
            <a:srgbClr val="6B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1000" y="3740688"/>
            <a:ext cx="2590000" cy="646331"/>
          </a:xfrm>
          <a:prstGeom prst="rect">
            <a:avLst/>
          </a:prstGeom>
          <a:noFill/>
        </p:spPr>
        <p:txBody>
          <a:bodyPr wrap="square" lIns="0" tIns="0" rIns="0" bIns="0">
            <a:spAutoFit/>
          </a:bodyPr>
          <a:lstStyle/>
          <a:p>
            <a:pPr algn="l"/>
            <a:r>
              <a:rPr sz="1400" b="0" dirty="0">
                <a:latin typeface="Aptos"/>
              </a:rPr>
              <a:t>Connect Gmail, Drive &amp; Tasks to bring everyday work context directly into KAIZEN.</a:t>
            </a:r>
            <a:endParaRPr sz="1400" b="0" dirty="0">
              <a:latin typeface="Aptos"/>
            </a:endParaRPr>
          </a:p>
        </p:txBody>
      </p:sp>
      <p:sp>
        <p:nvSpPr>
          <p:cNvPr id="16" name="Rounded Rectangle 10"/>
          <p:cNvSpPr/>
          <p:nvPr/>
        </p:nvSpPr>
        <p:spPr>
          <a:xfrm>
            <a:off x="4621000" y="1690688"/>
            <a:ext cx="2950000" cy="335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01000" y="1910688"/>
            <a:ext cx="560000" cy="560000"/>
          </a:xfrm>
          <a:prstGeom prst="ellipse">
            <a:avLst/>
          </a:prstGeom>
          <a:solidFill>
            <a:srgbClr val="1CB8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1000" y="2100688"/>
            <a:ext cx="560000" cy="180000"/>
          </a:xfrm>
          <a:prstGeom prst="rect">
            <a:avLst/>
          </a:prstGeom>
          <a:noFill/>
        </p:spPr>
        <p:txBody>
          <a:bodyPr wrap="square" lIns="0" tIns="0" rIns="0" bIns="0">
            <a:spAutoFit/>
          </a:bodyPr>
          <a:lstStyle/>
          <a:p>
            <a:pPr algn="ctr"/>
            <a:r>
              <a:rPr sz="1100" b="1" dirty="0">
                <a:solidFill>
                  <a:srgbClr val="FFFFFF"/>
                </a:solidFill>
                <a:latin typeface="Aptos"/>
              </a:rPr>
              <a:t>02</a:t>
            </a:r>
            <a:endParaRPr sz="1100" b="1" dirty="0">
              <a:solidFill>
                <a:srgbClr val="FFFFFF"/>
              </a:solidFill>
              <a:latin typeface="Aptos"/>
            </a:endParaRPr>
          </a:p>
        </p:txBody>
      </p:sp>
      <p:sp>
        <p:nvSpPr>
          <p:cNvPr id="22" name="TextBox 21"/>
          <p:cNvSpPr txBox="1"/>
          <p:nvPr/>
        </p:nvSpPr>
        <p:spPr>
          <a:xfrm>
            <a:off x="4801000" y="2740688"/>
            <a:ext cx="2590000" cy="650000"/>
          </a:xfrm>
          <a:prstGeom prst="rect">
            <a:avLst/>
          </a:prstGeom>
          <a:noFill/>
        </p:spPr>
        <p:txBody>
          <a:bodyPr wrap="square" lIns="0" tIns="0" rIns="0" bIns="0">
            <a:spAutoFit/>
          </a:bodyPr>
          <a:lstStyle/>
          <a:p>
            <a:pPr algn="l"/>
            <a:r>
              <a:rPr sz="1800" b="1">
                <a:solidFill>
                  <a:srgbClr val="181837"/>
                </a:solidFill>
                <a:latin typeface="Aptos"/>
              </a:rPr>
              <a:t>LOCAL BRAIN</a:t>
            </a:r>
            <a:endParaRPr sz="1800" b="1">
              <a:solidFill>
                <a:srgbClr val="181837"/>
              </a:solidFill>
              <a:latin typeface="Aptos"/>
            </a:endParaRPr>
          </a:p>
        </p:txBody>
      </p:sp>
      <p:sp>
        <p:nvSpPr>
          <p:cNvPr id="24" name="Rectangle 23"/>
          <p:cNvSpPr/>
          <p:nvPr/>
        </p:nvSpPr>
        <p:spPr>
          <a:xfrm>
            <a:off x="4801000" y="3510688"/>
            <a:ext cx="700000" cy="60000"/>
          </a:xfrm>
          <a:prstGeom prst="rect">
            <a:avLst/>
          </a:prstGeom>
          <a:solidFill>
            <a:srgbClr val="1CB8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1000" y="3740688"/>
            <a:ext cx="2590000" cy="646331"/>
          </a:xfrm>
          <a:prstGeom prst="rect">
            <a:avLst/>
          </a:prstGeom>
          <a:noFill/>
        </p:spPr>
        <p:txBody>
          <a:bodyPr wrap="square" lIns="0" tIns="0" rIns="0" bIns="0">
            <a:spAutoFit/>
          </a:bodyPr>
          <a:lstStyle/>
          <a:p>
            <a:pPr algn="l"/>
            <a:r>
              <a:rPr sz="1400" b="0" dirty="0">
                <a:solidFill>
                  <a:srgbClr val="232337"/>
                </a:solidFill>
                <a:latin typeface="Aptos"/>
              </a:rPr>
              <a:t>Obsidian-powered note taking for capturing, organizing and recalling knowledge locally.</a:t>
            </a:r>
            <a:endParaRPr sz="1400" b="0" dirty="0">
              <a:solidFill>
                <a:srgbClr val="232337"/>
              </a:solidFill>
              <a:latin typeface="Aptos"/>
            </a:endParaRPr>
          </a:p>
        </p:txBody>
      </p:sp>
      <p:sp>
        <p:nvSpPr>
          <p:cNvPr id="28" name="Rounded Rectangle 16"/>
          <p:cNvSpPr/>
          <p:nvPr/>
        </p:nvSpPr>
        <p:spPr>
          <a:xfrm>
            <a:off x="7821000" y="1690688"/>
            <a:ext cx="2950000" cy="335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01000" y="1910688"/>
            <a:ext cx="560000" cy="560000"/>
          </a:xfrm>
          <a:prstGeom prst="ellipse">
            <a:avLst/>
          </a:prstGeom>
          <a:solidFill>
            <a:srgbClr val="6B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0" y="2100688"/>
            <a:ext cx="560000" cy="180000"/>
          </a:xfrm>
          <a:prstGeom prst="rect">
            <a:avLst/>
          </a:prstGeom>
          <a:noFill/>
        </p:spPr>
        <p:txBody>
          <a:bodyPr wrap="square" lIns="0" tIns="0" rIns="0" bIns="0">
            <a:spAutoFit/>
          </a:bodyPr>
          <a:lstStyle/>
          <a:p>
            <a:pPr algn="ctr"/>
            <a:r>
              <a:rPr sz="1100" b="1" dirty="0">
                <a:solidFill>
                  <a:srgbClr val="FFFFFF"/>
                </a:solidFill>
                <a:latin typeface="Aptos"/>
              </a:rPr>
              <a:t>03</a:t>
            </a:r>
            <a:endParaRPr sz="1100" b="1" dirty="0">
              <a:solidFill>
                <a:srgbClr val="FFFFFF"/>
              </a:solidFill>
              <a:latin typeface="Aptos"/>
            </a:endParaRPr>
          </a:p>
        </p:txBody>
      </p:sp>
      <p:sp>
        <p:nvSpPr>
          <p:cNvPr id="34" name="TextBox 33"/>
          <p:cNvSpPr txBox="1"/>
          <p:nvPr/>
        </p:nvSpPr>
        <p:spPr>
          <a:xfrm>
            <a:off x="8001000" y="2740688"/>
            <a:ext cx="2590000" cy="650000"/>
          </a:xfrm>
          <a:prstGeom prst="rect">
            <a:avLst/>
          </a:prstGeom>
          <a:noFill/>
        </p:spPr>
        <p:txBody>
          <a:bodyPr wrap="square" lIns="0" tIns="0" rIns="0" bIns="0">
            <a:spAutoFit/>
          </a:bodyPr>
          <a:lstStyle/>
          <a:p>
            <a:pPr algn="l"/>
            <a:r>
              <a:rPr sz="1800" b="1">
                <a:solidFill>
                  <a:srgbClr val="181837"/>
                </a:solidFill>
                <a:latin typeface="Aptos"/>
              </a:rPr>
              <a:t>SKILL LEARNING</a:t>
            </a:r>
            <a:endParaRPr sz="1800" b="1">
              <a:solidFill>
                <a:srgbClr val="181837"/>
              </a:solidFill>
              <a:latin typeface="Aptos"/>
            </a:endParaRPr>
          </a:p>
        </p:txBody>
      </p:sp>
      <p:sp>
        <p:nvSpPr>
          <p:cNvPr id="36" name="Rectangle 35"/>
          <p:cNvSpPr/>
          <p:nvPr/>
        </p:nvSpPr>
        <p:spPr>
          <a:xfrm>
            <a:off x="8001000" y="3510688"/>
            <a:ext cx="700000" cy="60000"/>
          </a:xfrm>
          <a:prstGeom prst="rect">
            <a:avLst/>
          </a:prstGeom>
          <a:solidFill>
            <a:srgbClr val="6B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0" y="3740688"/>
            <a:ext cx="2590000" cy="646331"/>
          </a:xfrm>
          <a:prstGeom prst="rect">
            <a:avLst/>
          </a:prstGeom>
          <a:noFill/>
        </p:spPr>
        <p:txBody>
          <a:bodyPr wrap="square" lIns="0" tIns="0" rIns="0" bIns="0">
            <a:spAutoFit/>
          </a:bodyPr>
          <a:lstStyle/>
          <a:p>
            <a:pPr algn="l"/>
            <a:r>
              <a:rPr sz="1400" b="0" dirty="0">
                <a:solidFill>
                  <a:srgbClr val="232337"/>
                </a:solidFill>
                <a:latin typeface="Aptos"/>
              </a:rPr>
              <a:t>Learn from completed tasks and convert successful workflows into reusable skills.</a:t>
            </a:r>
            <a:endParaRPr sz="1400" b="0" dirty="0">
              <a:solidFill>
                <a:srgbClr val="232337"/>
              </a:solidFill>
              <a:latin typeface="Aptos"/>
            </a:endParaRPr>
          </a:p>
        </p:txBody>
      </p:sp>
      <p:sp>
        <p:nvSpPr>
          <p:cNvPr id="40" name="Rounded Rectangle 22"/>
          <p:cNvSpPr/>
          <p:nvPr/>
        </p:nvSpPr>
        <p:spPr>
          <a:xfrm>
            <a:off x="1421000" y="5332408"/>
            <a:ext cx="9400000" cy="720000"/>
          </a:xfrm>
          <a:prstGeom prst="roundRect">
            <a:avLst/>
          </a:prstGeom>
          <a:solidFill>
            <a:srgbClr val="F7F7FC"/>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735008" y="5553908"/>
            <a:ext cx="1800000" cy="276999"/>
          </a:xfrm>
          <a:prstGeom prst="rect">
            <a:avLst/>
          </a:prstGeom>
          <a:noFill/>
        </p:spPr>
        <p:txBody>
          <a:bodyPr wrap="square" lIns="0" tIns="0" rIns="0" bIns="0">
            <a:spAutoFit/>
          </a:bodyPr>
          <a:lstStyle/>
          <a:p>
            <a:pPr algn="l"/>
            <a:r>
              <a:rPr b="1" dirty="0">
                <a:solidFill>
                  <a:srgbClr val="6B3FBE"/>
                </a:solidFill>
                <a:latin typeface="Aptos"/>
              </a:rPr>
              <a:t>OUR VISION</a:t>
            </a:r>
            <a:endParaRPr b="1" dirty="0">
              <a:solidFill>
                <a:srgbClr val="6B3FBE"/>
              </a:solidFill>
              <a:latin typeface="Aptos"/>
            </a:endParaRPr>
          </a:p>
        </p:txBody>
      </p:sp>
      <p:sp>
        <p:nvSpPr>
          <p:cNvPr id="44" name="TextBox 43"/>
          <p:cNvSpPr txBox="1"/>
          <p:nvPr/>
        </p:nvSpPr>
        <p:spPr>
          <a:xfrm>
            <a:off x="3991000" y="5553908"/>
            <a:ext cx="6800000" cy="350000"/>
          </a:xfrm>
          <a:prstGeom prst="rect">
            <a:avLst/>
          </a:prstGeom>
          <a:noFill/>
        </p:spPr>
        <p:txBody>
          <a:bodyPr wrap="square" lIns="0" tIns="0" rIns="0" bIns="0">
            <a:spAutoFit/>
          </a:bodyPr>
          <a:lstStyle/>
          <a:p>
            <a:pPr algn="ctr"/>
            <a:r>
              <a:rPr sz="1600" b="1" dirty="0">
                <a:solidFill>
                  <a:srgbClr val="181837"/>
                </a:solidFill>
                <a:latin typeface="Aptos"/>
              </a:rPr>
              <a:t>CONNECT  →  REMEMBER  →  LEARN  →  EVOLVE</a:t>
            </a:r>
            <a:endParaRPr sz="1600" b="1" dirty="0">
              <a:solidFill>
                <a:srgbClr val="181837"/>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0516"/>
            <a:ext cx="10515600" cy="1325563"/>
          </a:xfrm>
        </p:spPr>
        <p:txBody>
          <a:bodyPr/>
          <a:lstStyle/>
          <a:p>
            <a:pPr>
              <a:spcAft>
                <a:spcPts val="500"/>
              </a:spcAft>
              <a:buSzPct val="100000"/>
            </a:pPr>
            <a:r>
              <a:rPr lang="en-US" sz="4400" b="1">
                <a:solidFill>
                  <a:srgbClr val="704EA6"/>
                </a:solidFill>
                <a:latin typeface="Calibri" panose="020F0502020204030204" pitchFamily="34" charset="0"/>
                <a:ea typeface="Calibri" panose="020F0502020204030204" pitchFamily="34" charset="-122"/>
                <a:cs typeface="Calibri" panose="020F0502020204030204" pitchFamily="34" charset="-120"/>
              </a:rPr>
              <a:t>Brownie points slide</a:t>
            </a:r>
            <a:endParaRPr lang="en-US" sz="4400" b="1">
              <a:solidFill>
                <a:srgbClr val="704EA6"/>
              </a:solidFill>
            </a:endParaRPr>
          </a:p>
        </p:txBody>
      </p:sp>
      <p:sp>
        <p:nvSpPr>
          <p:cNvPr id="5" name="Rounded Rectangle 3"/>
          <p:cNvSpPr/>
          <p:nvPr/>
        </p:nvSpPr>
        <p:spPr>
          <a:xfrm>
            <a:off x="1392762" y="1991145"/>
            <a:ext cx="9400000" cy="73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2762" y="2081145"/>
            <a:ext cx="2781852" cy="235064"/>
          </a:xfrm>
          <a:prstGeom prst="rect">
            <a:avLst/>
          </a:prstGeom>
          <a:noFill/>
        </p:spPr>
        <p:txBody>
          <a:bodyPr wrap="none" lIns="0" tIns="0" rIns="0" bIns="0" anchor="t">
            <a:spAutoFit/>
          </a:bodyPr>
          <a:lstStyle/>
          <a:p>
            <a:pPr algn="l">
              <a:lnSpc>
                <a:spcPct val="105000"/>
              </a:lnSpc>
            </a:pPr>
            <a:r>
              <a:rPr sz="1500" b="1" i="1">
                <a:solidFill>
                  <a:srgbClr val="7030A0"/>
                </a:solidFill>
                <a:latin typeface="Aptos"/>
              </a:rPr>
              <a:t>Interrupts are a first-class event</a:t>
            </a:r>
            <a:endParaRPr sz="1500" b="1" i="1">
              <a:solidFill>
                <a:srgbClr val="7030A0"/>
              </a:solidFill>
              <a:latin typeface="Aptos"/>
            </a:endParaRPr>
          </a:p>
        </p:txBody>
      </p:sp>
      <p:sp>
        <p:nvSpPr>
          <p:cNvPr id="9" name="TextBox 8"/>
          <p:cNvSpPr txBox="1"/>
          <p:nvPr/>
        </p:nvSpPr>
        <p:spPr>
          <a:xfrm>
            <a:off x="5192762" y="2071145"/>
            <a:ext cx="5132624"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Not a UI trick: barge-in changes agent state and the live stream.</a:t>
            </a:r>
            <a:endParaRPr sz="1400" b="1">
              <a:solidFill>
                <a:srgbClr val="232337"/>
              </a:solidFill>
              <a:latin typeface="Aptos"/>
            </a:endParaRPr>
          </a:p>
        </p:txBody>
      </p:sp>
      <p:sp>
        <p:nvSpPr>
          <p:cNvPr id="11" name="Rounded Rectangle 6"/>
          <p:cNvSpPr/>
          <p:nvPr/>
        </p:nvSpPr>
        <p:spPr>
          <a:xfrm>
            <a:off x="1392762" y="2801145"/>
            <a:ext cx="9400000" cy="73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2762" y="2891145"/>
            <a:ext cx="2350259" cy="235064"/>
          </a:xfrm>
          <a:prstGeom prst="rect">
            <a:avLst/>
          </a:prstGeom>
          <a:noFill/>
        </p:spPr>
        <p:txBody>
          <a:bodyPr wrap="none" lIns="0" tIns="0" rIns="0" bIns="0" anchor="t">
            <a:spAutoFit/>
          </a:bodyPr>
          <a:lstStyle/>
          <a:p>
            <a:pPr algn="l">
              <a:lnSpc>
                <a:spcPct val="105000"/>
              </a:lnSpc>
            </a:pPr>
            <a:r>
              <a:rPr sz="1500" b="1" i="1">
                <a:solidFill>
                  <a:srgbClr val="7030A0"/>
                </a:solidFill>
                <a:latin typeface="Aptos"/>
              </a:rPr>
              <a:t>Reasoning before speaking</a:t>
            </a:r>
            <a:endParaRPr sz="1500" b="1" i="1">
              <a:solidFill>
                <a:srgbClr val="7030A0"/>
              </a:solidFill>
              <a:latin typeface="Aptos"/>
            </a:endParaRPr>
          </a:p>
        </p:txBody>
      </p:sp>
      <p:sp>
        <p:nvSpPr>
          <p:cNvPr id="15" name="TextBox 14"/>
          <p:cNvSpPr txBox="1"/>
          <p:nvPr/>
        </p:nvSpPr>
        <p:spPr>
          <a:xfrm>
            <a:off x="5192762" y="2881145"/>
            <a:ext cx="5200000"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Teacher–Critic–Student deliberation produces a refined answer before vocalization.</a:t>
            </a:r>
            <a:endParaRPr sz="1400" b="1">
              <a:solidFill>
                <a:srgbClr val="232337"/>
              </a:solidFill>
              <a:latin typeface="Aptos"/>
            </a:endParaRPr>
          </a:p>
        </p:txBody>
      </p:sp>
      <p:sp>
        <p:nvSpPr>
          <p:cNvPr id="17" name="Rounded Rectangle 9"/>
          <p:cNvSpPr/>
          <p:nvPr/>
        </p:nvSpPr>
        <p:spPr>
          <a:xfrm>
            <a:off x="1392762" y="3611145"/>
            <a:ext cx="9400000" cy="73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2762" y="3701145"/>
            <a:ext cx="1919500" cy="235064"/>
          </a:xfrm>
          <a:prstGeom prst="rect">
            <a:avLst/>
          </a:prstGeom>
          <a:noFill/>
        </p:spPr>
        <p:txBody>
          <a:bodyPr wrap="none" lIns="0" tIns="0" rIns="0" bIns="0" anchor="t">
            <a:spAutoFit/>
          </a:bodyPr>
          <a:lstStyle/>
          <a:p>
            <a:pPr algn="l">
              <a:lnSpc>
                <a:spcPct val="105000"/>
              </a:lnSpc>
            </a:pPr>
            <a:r>
              <a:rPr sz="1500" b="1" i="1">
                <a:solidFill>
                  <a:srgbClr val="7030A0"/>
                </a:solidFill>
                <a:latin typeface="Aptos"/>
              </a:rPr>
              <a:t>Proactive, not passive</a:t>
            </a:r>
            <a:endParaRPr sz="1500" b="1" i="1">
              <a:solidFill>
                <a:srgbClr val="7030A0"/>
              </a:solidFill>
              <a:latin typeface="Aptos"/>
            </a:endParaRPr>
          </a:p>
        </p:txBody>
      </p:sp>
      <p:sp>
        <p:nvSpPr>
          <p:cNvPr id="21" name="TextBox 20"/>
          <p:cNvSpPr txBox="1"/>
          <p:nvPr/>
        </p:nvSpPr>
        <p:spPr>
          <a:xfrm>
            <a:off x="5192762" y="3691145"/>
            <a:ext cx="4904139" cy="445635"/>
          </a:xfrm>
          <a:prstGeom prst="rect">
            <a:avLst/>
          </a:prstGeom>
          <a:noFill/>
        </p:spPr>
        <p:txBody>
          <a:bodyPr wrap="square" lIns="0" tIns="0" rIns="0" bIns="0" anchor="t">
            <a:spAutoFit/>
          </a:bodyPr>
          <a:lstStyle/>
          <a:p>
            <a:pPr algn="l">
              <a:lnSpc>
                <a:spcPct val="105000"/>
              </a:lnSpc>
            </a:pPr>
            <a:r>
              <a:rPr sz="1400" b="1" err="1">
                <a:solidFill>
                  <a:srgbClr val="232337"/>
                </a:solidFill>
                <a:latin typeface="Aptos"/>
              </a:rPr>
              <a:t>Screenpipe</a:t>
            </a:r>
            <a:r>
              <a:rPr sz="1400" b="1">
                <a:solidFill>
                  <a:srgbClr val="232337"/>
                </a:solidFill>
                <a:latin typeface="Aptos"/>
              </a:rPr>
              <a:t> can observe stagnation and initiate a contextual intervention.</a:t>
            </a:r>
            <a:endParaRPr sz="1400" b="1">
              <a:solidFill>
                <a:srgbClr val="232337"/>
              </a:solidFill>
              <a:latin typeface="Aptos"/>
            </a:endParaRPr>
          </a:p>
        </p:txBody>
      </p:sp>
      <p:sp>
        <p:nvSpPr>
          <p:cNvPr id="23" name="Rounded Rectangle 12"/>
          <p:cNvSpPr/>
          <p:nvPr/>
        </p:nvSpPr>
        <p:spPr>
          <a:xfrm>
            <a:off x="1392762" y="4421145"/>
            <a:ext cx="9400000" cy="73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2762" y="4511145"/>
            <a:ext cx="2183290" cy="235064"/>
          </a:xfrm>
          <a:prstGeom prst="rect">
            <a:avLst/>
          </a:prstGeom>
          <a:noFill/>
        </p:spPr>
        <p:txBody>
          <a:bodyPr wrap="none" lIns="0" tIns="0" rIns="0" bIns="0" anchor="t">
            <a:spAutoFit/>
          </a:bodyPr>
          <a:lstStyle/>
          <a:p>
            <a:pPr algn="l">
              <a:lnSpc>
                <a:spcPct val="105000"/>
              </a:lnSpc>
            </a:pPr>
            <a:r>
              <a:rPr sz="1500" b="1" i="1">
                <a:solidFill>
                  <a:srgbClr val="7030A0"/>
                </a:solidFill>
                <a:latin typeface="Aptos"/>
              </a:rPr>
              <a:t>Memory that compounds</a:t>
            </a:r>
            <a:endParaRPr sz="1500" b="1" i="1">
              <a:solidFill>
                <a:srgbClr val="7030A0"/>
              </a:solidFill>
              <a:latin typeface="Aptos"/>
            </a:endParaRPr>
          </a:p>
        </p:txBody>
      </p:sp>
      <p:sp>
        <p:nvSpPr>
          <p:cNvPr id="27" name="TextBox 26"/>
          <p:cNvSpPr txBox="1"/>
          <p:nvPr/>
        </p:nvSpPr>
        <p:spPr>
          <a:xfrm>
            <a:off x="5192762" y="4501145"/>
            <a:ext cx="4923143" cy="219419"/>
          </a:xfrm>
          <a:prstGeom prst="rect">
            <a:avLst/>
          </a:prstGeom>
          <a:noFill/>
        </p:spPr>
        <p:txBody>
          <a:bodyPr wrap="none" lIns="0" tIns="0" rIns="0" bIns="0" anchor="t">
            <a:spAutoFit/>
          </a:bodyPr>
          <a:lstStyle/>
          <a:p>
            <a:pPr algn="l">
              <a:lnSpc>
                <a:spcPct val="105000"/>
              </a:lnSpc>
            </a:pPr>
            <a:r>
              <a:rPr sz="1400" b="1">
                <a:solidFill>
                  <a:srgbClr val="232337"/>
                </a:solidFill>
                <a:latin typeface="Aptos"/>
              </a:rPr>
              <a:t>Voyager converts solved workflows into reusable local skills.</a:t>
            </a:r>
            <a:endParaRPr sz="1400" b="1">
              <a:solidFill>
                <a:srgbClr val="232337"/>
              </a:solidFill>
              <a:latin typeface="Aptos"/>
            </a:endParaRPr>
          </a:p>
        </p:txBody>
      </p:sp>
      <p:sp>
        <p:nvSpPr>
          <p:cNvPr id="29" name="Rounded Rectangle 15"/>
          <p:cNvSpPr/>
          <p:nvPr/>
        </p:nvSpPr>
        <p:spPr>
          <a:xfrm>
            <a:off x="1392762" y="5231145"/>
            <a:ext cx="9400000" cy="730000"/>
          </a:xfrm>
          <a:prstGeom prst="roundRect">
            <a:avLst/>
          </a:prstGeom>
          <a:solidFill>
            <a:srgbClr val="FFFFFF"/>
          </a:solidFill>
          <a:ln w="12700">
            <a:solidFill>
              <a:srgbClr val="E0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42762" y="5321145"/>
            <a:ext cx="1499706" cy="235064"/>
          </a:xfrm>
          <a:prstGeom prst="rect">
            <a:avLst/>
          </a:prstGeom>
          <a:noFill/>
        </p:spPr>
        <p:txBody>
          <a:bodyPr wrap="none" lIns="0" tIns="0" rIns="0" bIns="0" anchor="t">
            <a:spAutoFit/>
          </a:bodyPr>
          <a:lstStyle/>
          <a:p>
            <a:pPr algn="l">
              <a:lnSpc>
                <a:spcPct val="105000"/>
              </a:lnSpc>
            </a:pPr>
            <a:r>
              <a:rPr sz="1500" b="1" i="1">
                <a:solidFill>
                  <a:srgbClr val="7030A0"/>
                </a:solidFill>
                <a:latin typeface="Aptos"/>
              </a:rPr>
              <a:t>Privacy by design</a:t>
            </a:r>
            <a:endParaRPr sz="1500" b="1" i="1">
              <a:solidFill>
                <a:srgbClr val="7030A0"/>
              </a:solidFill>
              <a:latin typeface="Aptos"/>
            </a:endParaRPr>
          </a:p>
        </p:txBody>
      </p:sp>
      <p:sp>
        <p:nvSpPr>
          <p:cNvPr id="33" name="TextBox 32"/>
          <p:cNvSpPr txBox="1"/>
          <p:nvPr/>
        </p:nvSpPr>
        <p:spPr>
          <a:xfrm>
            <a:off x="5192763" y="5311145"/>
            <a:ext cx="5200000" cy="445635"/>
          </a:xfrm>
          <a:prstGeom prst="rect">
            <a:avLst/>
          </a:prstGeom>
          <a:noFill/>
        </p:spPr>
        <p:txBody>
          <a:bodyPr wrap="square" lIns="0" tIns="0" rIns="0" bIns="0" anchor="t">
            <a:spAutoFit/>
          </a:bodyPr>
          <a:lstStyle/>
          <a:p>
            <a:pPr algn="l">
              <a:lnSpc>
                <a:spcPct val="105000"/>
              </a:lnSpc>
            </a:pPr>
            <a:r>
              <a:rPr sz="1400" b="1">
                <a:solidFill>
                  <a:srgbClr val="232337"/>
                </a:solidFill>
                <a:latin typeface="Aptos"/>
              </a:rPr>
              <a:t>Local Vault + Electron isolation keep conversational memory on-device by default.</a:t>
            </a:r>
            <a:endParaRPr sz="1400" b="1">
              <a:solidFill>
                <a:srgbClr val="232337"/>
              </a:solidFill>
              <a:latin typeface="Aptos"/>
            </a:endParaRPr>
          </a:p>
        </p:txBody>
      </p:sp>
      <p:sp>
        <p:nvSpPr>
          <p:cNvPr id="35" name="TextBox 34"/>
          <p:cNvSpPr txBox="1"/>
          <p:nvPr/>
        </p:nvSpPr>
        <p:spPr>
          <a:xfrm>
            <a:off x="838200" y="1164241"/>
            <a:ext cx="6097604" cy="369332"/>
          </a:xfrm>
          <a:prstGeom prst="rect">
            <a:avLst/>
          </a:prstGeom>
          <a:noFill/>
        </p:spPr>
        <p:txBody>
          <a:bodyPr wrap="square">
            <a:spAutoFit/>
          </a:bodyPr>
          <a:lstStyle/>
          <a:p>
            <a:r>
              <a:rPr lang="en-IN" b="1" i="1">
                <a:solidFill>
                  <a:srgbClr val="181837"/>
                </a:solidFill>
                <a:latin typeface="Aptos Display" panose="020B0004020202020204" pitchFamily="34" charset="0"/>
              </a:rPr>
              <a:t>what makes KAIZEN different</a:t>
            </a:r>
            <a:endParaRPr lang="en-IN" i="1">
              <a:latin typeface="Aptos Display"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solidFill>
                  <a:srgbClr val="704EA6"/>
                </a:solidFill>
                <a:latin typeface="+mn-lt"/>
              </a:rPr>
              <a:t>Checklist- Updated on Public GitHub</a:t>
            </a:r>
            <a:endParaRPr lang="en-IN" b="1">
              <a:solidFill>
                <a:srgbClr val="704EA6"/>
              </a:solidFill>
              <a:latin typeface="+mn-lt"/>
            </a:endParaRPr>
          </a:p>
        </p:txBody>
      </p:sp>
      <p:sp>
        <p:nvSpPr>
          <p:cNvPr id="3" name="Content Placeholder 2"/>
          <p:cNvSpPr>
            <a:spLocks noGrp="1"/>
          </p:cNvSpPr>
          <p:nvPr>
            <p:ph idx="1"/>
          </p:nvPr>
        </p:nvSpPr>
        <p:spPr/>
        <p:txBody>
          <a:bodyPr/>
          <a:lstStyle/>
          <a:p>
            <a:pPr marL="177800" indent="-177800">
              <a:spcAft>
                <a:spcPts val="500"/>
              </a:spcAft>
              <a:buSzPct val="100000"/>
              <a:buChar char="•"/>
            </a:pPr>
            <a:r>
              <a:rPr lang="en-US" sz="2800">
                <a:solidFill>
                  <a:srgbClr val="63637E"/>
                </a:solidFill>
                <a:latin typeface="Calibri" panose="020F0502020204030204" pitchFamily="34" charset="0"/>
                <a:ea typeface="Calibri" panose="020F0502020204030204" pitchFamily="34" charset="-122"/>
                <a:cs typeface="Calibri" panose="020F0502020204030204" pitchFamily="34" charset="-120"/>
              </a:rPr>
              <a:t>Working prototype code — public or shared GitHub repo (Y/N)</a:t>
            </a:r>
            <a:endParaRPr lang="en-US" sz="2800"/>
          </a:p>
          <a:p>
            <a:pPr marL="177800" indent="-177800">
              <a:spcAft>
                <a:spcPts val="500"/>
              </a:spcAft>
              <a:buSzPct val="100000"/>
              <a:buChar char="•"/>
            </a:pPr>
            <a:r>
              <a:rPr lang="en-US" sz="2800">
                <a:solidFill>
                  <a:srgbClr val="63637E"/>
                </a:solidFill>
                <a:latin typeface="Calibri" panose="020F0502020204030204" pitchFamily="34" charset="0"/>
                <a:ea typeface="Calibri" panose="020F0502020204030204" pitchFamily="34" charset="-122"/>
                <a:cs typeface="Calibri" panose="020F0502020204030204" pitchFamily="34" charset="-120"/>
              </a:rPr>
              <a:t>README with reproducible setup instructions (Y/N)</a:t>
            </a:r>
            <a:endParaRPr lang="en-US" sz="2800"/>
          </a:p>
          <a:p>
            <a:pPr marL="177800" indent="-177800">
              <a:spcAft>
                <a:spcPts val="500"/>
              </a:spcAft>
              <a:buSzPct val="100000"/>
              <a:buChar char="•"/>
            </a:pPr>
            <a:r>
              <a:rPr lang="en-US" sz="2800">
                <a:solidFill>
                  <a:srgbClr val="63637E"/>
                </a:solidFill>
                <a:latin typeface="Calibri" panose="020F0502020204030204" pitchFamily="34" charset="0"/>
                <a:ea typeface="Calibri" panose="020F0502020204030204" pitchFamily="34" charset="-122"/>
                <a:cs typeface="Calibri" panose="020F0502020204030204" pitchFamily="34" charset="-120"/>
              </a:rPr>
              <a:t>Demo video, max 5 minutes (YouTube or Drive link)</a:t>
            </a:r>
            <a:endParaRPr lang="en-US" sz="2800"/>
          </a:p>
          <a:p>
            <a:pPr marL="177800" indent="-177800">
              <a:spcAft>
                <a:spcPts val="500"/>
              </a:spcAft>
              <a:buSzPct val="100000"/>
              <a:buChar char="•"/>
            </a:pPr>
            <a:r>
              <a:rPr lang="en-US" sz="2800">
                <a:solidFill>
                  <a:srgbClr val="63637E"/>
                </a:solidFill>
                <a:latin typeface="Calibri" panose="020F0502020204030204" pitchFamily="34" charset="0"/>
                <a:ea typeface="Calibri" panose="020F0502020204030204" pitchFamily="34" charset="-122"/>
                <a:cs typeface="Calibri" panose="020F0502020204030204" pitchFamily="34" charset="-120"/>
              </a:rPr>
              <a:t>Presentation file (PPT or PDF) (Y/N)</a:t>
            </a:r>
            <a:endParaRPr lang="en-US" sz="2800"/>
          </a:p>
          <a:p>
            <a:pPr marL="0" indent="0">
              <a:buNone/>
            </a:pP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432040"/>
            <a:ext cx="6766560" cy="868680"/>
          </a:xfrm>
          <a:prstGeom prst="rect">
            <a:avLst/>
          </a:prstGeom>
          <a:noFill/>
        </p:spPr>
        <p:txBody>
          <a:bodyPr wrap="square" lIns="0" tIns="0" rIns="0" bIns="0" rtlCol="0" anchor="ctr"/>
          <a:lstStyle/>
          <a:p>
            <a:pPr marL="0" indent="0">
              <a:buNone/>
            </a:pPr>
            <a:r>
              <a:rPr lang="en-US" sz="4600" b="1">
                <a:solidFill>
                  <a:srgbClr val="14142B"/>
                </a:solidFill>
                <a:latin typeface="Arial" panose="020B0604020202020204" pitchFamily="34" charset="0"/>
                <a:ea typeface="Arial" panose="020B0604020202020204" pitchFamily="34" charset="-122"/>
                <a:cs typeface="Arial" panose="020B0604020202020204" pitchFamily="34" charset="-120"/>
              </a:rPr>
              <a:t>Thank you</a:t>
            </a:r>
            <a:endParaRPr lang="en-US" sz="4600"/>
          </a:p>
        </p:txBody>
      </p:sp>
      <p:sp>
        <p:nvSpPr>
          <p:cNvPr id="28" name="Text 25"/>
          <p:cNvSpPr txBox="1"/>
          <p:nvPr/>
        </p:nvSpPr>
        <p:spPr>
          <a:xfrm>
            <a:off x="1123183" y="5887220"/>
            <a:ext cx="10607040" cy="296258"/>
          </a:xfrm>
          <a:prstGeom prst="rect">
            <a:avLst/>
          </a:prstGeom>
          <a:noFill/>
        </p:spPr>
        <p:txBody>
          <a:bodyPr wrap="square" lIns="0" tIns="0" rIns="0" bIns="0" rtlCol="0" anchor="ctr"/>
          <a:lstStyle/>
          <a:p>
            <a:pPr marL="0" indent="0">
              <a:buNone/>
            </a:pPr>
            <a:r>
              <a:rPr lang="en-US" sz="1100">
                <a:solidFill>
                  <a:srgbClr val="63637E"/>
                </a:solidFill>
                <a:latin typeface="Calibri" panose="020F0502020204030204" pitchFamily="34" charset="0"/>
                <a:ea typeface="Calibri" panose="020F0502020204030204" pitchFamily="34" charset="-122"/>
                <a:cs typeface="Calibri" panose="020F0502020204030204" pitchFamily="34" charset="-120"/>
              </a:rPr>
              <a:t>Organised by the Language AI Team and the PRISM Team, Samsung R&amp;D Institute India</a:t>
            </a:r>
            <a:endParaRPr lang="en-US" sz="1100"/>
          </a:p>
        </p:txBody>
      </p:sp>
      <p:sp>
        <p:nvSpPr>
          <p:cNvPr id="4" name="TextBox 3"/>
          <p:cNvSpPr txBox="1"/>
          <p:nvPr/>
        </p:nvSpPr>
        <p:spPr>
          <a:xfrm>
            <a:off x="1046181" y="4551776"/>
            <a:ext cx="6097604" cy="374398"/>
          </a:xfrm>
          <a:prstGeom prst="rect">
            <a:avLst/>
          </a:prstGeom>
          <a:noFill/>
        </p:spPr>
        <p:txBody>
          <a:bodyPr wrap="square" lIns="91440" tIns="45720" rIns="91440" bIns="45720" anchor="t">
            <a:spAutoFit/>
          </a:bodyPr>
          <a:lstStyle/>
          <a:p>
            <a:pPr>
              <a:lnSpc>
                <a:spcPct val="105000"/>
              </a:lnSpc>
            </a:pPr>
            <a:r>
              <a:rPr lang="en-IN" sz="1800" b="1">
                <a:solidFill>
                  <a:srgbClr val="6B3FBE"/>
                </a:solidFill>
                <a:latin typeface="Aptos"/>
              </a:rPr>
              <a:t>KAIZEN — </a:t>
            </a:r>
            <a:r>
              <a:rPr lang="en-IN" b="1">
                <a:solidFill>
                  <a:srgbClr val="6B3FBE"/>
                </a:solidFill>
                <a:latin typeface="Aptos"/>
              </a:rPr>
              <a:t>Interruptible AI Partner</a:t>
            </a:r>
            <a:endParaRPr lang="en-IN" sz="1800" b="1">
              <a:solidFill>
                <a:srgbClr val="6B3FBE"/>
              </a:solidFill>
              <a:latin typeface="Aptos"/>
            </a:endParaRPr>
          </a:p>
        </p:txBody>
      </p:sp>
      <p:sp>
        <p:nvSpPr>
          <p:cNvPr id="6" name="TextBox 5"/>
          <p:cNvSpPr txBox="1"/>
          <p:nvPr/>
        </p:nvSpPr>
        <p:spPr>
          <a:xfrm>
            <a:off x="1123183" y="5254534"/>
            <a:ext cx="8600000" cy="450000"/>
          </a:xfrm>
          <a:prstGeom prst="rect">
            <a:avLst/>
          </a:prstGeom>
          <a:noFill/>
        </p:spPr>
        <p:txBody>
          <a:bodyPr wrap="none" lIns="0" tIns="0" rIns="0" bIns="0" anchor="t">
            <a:spAutoFit/>
          </a:bodyPr>
          <a:lstStyle/>
          <a:p>
            <a:pPr algn="l">
              <a:lnSpc>
                <a:spcPct val="105000"/>
              </a:lnSpc>
            </a:pPr>
            <a:r>
              <a:rPr sz="1400" b="0">
                <a:solidFill>
                  <a:srgbClr val="69697D"/>
                </a:solidFill>
                <a:latin typeface="Aptos"/>
              </a:rPr>
              <a:t>Samsung PRISM Generative AI Hackathon • Theme 05
Autonomous Partners • SRM Institute of Science and Technology</a:t>
            </a:r>
            <a:endParaRPr sz="1400" b="0">
              <a:solidFill>
                <a:srgbClr val="69697D"/>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5015</Words>
  <Application>WPS Presentation</Application>
  <PresentationFormat>Widescreen</PresentationFormat>
  <Paragraphs>252</Paragraphs>
  <Slides>12</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12</vt:i4>
      </vt:variant>
    </vt:vector>
  </HeadingPairs>
  <TitlesOfParts>
    <vt:vector size="29" baseType="lpstr">
      <vt:lpstr>Arial</vt:lpstr>
      <vt:lpstr>SimSun</vt:lpstr>
      <vt:lpstr>Wingdings</vt:lpstr>
      <vt:lpstr>Arial</vt:lpstr>
      <vt:lpstr>Arial</vt:lpstr>
      <vt:lpstr>Calibri</vt:lpstr>
      <vt:lpstr>Calibri</vt:lpstr>
      <vt:lpstr>Calibri</vt:lpstr>
      <vt:lpstr>Calibri</vt:lpstr>
      <vt:lpstr>Aptos</vt:lpstr>
      <vt:lpstr>Segoe UI</vt:lpstr>
      <vt:lpstr>Aptos Display</vt:lpstr>
      <vt:lpstr>Microsoft YaHei</vt:lpstr>
      <vt:lpstr>Arial Unicode MS</vt:lpstr>
      <vt:lpstr>Calibri Light</vt:lpstr>
      <vt:lpstr>Segoe UI Variable Display</vt:lpstr>
      <vt:lpstr>Office Theme</vt:lpstr>
      <vt:lpstr>PowerPoint 演示文稿</vt:lpstr>
      <vt:lpstr>Theme – 05 Interruptible Real-Time Agents </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vt:lpstr>
      <vt:lpstr>Checklist- Updated on Public GitHub</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Thenamudhan</cp:lastModifiedBy>
  <cp:revision>3</cp:revision>
  <dcterms:created xsi:type="dcterms:W3CDTF">2026-09-07T12:01:00Z</dcterms:created>
  <dcterms:modified xsi:type="dcterms:W3CDTF">2026-09-30T17:45:31Z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ICV">
    <vt:lpwstr>27C1D631B9B54FB39CCFE5AE4F46B03E_12</vt:lpwstr>
  </property>
  <property fmtid="{D5CDD505-2E9C-101B-9397-08002B2CF9AE}" pid="4" name="KSOProductBuildVer">
    <vt:lpwstr>1033-12.1.0.28485</vt:lpwstr>
  </property>
</Properties>
</file>